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7" r:id="rId1"/>
  </p:sldMasterIdLst>
  <p:notesMasterIdLst>
    <p:notesMasterId r:id="rId13"/>
  </p:notesMasterIdLst>
  <p:sldIdLst>
    <p:sldId id="622" r:id="rId2"/>
    <p:sldId id="633" r:id="rId3"/>
    <p:sldId id="630" r:id="rId4"/>
    <p:sldId id="629" r:id="rId5"/>
    <p:sldId id="621" r:id="rId6"/>
    <p:sldId id="623" r:id="rId7"/>
    <p:sldId id="624" r:id="rId8"/>
    <p:sldId id="620" r:id="rId9"/>
    <p:sldId id="631" r:id="rId10"/>
    <p:sldId id="632" r:id="rId11"/>
    <p:sldId id="634" r:id="rId1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521415D9-36F7-43E2-AB2F-B90AF26B5E84}">
      <p14:sectionLst xmlns:p14="http://schemas.microsoft.com/office/powerpoint/2010/main">
        <p14:section name="Default Section" id="{CE059F9E-C46A-B547-B2F2-24DE96B4FEB2}">
          <p14:sldIdLst>
            <p14:sldId id="622"/>
            <p14:sldId id="633"/>
            <p14:sldId id="630"/>
            <p14:sldId id="629"/>
            <p14:sldId id="621"/>
            <p14:sldId id="623"/>
            <p14:sldId id="624"/>
            <p14:sldId id="620"/>
            <p14:sldId id="631"/>
            <p14:sldId id="632"/>
            <p14:sldId id="634"/>
          </p14:sldIdLst>
        </p14:section>
      </p14:sectionLst>
    </p:ext>
    <p:ext uri="{EFAFB233-063F-42B5-8137-9DF3F51BA10A}">
      <p15:sldGuideLst xmlns:p15="http://schemas.microsoft.com/office/powerpoint/2012/main">
        <p15:guide id="1" orient="horz" pos="744">
          <p15:clr>
            <a:srgbClr val="A4A3A4"/>
          </p15:clr>
        </p15:guide>
        <p15:guide id="2" pos="1872">
          <p15:clr>
            <a:srgbClr val="A4A3A4"/>
          </p15:clr>
        </p15:guide>
        <p15:guide id="3" pos="4176">
          <p15:clr>
            <a:srgbClr val="A4A3A4"/>
          </p15:clr>
        </p15:guide>
        <p15:guide id="4" pos="5496">
          <p15:clr>
            <a:srgbClr val="A4A3A4"/>
          </p15:clr>
        </p15:guide>
        <p15:guide id="5" orient="horz" pos="1224">
          <p15:clr>
            <a:srgbClr val="A4A3A4"/>
          </p15:clr>
        </p15:guide>
        <p15:guide id="6" orient="horz" pos="3624">
          <p15:clr>
            <a:srgbClr val="A4A3A4"/>
          </p15:clr>
        </p15:guide>
        <p15:guide id="7" orient="horz" pos="20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120"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9BC5"/>
    <a:srgbClr val="E7157B"/>
    <a:srgbClr val="FF3399"/>
    <a:srgbClr val="7DC0FF"/>
    <a:srgbClr val="82AAFF"/>
    <a:srgbClr val="426687"/>
    <a:srgbClr val="000000"/>
    <a:srgbClr val="F3A9A9"/>
    <a:srgbClr val="ECC48D"/>
    <a:srgbClr val="6A8A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18" autoAdjust="0"/>
    <p:restoredTop sz="95916"/>
  </p:normalViewPr>
  <p:slideViewPr>
    <p:cSldViewPr snapToGrid="0" snapToObjects="1">
      <p:cViewPr varScale="1">
        <p:scale>
          <a:sx n="75" d="100"/>
          <a:sy n="75" d="100"/>
        </p:scale>
        <p:origin x="576" y="84"/>
      </p:cViewPr>
      <p:guideLst>
        <p:guide orient="horz" pos="744"/>
        <p:guide pos="1872"/>
        <p:guide pos="4176"/>
        <p:guide pos="5496"/>
        <p:guide orient="horz" pos="1224"/>
        <p:guide orient="horz" pos="3624"/>
        <p:guide orient="horz" pos="2040"/>
      </p:guideLst>
    </p:cSldViewPr>
  </p:slideViewPr>
  <p:notesTextViewPr>
    <p:cViewPr>
      <p:scale>
        <a:sx n="400" d="100"/>
        <a:sy n="4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DAB57746-A217-1840-9D27-1C9B611FF8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 xmlns:a16="http://schemas.microsoft.com/office/drawing/2014/main" id="{2EBC0457-C9C0-9A46-856C-A75642660D23}"/>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10E765C1-43CC-5C46-8694-A6B828DEC430}" type="datetimeFigureOut">
              <a:rPr lang="en-US"/>
              <a:pPr>
                <a:defRPr/>
              </a:pPr>
              <a:t>10/11/2026</a:t>
            </a:fld>
            <a:endParaRPr lang="en-US"/>
          </a:p>
        </p:txBody>
      </p:sp>
      <p:sp>
        <p:nvSpPr>
          <p:cNvPr id="4" name="Slide Image Placeholder 3">
            <a:extLst>
              <a:ext uri="{FF2B5EF4-FFF2-40B4-BE49-F238E27FC236}">
                <a16:creationId xmlns="" xmlns:a16="http://schemas.microsoft.com/office/drawing/2014/main" id="{F73DE939-5167-8149-9C39-EBF3DB40E6BF}"/>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 xmlns:a16="http://schemas.microsoft.com/office/drawing/2014/main" id="{A8179A7E-0011-7C47-A00A-3553ADFC2A57}"/>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 xmlns:a16="http://schemas.microsoft.com/office/drawing/2014/main" id="{C0D921AA-9F8D-2644-BA51-99C00524A925}"/>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 xmlns:a16="http://schemas.microsoft.com/office/drawing/2014/main" id="{E7F1767E-EE09-594B-90B8-F1B2D1E51CE1}"/>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148E93DF-EC4A-7C45-AB6A-FC63BC432F2F}" type="slidenum">
              <a:rPr lang="en-US"/>
              <a:pPr>
                <a:defRPr/>
              </a:pPr>
              <a:t>‹#›</a:t>
            </a:fld>
            <a:endParaRPr lang="en-US"/>
          </a:p>
        </p:txBody>
      </p:sp>
    </p:spTree>
    <p:extLst>
      <p:ext uri="{BB962C8B-B14F-4D97-AF65-F5344CB8AC3E}">
        <p14:creationId xmlns:p14="http://schemas.microsoft.com/office/powerpoint/2010/main" val="6648300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itle 1">
            <a:extLst>
              <a:ext uri="{FF2B5EF4-FFF2-40B4-BE49-F238E27FC236}">
                <a16:creationId xmlns="" xmlns:a16="http://schemas.microsoft.com/office/drawing/2014/main" id="{FA3564EC-CE50-1549-B5F0-E1519DE3E6CA}"/>
              </a:ext>
            </a:extLst>
          </p:cNvPr>
          <p:cNvSpPr>
            <a:spLocks noGrp="1"/>
          </p:cNvSpPr>
          <p:nvPr>
            <p:ph type="ctrTitle" hasCustomPrompt="1"/>
          </p:nvPr>
        </p:nvSpPr>
        <p:spPr>
          <a:xfrm>
            <a:off x="336720" y="3076506"/>
            <a:ext cx="6733877" cy="840230"/>
          </a:xfrm>
        </p:spPr>
        <p:txBody>
          <a:bodyPr wrap="square" lIns="0" anchor="b" anchorCtr="0">
            <a:spAutoFit/>
          </a:bodyPr>
          <a:lstStyle>
            <a:lvl1pPr algn="l">
              <a:defRPr sz="5400">
                <a:solidFill>
                  <a:schemeClr val="bg1"/>
                </a:solidFill>
              </a:defRPr>
            </a:lvl1pPr>
          </a:lstStyle>
          <a:p>
            <a:r>
              <a:rPr lang="en-US" dirty="0"/>
              <a:t>Enter title</a:t>
            </a:r>
          </a:p>
        </p:txBody>
      </p:sp>
      <p:sp>
        <p:nvSpPr>
          <p:cNvPr id="17" name="Subtitle 2">
            <a:extLst>
              <a:ext uri="{FF2B5EF4-FFF2-40B4-BE49-F238E27FC236}">
                <a16:creationId xmlns="" xmlns:a16="http://schemas.microsoft.com/office/drawing/2014/main" id="{10BA1EB2-0EC6-804A-B029-2483E6FB35DD}"/>
              </a:ext>
            </a:extLst>
          </p:cNvPr>
          <p:cNvSpPr>
            <a:spLocks noGrp="1"/>
          </p:cNvSpPr>
          <p:nvPr>
            <p:ph type="subTitle" idx="1" hasCustomPrompt="1"/>
          </p:nvPr>
        </p:nvSpPr>
        <p:spPr>
          <a:xfrm>
            <a:off x="336720" y="3940166"/>
            <a:ext cx="6733876" cy="480131"/>
          </a:xfrm>
        </p:spPr>
        <p:txBody>
          <a:bodyPr wrap="square" lIns="0">
            <a:spAutoFit/>
          </a:bodyPr>
          <a:lstStyle>
            <a:lvl1pPr marL="0" indent="0" algn="l">
              <a:spcAft>
                <a:spcPts val="0"/>
              </a:spcAft>
              <a:buFont typeface="Arial" panose="020B0604020202020204" pitchFamily="34" charset="0"/>
              <a:buNone/>
              <a:defRPr sz="2800" b="0" i="0" cap="none"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pic>
        <p:nvPicPr>
          <p:cNvPr id="13" name="Picture 12">
            <a:extLst>
              <a:ext uri="{FF2B5EF4-FFF2-40B4-BE49-F238E27FC236}">
                <a16:creationId xmlns="" xmlns:a16="http://schemas.microsoft.com/office/drawing/2014/main" id="{FBFCC986-4AA5-4E78-ACB8-93296CE0EF2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720" y="551423"/>
            <a:ext cx="1003173" cy="600189"/>
          </a:xfrm>
          <a:prstGeom prst="rect">
            <a:avLst/>
          </a:prstGeom>
        </p:spPr>
      </p:pic>
      <p:sp>
        <p:nvSpPr>
          <p:cNvPr id="2" name="Footer Placeholder 1">
            <a:extLst>
              <a:ext uri="{FF2B5EF4-FFF2-40B4-BE49-F238E27FC236}">
                <a16:creationId xmlns="" xmlns:a16="http://schemas.microsoft.com/office/drawing/2014/main" id="{8892DFA2-7EEB-8C00-E73B-389E1BA79CBA}"/>
              </a:ext>
            </a:extLst>
          </p:cNvPr>
          <p:cNvSpPr>
            <a:spLocks noGrp="1"/>
          </p:cNvSpPr>
          <p:nvPr>
            <p:ph type="ftr" sz="quarter" idx="10"/>
          </p:nvPr>
        </p:nvSpPr>
        <p:spPr>
          <a:xfrm>
            <a:off x="336720" y="6289500"/>
            <a:ext cx="4403682" cy="365125"/>
          </a:xfrm>
        </p:spPr>
        <p:txBody>
          <a:bodyPr lIns="0"/>
          <a:lstStyle>
            <a:lvl1pPr algn="l">
              <a:defRPr>
                <a:solidFill>
                  <a:schemeClr val="bg1"/>
                </a:solidFill>
              </a:defRPr>
            </a:lvl1p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020073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 xmlns:a16="http://schemas.microsoft.com/office/drawing/2014/main" id="{94963816-3C9D-6054-6D89-CCC3057C15C7}"/>
              </a:ext>
            </a:extLst>
          </p:cNvPr>
          <p:cNvSpPr>
            <a:spLocks noGrp="1"/>
          </p:cNvSpPr>
          <p:nvPr>
            <p:ph type="sldNum" sz="quarter" idx="4"/>
          </p:nvPr>
        </p:nvSpPr>
        <p:spPr>
          <a:xfrm>
            <a:off x="9112080" y="6289500"/>
            <a:ext cx="2743200" cy="365125"/>
          </a:xfrm>
          <a:prstGeom prst="rect">
            <a:avLst/>
          </a:prstGeom>
        </p:spPr>
        <p:txBody>
          <a:bodyPr vert="horz" lIns="91440" tIns="45720" rIns="91440" bIns="45720" rtlCol="0" anchor="ctr"/>
          <a:lstStyle>
            <a:lvl1pPr algn="r">
              <a:defRPr sz="900">
                <a:solidFill>
                  <a:schemeClr val="bg1"/>
                </a:solidFill>
                <a:latin typeface="Arial" panose="020B0604020202020204" pitchFamily="34" charset="0"/>
                <a:cs typeface="Arial" panose="020B0604020202020204" pitchFamily="34" charset="0"/>
              </a:defRPr>
            </a:lvl1pPr>
          </a:lstStyle>
          <a:p>
            <a:fld id="{EB4B8DE2-A4E8-46E4-8BBF-D75455EFF32C}" type="slidenum">
              <a:rPr lang="en-US" smtClean="0"/>
              <a:pPr/>
              <a:t>‹#›</a:t>
            </a:fld>
            <a:endParaRPr lang="en-US"/>
          </a:p>
        </p:txBody>
      </p:sp>
      <p:pic>
        <p:nvPicPr>
          <p:cNvPr id="5" name="Picture 4">
            <a:extLst>
              <a:ext uri="{FF2B5EF4-FFF2-40B4-BE49-F238E27FC236}">
                <a16:creationId xmlns="" xmlns:a16="http://schemas.microsoft.com/office/drawing/2014/main" id="{CE7CCC43-D20D-3547-4C5C-B84BCD5F6C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720" y="6335089"/>
            <a:ext cx="348827" cy="208700"/>
          </a:xfrm>
          <a:prstGeom prst="rect">
            <a:avLst/>
          </a:prstGeom>
        </p:spPr>
      </p:pic>
      <p:sp>
        <p:nvSpPr>
          <p:cNvPr id="6" name="Footer Placeholder 5">
            <a:extLst>
              <a:ext uri="{FF2B5EF4-FFF2-40B4-BE49-F238E27FC236}">
                <a16:creationId xmlns="" xmlns:a16="http://schemas.microsoft.com/office/drawing/2014/main" id="{B7078B4B-8B58-E813-961C-064BC40AF840}"/>
              </a:ext>
            </a:extLst>
          </p:cNvPr>
          <p:cNvSpPr>
            <a:spLocks noGrp="1"/>
          </p:cNvSpPr>
          <p:nvPr>
            <p:ph type="ftr" sz="quarter" idx="10"/>
          </p:nvPr>
        </p:nvSpPr>
        <p:spPr/>
        <p:txBody>
          <a:bodyPr/>
          <a:lstStyle>
            <a:lvl1pPr>
              <a:defRPr>
                <a:solidFill>
                  <a:schemeClr val="bg1"/>
                </a:solidFill>
              </a:defRPr>
            </a:lvl1pPr>
          </a:lstStyle>
          <a:p>
            <a:r>
              <a:rPr lang="en-US" dirty="0">
                <a:latin typeface="Arial" panose="020B0604020202020204" pitchFamily="34" charset="0"/>
                <a:cs typeface="Arial" panose="020B0604020202020204" pitchFamily="34" charset="0"/>
              </a:rPr>
              <a:t>© 2023, Amazon Web Services, Inc. or its affiliates.</a:t>
            </a:r>
          </a:p>
        </p:txBody>
      </p:sp>
      <p:sp>
        <p:nvSpPr>
          <p:cNvPr id="3" name="Title 1">
            <a:extLst>
              <a:ext uri="{FF2B5EF4-FFF2-40B4-BE49-F238E27FC236}">
                <a16:creationId xmlns="" xmlns:a16="http://schemas.microsoft.com/office/drawing/2014/main" id="{D1D318C5-3473-9969-88C2-50B00642389A}"/>
              </a:ext>
            </a:extLst>
          </p:cNvPr>
          <p:cNvSpPr>
            <a:spLocks noGrp="1"/>
          </p:cNvSpPr>
          <p:nvPr>
            <p:ph type="ctrTitle" hasCustomPrompt="1"/>
          </p:nvPr>
        </p:nvSpPr>
        <p:spPr>
          <a:xfrm>
            <a:off x="336720" y="3050435"/>
            <a:ext cx="6733877" cy="840230"/>
          </a:xfrm>
        </p:spPr>
        <p:txBody>
          <a:bodyPr wrap="square" lIns="0" anchor="b" anchorCtr="0">
            <a:spAutoFit/>
          </a:bodyPr>
          <a:lstStyle>
            <a:lvl1pPr algn="l">
              <a:defRPr sz="5400">
                <a:solidFill>
                  <a:schemeClr val="bg1"/>
                </a:solidFill>
              </a:defRPr>
            </a:lvl1pPr>
          </a:lstStyle>
          <a:p>
            <a:r>
              <a:rPr lang="en-US" dirty="0"/>
              <a:t>Enter title</a:t>
            </a:r>
          </a:p>
        </p:txBody>
      </p:sp>
      <p:sp>
        <p:nvSpPr>
          <p:cNvPr id="7" name="Subtitle 2">
            <a:extLst>
              <a:ext uri="{FF2B5EF4-FFF2-40B4-BE49-F238E27FC236}">
                <a16:creationId xmlns="" xmlns:a16="http://schemas.microsoft.com/office/drawing/2014/main" id="{236C7969-22B7-9E94-E270-5F3C7A19AAE6}"/>
              </a:ext>
            </a:extLst>
          </p:cNvPr>
          <p:cNvSpPr>
            <a:spLocks noGrp="1"/>
          </p:cNvSpPr>
          <p:nvPr>
            <p:ph type="subTitle" idx="1" hasCustomPrompt="1"/>
          </p:nvPr>
        </p:nvSpPr>
        <p:spPr>
          <a:xfrm>
            <a:off x="336720" y="3914095"/>
            <a:ext cx="6733876" cy="480131"/>
          </a:xfrm>
        </p:spPr>
        <p:txBody>
          <a:bodyPr wrap="square" lIns="0">
            <a:spAutoFit/>
          </a:bodyPr>
          <a:lstStyle>
            <a:lvl1pPr marL="0" indent="0" algn="l">
              <a:spcAft>
                <a:spcPts val="0"/>
              </a:spcAft>
              <a:buFont typeface="Arial" panose="020B0604020202020204" pitchFamily="34" charset="0"/>
              <a:buNone/>
              <a:defRPr sz="2800" b="0" i="0" cap="none"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Tree>
    <p:extLst>
      <p:ext uri="{BB962C8B-B14F-4D97-AF65-F5344CB8AC3E}">
        <p14:creationId xmlns:p14="http://schemas.microsoft.com/office/powerpoint/2010/main" val="2181229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hat's New">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75CA19-9DC3-0948-B147-46516DBE1FFD}"/>
              </a:ext>
            </a:extLst>
          </p:cNvPr>
          <p:cNvSpPr>
            <a:spLocks noGrp="1"/>
          </p:cNvSpPr>
          <p:nvPr>
            <p:ph type="title"/>
          </p:nvPr>
        </p:nvSpPr>
        <p:spPr/>
        <p:txBody>
          <a:bodyPr/>
          <a:lstStyle/>
          <a:p>
            <a:r>
              <a:rPr lang="en-US" dirty="0"/>
              <a:t>Click to edit Master title style</a:t>
            </a:r>
          </a:p>
        </p:txBody>
      </p:sp>
      <p:sp>
        <p:nvSpPr>
          <p:cNvPr id="19" name="Text Placeholder 5">
            <a:extLst>
              <a:ext uri="{FF2B5EF4-FFF2-40B4-BE49-F238E27FC236}">
                <a16:creationId xmlns="" xmlns:a16="http://schemas.microsoft.com/office/drawing/2014/main" id="{9AE35381-62E7-8B45-DF09-9D52F4A458BC}"/>
              </a:ext>
            </a:extLst>
          </p:cNvPr>
          <p:cNvSpPr>
            <a:spLocks noGrp="1"/>
          </p:cNvSpPr>
          <p:nvPr>
            <p:ph type="body" sz="quarter" idx="17"/>
          </p:nvPr>
        </p:nvSpPr>
        <p:spPr>
          <a:xfrm>
            <a:off x="240584" y="1149350"/>
            <a:ext cx="11710116" cy="984250"/>
          </a:xfrm>
        </p:spPr>
        <p:txBody>
          <a:bodyPr/>
          <a:lstStyle>
            <a:lvl1pPr>
              <a:defRPr sz="1800"/>
            </a:lvl1pPr>
          </a:lstStyle>
          <a:p>
            <a:pPr lvl="0"/>
            <a:r>
              <a:rPr lang="en-US"/>
              <a:t>Click to edit Master text styles</a:t>
            </a:r>
          </a:p>
        </p:txBody>
      </p:sp>
      <p:sp>
        <p:nvSpPr>
          <p:cNvPr id="9" name="Text Placeholder 6">
            <a:extLst>
              <a:ext uri="{FF2B5EF4-FFF2-40B4-BE49-F238E27FC236}">
                <a16:creationId xmlns="" xmlns:a16="http://schemas.microsoft.com/office/drawing/2014/main" id="{664D7CAF-E305-EFB7-1D4C-FC4028A01950}"/>
              </a:ext>
            </a:extLst>
          </p:cNvPr>
          <p:cNvSpPr>
            <a:spLocks noGrp="1"/>
          </p:cNvSpPr>
          <p:nvPr>
            <p:ph type="body" sz="quarter" idx="14"/>
          </p:nvPr>
        </p:nvSpPr>
        <p:spPr>
          <a:xfrm>
            <a:off x="241300" y="2273300"/>
            <a:ext cx="3602038" cy="3584575"/>
          </a:xfrm>
        </p:spPr>
        <p:txBody>
          <a:bodyPr/>
          <a:lstStyle>
            <a:lvl1pPr>
              <a:defRPr sz="1100"/>
            </a:lvl1pPr>
          </a:lstStyle>
          <a:p>
            <a:pPr lvl="0"/>
            <a:r>
              <a:rPr lang="en-US"/>
              <a:t>Click to edit Master text styles</a:t>
            </a:r>
          </a:p>
        </p:txBody>
      </p:sp>
      <p:sp>
        <p:nvSpPr>
          <p:cNvPr id="14" name="Text Placeholder 12">
            <a:extLst>
              <a:ext uri="{FF2B5EF4-FFF2-40B4-BE49-F238E27FC236}">
                <a16:creationId xmlns="" xmlns:a16="http://schemas.microsoft.com/office/drawing/2014/main" id="{715E9AF3-0F43-A8C7-9D9A-24B5C30D635A}"/>
              </a:ext>
            </a:extLst>
          </p:cNvPr>
          <p:cNvSpPr>
            <a:spLocks noGrp="1"/>
          </p:cNvSpPr>
          <p:nvPr>
            <p:ph type="body" sz="quarter" idx="15"/>
          </p:nvPr>
        </p:nvSpPr>
        <p:spPr>
          <a:xfrm>
            <a:off x="4294188" y="2273300"/>
            <a:ext cx="3603625" cy="3584575"/>
          </a:xfrm>
        </p:spPr>
        <p:txBody>
          <a:bodyPr/>
          <a:lstStyle>
            <a:lvl1pPr>
              <a:defRPr sz="1100"/>
            </a:lvl1pPr>
          </a:lstStyle>
          <a:p>
            <a:pPr lvl="0"/>
            <a:r>
              <a:rPr lang="en-US"/>
              <a:t>Click to edit Master text styles</a:t>
            </a:r>
          </a:p>
        </p:txBody>
      </p:sp>
      <p:sp>
        <p:nvSpPr>
          <p:cNvPr id="17" name="Text Placeholder 15">
            <a:extLst>
              <a:ext uri="{FF2B5EF4-FFF2-40B4-BE49-F238E27FC236}">
                <a16:creationId xmlns="" xmlns:a16="http://schemas.microsoft.com/office/drawing/2014/main" id="{0DA81135-55B4-1CE3-4AAE-80204E5A91CF}"/>
              </a:ext>
            </a:extLst>
          </p:cNvPr>
          <p:cNvSpPr>
            <a:spLocks noGrp="1"/>
          </p:cNvSpPr>
          <p:nvPr>
            <p:ph type="body" sz="quarter" idx="16"/>
          </p:nvPr>
        </p:nvSpPr>
        <p:spPr>
          <a:xfrm>
            <a:off x="8326438" y="2273300"/>
            <a:ext cx="3602037" cy="3584575"/>
          </a:xfrm>
        </p:spPr>
        <p:txBody>
          <a:bodyPr/>
          <a:lstStyle>
            <a:lvl1pPr>
              <a:defRPr sz="1100"/>
            </a:lvl1pPr>
          </a:lstStyle>
          <a:p>
            <a:pPr lvl="0"/>
            <a:r>
              <a:rPr lang="en-US"/>
              <a:t>Click to edit Master text styles</a:t>
            </a:r>
          </a:p>
        </p:txBody>
      </p:sp>
      <p:sp>
        <p:nvSpPr>
          <p:cNvPr id="3" name="Footer Placeholder 2">
            <a:extLst>
              <a:ext uri="{FF2B5EF4-FFF2-40B4-BE49-F238E27FC236}">
                <a16:creationId xmlns="" xmlns:a16="http://schemas.microsoft.com/office/drawing/2014/main" id="{1B3F8ABA-AA73-6F33-8CE3-7BA8AC03293B}"/>
              </a:ext>
            </a:extLst>
          </p:cNvPr>
          <p:cNvSpPr>
            <a:spLocks noGrp="1"/>
          </p:cNvSpPr>
          <p:nvPr>
            <p:ph type="ftr" sz="quarter" idx="18"/>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5" name="Slide Number Placeholder 4">
            <a:extLst>
              <a:ext uri="{FF2B5EF4-FFF2-40B4-BE49-F238E27FC236}">
                <a16:creationId xmlns="" xmlns:a16="http://schemas.microsoft.com/office/drawing/2014/main" id="{4EFE30FD-1024-73E5-DDAE-CABD5B7F85A7}"/>
              </a:ext>
            </a:extLst>
          </p:cNvPr>
          <p:cNvSpPr>
            <a:spLocks noGrp="1"/>
          </p:cNvSpPr>
          <p:nvPr>
            <p:ph type="sldNum" sz="quarter" idx="19"/>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454975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11" name="Title 1">
            <a:extLst>
              <a:ext uri="{FF2B5EF4-FFF2-40B4-BE49-F238E27FC236}">
                <a16:creationId xmlns="" xmlns:a16="http://schemas.microsoft.com/office/drawing/2014/main" id="{D1178EA3-F808-FA40-ACC0-1278A8280A01}"/>
              </a:ext>
            </a:extLst>
          </p:cNvPr>
          <p:cNvSpPr>
            <a:spLocks noGrp="1"/>
          </p:cNvSpPr>
          <p:nvPr>
            <p:ph type="title"/>
          </p:nvPr>
        </p:nvSpPr>
        <p:spPr>
          <a:xfrm>
            <a:off x="240941" y="365126"/>
            <a:ext cx="11710118" cy="644278"/>
          </a:xfrm>
        </p:spPr>
        <p:txBody>
          <a:bodyPr/>
          <a:lstStyle/>
          <a:p>
            <a:r>
              <a:rPr lang="en-US"/>
              <a:t>Click to edit Master title style</a:t>
            </a:r>
          </a:p>
        </p:txBody>
      </p:sp>
      <p:sp>
        <p:nvSpPr>
          <p:cNvPr id="5" name="Text Placeholder 3">
            <a:extLst>
              <a:ext uri="{FF2B5EF4-FFF2-40B4-BE49-F238E27FC236}">
                <a16:creationId xmlns="" xmlns:a16="http://schemas.microsoft.com/office/drawing/2014/main" id="{6C7105B5-A94F-CB29-5056-0F6BFD63F0FA}"/>
              </a:ext>
            </a:extLst>
          </p:cNvPr>
          <p:cNvSpPr>
            <a:spLocks noGrp="1"/>
          </p:cNvSpPr>
          <p:nvPr>
            <p:ph type="body" sz="quarter" idx="12"/>
          </p:nvPr>
        </p:nvSpPr>
        <p:spPr>
          <a:xfrm>
            <a:off x="241300" y="1176338"/>
            <a:ext cx="11709400" cy="4725987"/>
          </a:xfrm>
        </p:spPr>
        <p:txBody>
          <a:bodyPr/>
          <a:lstStyle>
            <a:lvl1pPr>
              <a:defRPr sz="2400"/>
            </a:lvl1pPr>
          </a:lstStyle>
          <a:p>
            <a:pPr lvl="0"/>
            <a:r>
              <a:rPr lang="en-US"/>
              <a:t>Click to edit Master text styles</a:t>
            </a:r>
          </a:p>
        </p:txBody>
      </p:sp>
      <p:sp>
        <p:nvSpPr>
          <p:cNvPr id="3" name="Footer Placeholder 2">
            <a:extLst>
              <a:ext uri="{FF2B5EF4-FFF2-40B4-BE49-F238E27FC236}">
                <a16:creationId xmlns="" xmlns:a16="http://schemas.microsoft.com/office/drawing/2014/main" id="{715B2C22-9842-790F-7012-5D5CBEC71E02}"/>
              </a:ext>
            </a:extLst>
          </p:cNvPr>
          <p:cNvSpPr>
            <a:spLocks noGrp="1"/>
          </p:cNvSpPr>
          <p:nvPr>
            <p:ph type="ftr" sz="quarter" idx="13"/>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4" name="Slide Number Placeholder 3">
            <a:extLst>
              <a:ext uri="{FF2B5EF4-FFF2-40B4-BE49-F238E27FC236}">
                <a16:creationId xmlns="" xmlns:a16="http://schemas.microsoft.com/office/drawing/2014/main" id="{ABF86CD2-EE78-2625-5844-0B9890040E6D}"/>
              </a:ext>
            </a:extLst>
          </p:cNvPr>
          <p:cNvSpPr>
            <a:spLocks noGrp="1"/>
          </p:cNvSpPr>
          <p:nvPr>
            <p:ph type="sldNum" sz="quarter" idx="14"/>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342630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sub-three-col-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75CA19-9DC3-0948-B147-46516DBE1FFD}"/>
              </a:ext>
            </a:extLst>
          </p:cNvPr>
          <p:cNvSpPr>
            <a:spLocks noGrp="1"/>
          </p:cNvSpPr>
          <p:nvPr>
            <p:ph type="title"/>
          </p:nvPr>
        </p:nvSpPr>
        <p:spPr/>
        <p:txBody>
          <a:bodyPr/>
          <a:lstStyle/>
          <a:p>
            <a:r>
              <a:rPr lang="en-US" dirty="0"/>
              <a:t>Click to edit Master title style</a:t>
            </a:r>
          </a:p>
        </p:txBody>
      </p:sp>
      <p:sp>
        <p:nvSpPr>
          <p:cNvPr id="13" name="Text Placeholder 5">
            <a:extLst>
              <a:ext uri="{FF2B5EF4-FFF2-40B4-BE49-F238E27FC236}">
                <a16:creationId xmlns="" xmlns:a16="http://schemas.microsoft.com/office/drawing/2014/main" id="{600D87FF-D51B-E8F3-39CF-9AEBFC357DB5}"/>
              </a:ext>
            </a:extLst>
          </p:cNvPr>
          <p:cNvSpPr>
            <a:spLocks noGrp="1"/>
          </p:cNvSpPr>
          <p:nvPr>
            <p:ph type="body" sz="quarter" idx="17"/>
          </p:nvPr>
        </p:nvSpPr>
        <p:spPr>
          <a:xfrm>
            <a:off x="240584" y="1149350"/>
            <a:ext cx="11710116" cy="984250"/>
          </a:xfrm>
        </p:spPr>
        <p:txBody>
          <a:bodyPr/>
          <a:lstStyle>
            <a:lvl1pPr>
              <a:defRPr sz="1800"/>
            </a:lvl1pPr>
          </a:lstStyle>
          <a:p>
            <a:pPr lvl="0"/>
            <a:r>
              <a:rPr lang="en-US"/>
              <a:t>Click to edit Master text styles</a:t>
            </a:r>
          </a:p>
        </p:txBody>
      </p:sp>
      <p:sp>
        <p:nvSpPr>
          <p:cNvPr id="7" name="Text Placeholder 5">
            <a:extLst>
              <a:ext uri="{FF2B5EF4-FFF2-40B4-BE49-F238E27FC236}">
                <a16:creationId xmlns="" xmlns:a16="http://schemas.microsoft.com/office/drawing/2014/main" id="{CA60269A-F2FF-A7E2-AD9F-9F08204AC6DC}"/>
              </a:ext>
            </a:extLst>
          </p:cNvPr>
          <p:cNvSpPr>
            <a:spLocks noGrp="1"/>
          </p:cNvSpPr>
          <p:nvPr>
            <p:ph type="body" sz="quarter" idx="18"/>
          </p:nvPr>
        </p:nvSpPr>
        <p:spPr>
          <a:xfrm>
            <a:off x="241300" y="2273300"/>
            <a:ext cx="3602038" cy="3584575"/>
          </a:xfrm>
        </p:spPr>
        <p:txBody>
          <a:bodyPr/>
          <a:lstStyle>
            <a:lvl1pPr>
              <a:defRPr sz="1800"/>
            </a:lvl1pPr>
          </a:lstStyle>
          <a:p>
            <a:pPr lvl="0"/>
            <a:r>
              <a:rPr lang="en-US"/>
              <a:t>Click to edit Master text styles</a:t>
            </a:r>
          </a:p>
        </p:txBody>
      </p:sp>
      <p:sp>
        <p:nvSpPr>
          <p:cNvPr id="12" name="Text Placeholder 9">
            <a:extLst>
              <a:ext uri="{FF2B5EF4-FFF2-40B4-BE49-F238E27FC236}">
                <a16:creationId xmlns="" xmlns:a16="http://schemas.microsoft.com/office/drawing/2014/main" id="{0313B1EB-2063-E608-080C-CD557353524C}"/>
              </a:ext>
            </a:extLst>
          </p:cNvPr>
          <p:cNvSpPr>
            <a:spLocks noGrp="1"/>
          </p:cNvSpPr>
          <p:nvPr>
            <p:ph type="body" sz="quarter" idx="19"/>
          </p:nvPr>
        </p:nvSpPr>
        <p:spPr>
          <a:xfrm>
            <a:off x="4294188" y="2273300"/>
            <a:ext cx="3603625" cy="3584575"/>
          </a:xfrm>
        </p:spPr>
        <p:txBody>
          <a:bodyPr/>
          <a:lstStyle>
            <a:lvl1pPr>
              <a:defRPr sz="1800"/>
            </a:lvl1pPr>
          </a:lstStyle>
          <a:p>
            <a:pPr lvl="0"/>
            <a:r>
              <a:rPr lang="en-US"/>
              <a:t>Click to edit Master text styles</a:t>
            </a:r>
          </a:p>
        </p:txBody>
      </p:sp>
      <p:sp>
        <p:nvSpPr>
          <p:cNvPr id="16" name="Text Placeholder 14">
            <a:extLst>
              <a:ext uri="{FF2B5EF4-FFF2-40B4-BE49-F238E27FC236}">
                <a16:creationId xmlns="" xmlns:a16="http://schemas.microsoft.com/office/drawing/2014/main" id="{72F4C55E-AD63-A918-ED20-BC3E307C2D72}"/>
              </a:ext>
            </a:extLst>
          </p:cNvPr>
          <p:cNvSpPr>
            <a:spLocks noGrp="1"/>
          </p:cNvSpPr>
          <p:nvPr>
            <p:ph type="body" sz="quarter" idx="20"/>
          </p:nvPr>
        </p:nvSpPr>
        <p:spPr>
          <a:xfrm>
            <a:off x="8326438" y="2273300"/>
            <a:ext cx="3602037" cy="3584575"/>
          </a:xfrm>
        </p:spPr>
        <p:txBody>
          <a:bodyPr/>
          <a:lstStyle>
            <a:lvl1pPr>
              <a:defRPr sz="1800"/>
            </a:lvl1pPr>
          </a:lstStyle>
          <a:p>
            <a:pPr lvl="0"/>
            <a:r>
              <a:rPr lang="en-US"/>
              <a:t>Click to edit Master text styles</a:t>
            </a:r>
          </a:p>
        </p:txBody>
      </p:sp>
      <p:sp>
        <p:nvSpPr>
          <p:cNvPr id="3" name="Footer Placeholder 2">
            <a:extLst>
              <a:ext uri="{FF2B5EF4-FFF2-40B4-BE49-F238E27FC236}">
                <a16:creationId xmlns="" xmlns:a16="http://schemas.microsoft.com/office/drawing/2014/main" id="{E4B968E4-5FE5-20AF-7B20-87717025E7D0}"/>
              </a:ext>
            </a:extLst>
          </p:cNvPr>
          <p:cNvSpPr>
            <a:spLocks noGrp="1"/>
          </p:cNvSpPr>
          <p:nvPr>
            <p:ph type="ftr" sz="quarter" idx="21"/>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5" name="Slide Number Placeholder 4">
            <a:extLst>
              <a:ext uri="{FF2B5EF4-FFF2-40B4-BE49-F238E27FC236}">
                <a16:creationId xmlns="" xmlns:a16="http://schemas.microsoft.com/office/drawing/2014/main" id="{62904F5B-AFFD-54FC-FAC0-F04384E1793E}"/>
              </a:ext>
            </a:extLst>
          </p:cNvPr>
          <p:cNvSpPr>
            <a:spLocks noGrp="1"/>
          </p:cNvSpPr>
          <p:nvPr>
            <p:ph type="sldNum" sz="quarter" idx="2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66743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three-col-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7" name="Text Placeholder 5">
            <a:extLst>
              <a:ext uri="{FF2B5EF4-FFF2-40B4-BE49-F238E27FC236}">
                <a16:creationId xmlns="" xmlns:a16="http://schemas.microsoft.com/office/drawing/2014/main" id="{E4F389A0-9950-789A-55A2-79B1DF20A921}"/>
              </a:ext>
            </a:extLst>
          </p:cNvPr>
          <p:cNvSpPr>
            <a:spLocks noGrp="1"/>
          </p:cNvSpPr>
          <p:nvPr>
            <p:ph type="body" sz="quarter" idx="13"/>
          </p:nvPr>
        </p:nvSpPr>
        <p:spPr>
          <a:xfrm>
            <a:off x="241300" y="1176338"/>
            <a:ext cx="3602038" cy="4725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 xmlns:a16="http://schemas.microsoft.com/office/drawing/2014/main" id="{A5A0F7C1-4F18-7077-33D5-3CBBB08D383A}"/>
              </a:ext>
            </a:extLst>
          </p:cNvPr>
          <p:cNvSpPr>
            <a:spLocks noGrp="1"/>
          </p:cNvSpPr>
          <p:nvPr>
            <p:ph type="body" sz="quarter" idx="14"/>
          </p:nvPr>
        </p:nvSpPr>
        <p:spPr>
          <a:xfrm>
            <a:off x="4294188" y="1176338"/>
            <a:ext cx="3603625" cy="4725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3">
            <a:extLst>
              <a:ext uri="{FF2B5EF4-FFF2-40B4-BE49-F238E27FC236}">
                <a16:creationId xmlns="" xmlns:a16="http://schemas.microsoft.com/office/drawing/2014/main" id="{1F26E50D-1254-9591-B5D4-BEC8293AB0CC}"/>
              </a:ext>
            </a:extLst>
          </p:cNvPr>
          <p:cNvSpPr>
            <a:spLocks noGrp="1"/>
          </p:cNvSpPr>
          <p:nvPr>
            <p:ph type="body" sz="quarter" idx="15"/>
          </p:nvPr>
        </p:nvSpPr>
        <p:spPr>
          <a:xfrm>
            <a:off x="8326438" y="1176338"/>
            <a:ext cx="3602037" cy="4725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 xmlns:a16="http://schemas.microsoft.com/office/drawing/2014/main" id="{FECDAC01-332B-D637-56B5-4AFC25E11DE9}"/>
              </a:ext>
            </a:extLst>
          </p:cNvPr>
          <p:cNvSpPr>
            <a:spLocks noGrp="1"/>
          </p:cNvSpPr>
          <p:nvPr>
            <p:ph type="ftr" sz="quarter" idx="16"/>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5" name="Slide Number Placeholder 4">
            <a:extLst>
              <a:ext uri="{FF2B5EF4-FFF2-40B4-BE49-F238E27FC236}">
                <a16:creationId xmlns="" xmlns:a16="http://schemas.microsoft.com/office/drawing/2014/main" id="{49919175-8EDF-5D9C-33EC-C8E2A1976391}"/>
              </a:ext>
            </a:extLst>
          </p:cNvPr>
          <p:cNvSpPr>
            <a:spLocks noGrp="1"/>
          </p:cNvSpPr>
          <p:nvPr>
            <p:ph type="sldNum" sz="quarter" idx="17"/>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053171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wo-col-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9" name="Text Placeholder 7">
            <a:extLst>
              <a:ext uri="{FF2B5EF4-FFF2-40B4-BE49-F238E27FC236}">
                <a16:creationId xmlns="" xmlns:a16="http://schemas.microsoft.com/office/drawing/2014/main" id="{F10A7AB1-FFCC-A45F-8D25-303B6F2A2794}"/>
              </a:ext>
            </a:extLst>
          </p:cNvPr>
          <p:cNvSpPr>
            <a:spLocks noGrp="1"/>
          </p:cNvSpPr>
          <p:nvPr>
            <p:ph type="body" sz="quarter" idx="14"/>
          </p:nvPr>
        </p:nvSpPr>
        <p:spPr>
          <a:xfrm>
            <a:off x="241300" y="1149350"/>
            <a:ext cx="11709400" cy="984250"/>
          </a:xfrm>
        </p:spPr>
        <p:txBody>
          <a:bodyPr/>
          <a:lstStyle>
            <a:lvl1pPr>
              <a:defRPr sz="1800"/>
            </a:lvl1pPr>
          </a:lstStyle>
          <a:p>
            <a:pPr lvl="0"/>
            <a:r>
              <a:rPr lang="en-US"/>
              <a:t>Click to edit Master text styles</a:t>
            </a:r>
          </a:p>
        </p:txBody>
      </p:sp>
      <p:sp>
        <p:nvSpPr>
          <p:cNvPr id="12" name="Text Placeholder 10">
            <a:extLst>
              <a:ext uri="{FF2B5EF4-FFF2-40B4-BE49-F238E27FC236}">
                <a16:creationId xmlns="" xmlns:a16="http://schemas.microsoft.com/office/drawing/2014/main" id="{2810F906-2DEE-3C9E-A8D5-9575D7745B6B}"/>
              </a:ext>
            </a:extLst>
          </p:cNvPr>
          <p:cNvSpPr>
            <a:spLocks noGrp="1"/>
          </p:cNvSpPr>
          <p:nvPr>
            <p:ph type="body" sz="quarter" idx="15"/>
          </p:nvPr>
        </p:nvSpPr>
        <p:spPr>
          <a:xfrm>
            <a:off x="241300" y="2273300"/>
            <a:ext cx="5668963" cy="3584575"/>
          </a:xfrm>
        </p:spPr>
        <p:txBody>
          <a:bodyPr/>
          <a:lstStyle>
            <a:lvl1pPr>
              <a:defRPr sz="1800"/>
            </a:lvl1pPr>
          </a:lstStyle>
          <a:p>
            <a:pPr lvl="0"/>
            <a:r>
              <a:rPr lang="en-US"/>
              <a:t>Click to edit Master text styles</a:t>
            </a:r>
          </a:p>
        </p:txBody>
      </p:sp>
      <p:sp>
        <p:nvSpPr>
          <p:cNvPr id="15" name="Text Placeholder 13">
            <a:extLst>
              <a:ext uri="{FF2B5EF4-FFF2-40B4-BE49-F238E27FC236}">
                <a16:creationId xmlns="" xmlns:a16="http://schemas.microsoft.com/office/drawing/2014/main" id="{5F64ED81-5108-F3B8-4DD7-6ECCF59D78F3}"/>
              </a:ext>
            </a:extLst>
          </p:cNvPr>
          <p:cNvSpPr>
            <a:spLocks noGrp="1"/>
          </p:cNvSpPr>
          <p:nvPr>
            <p:ph type="body" sz="quarter" idx="16"/>
          </p:nvPr>
        </p:nvSpPr>
        <p:spPr>
          <a:xfrm>
            <a:off x="6281738" y="2273300"/>
            <a:ext cx="5668962" cy="3584575"/>
          </a:xfrm>
        </p:spPr>
        <p:txBody>
          <a:bodyPr/>
          <a:lstStyle>
            <a:lvl1pPr>
              <a:defRPr sz="1800"/>
            </a:lvl1pPr>
          </a:lstStyle>
          <a:p>
            <a:pPr lvl="0"/>
            <a:r>
              <a:rPr lang="en-US"/>
              <a:t>Click to edit Master text styles</a:t>
            </a:r>
          </a:p>
        </p:txBody>
      </p:sp>
      <p:sp>
        <p:nvSpPr>
          <p:cNvPr id="5" name="Slide Number Placeholder 4">
            <a:extLst>
              <a:ext uri="{FF2B5EF4-FFF2-40B4-BE49-F238E27FC236}">
                <a16:creationId xmlns="" xmlns:a16="http://schemas.microsoft.com/office/drawing/2014/main" id="{660A64CF-48E8-5FFF-28D2-E0495E1D7ABF}"/>
              </a:ext>
            </a:extLst>
          </p:cNvPr>
          <p:cNvSpPr>
            <a:spLocks noGrp="1"/>
          </p:cNvSpPr>
          <p:nvPr>
            <p:ph type="sldNum" sz="quarter" idx="13"/>
          </p:nvPr>
        </p:nvSpPr>
        <p:spPr/>
        <p:txBody>
          <a:bodyPr/>
          <a:lstStyle/>
          <a:p>
            <a:fld id="{EB4B8DE2-A4E8-46E4-8BBF-D75455EFF32C}" type="slidenum">
              <a:rPr lang="en-US" smtClean="0"/>
              <a:pPr/>
              <a:t>‹#›</a:t>
            </a:fld>
            <a:endParaRPr lang="en-US"/>
          </a:p>
        </p:txBody>
      </p:sp>
      <p:sp>
        <p:nvSpPr>
          <p:cNvPr id="3" name="Footer Placeholder 2">
            <a:extLst>
              <a:ext uri="{FF2B5EF4-FFF2-40B4-BE49-F238E27FC236}">
                <a16:creationId xmlns="" xmlns:a16="http://schemas.microsoft.com/office/drawing/2014/main" id="{9DA500AE-6766-41B0-C029-EAE84059B512}"/>
              </a:ext>
            </a:extLst>
          </p:cNvPr>
          <p:cNvSpPr>
            <a:spLocks noGrp="1"/>
          </p:cNvSpPr>
          <p:nvPr>
            <p:ph type="ftr" sz="quarter" idx="17"/>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616048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col-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 xmlns:a16="http://schemas.microsoft.com/office/drawing/2014/main" id="{8EB56554-52F1-D18F-5827-F007C7E9F54C}"/>
              </a:ext>
            </a:extLst>
          </p:cNvPr>
          <p:cNvSpPr>
            <a:spLocks noGrp="1"/>
          </p:cNvSpPr>
          <p:nvPr>
            <p:ph type="body" sz="quarter" idx="11"/>
          </p:nvPr>
        </p:nvSpPr>
        <p:spPr>
          <a:xfrm>
            <a:off x="241300" y="1176338"/>
            <a:ext cx="5668963" cy="4725987"/>
          </a:xfrm>
        </p:spPr>
        <p:txBody>
          <a:bodyPr/>
          <a:lstStyle>
            <a:lvl1pPr>
              <a:defRPr sz="1800"/>
            </a:lvl1pPr>
          </a:lstStyle>
          <a:p>
            <a:pPr lvl="0"/>
            <a:r>
              <a:rPr lang="en-US"/>
              <a:t>Click to edit Master text styles</a:t>
            </a:r>
          </a:p>
        </p:txBody>
      </p:sp>
      <p:sp>
        <p:nvSpPr>
          <p:cNvPr id="11" name="Text Placeholder 9">
            <a:extLst>
              <a:ext uri="{FF2B5EF4-FFF2-40B4-BE49-F238E27FC236}">
                <a16:creationId xmlns="" xmlns:a16="http://schemas.microsoft.com/office/drawing/2014/main" id="{65AB646E-8298-41D3-BEB1-D7F0A7609CB7}"/>
              </a:ext>
            </a:extLst>
          </p:cNvPr>
          <p:cNvSpPr>
            <a:spLocks noGrp="1"/>
          </p:cNvSpPr>
          <p:nvPr>
            <p:ph type="body" sz="quarter" idx="12"/>
          </p:nvPr>
        </p:nvSpPr>
        <p:spPr>
          <a:xfrm>
            <a:off x="6281738" y="1176338"/>
            <a:ext cx="5668962" cy="4725987"/>
          </a:xfrm>
        </p:spPr>
        <p:txBody>
          <a:bodyPr/>
          <a:lstStyle>
            <a:lvl1pPr>
              <a:defRPr sz="1800"/>
            </a:lvl1pPr>
          </a:lstStyle>
          <a:p>
            <a:pPr lvl="0"/>
            <a:r>
              <a:rPr lang="en-US"/>
              <a:t>Click to edit Master text styles</a:t>
            </a:r>
          </a:p>
        </p:txBody>
      </p:sp>
      <p:sp>
        <p:nvSpPr>
          <p:cNvPr id="3" name="Footer Placeholder 2">
            <a:extLst>
              <a:ext uri="{FF2B5EF4-FFF2-40B4-BE49-F238E27FC236}">
                <a16:creationId xmlns="" xmlns:a16="http://schemas.microsoft.com/office/drawing/2014/main" id="{93665833-E42A-E620-7D83-55DACDE25186}"/>
              </a:ext>
            </a:extLst>
          </p:cNvPr>
          <p:cNvSpPr>
            <a:spLocks noGrp="1"/>
          </p:cNvSpPr>
          <p:nvPr>
            <p:ph type="ftr" sz="quarter" idx="13"/>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4" name="Slide Number Placeholder 3">
            <a:extLst>
              <a:ext uri="{FF2B5EF4-FFF2-40B4-BE49-F238E27FC236}">
                <a16:creationId xmlns="" xmlns:a16="http://schemas.microsoft.com/office/drawing/2014/main" id="{2FBF9A05-AD0B-20A1-596D-C0BA3D1F1735}"/>
              </a:ext>
            </a:extLst>
          </p:cNvPr>
          <p:cNvSpPr>
            <a:spLocks noGrp="1"/>
          </p:cNvSpPr>
          <p:nvPr>
            <p:ph type="sldNum" sz="quarter" idx="14"/>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730493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col-text">
    <p:spTree>
      <p:nvGrpSpPr>
        <p:cNvPr id="1" name=""/>
        <p:cNvGrpSpPr/>
        <p:nvPr/>
      </p:nvGrpSpPr>
      <p:grpSpPr>
        <a:xfrm>
          <a:off x="0" y="0"/>
          <a:ext cx="0" cy="0"/>
          <a:chOff x="0" y="0"/>
          <a:chExt cx="0" cy="0"/>
        </a:xfrm>
      </p:grpSpPr>
      <p:sp>
        <p:nvSpPr>
          <p:cNvPr id="11" name="Title 1">
            <a:extLst>
              <a:ext uri="{FF2B5EF4-FFF2-40B4-BE49-F238E27FC236}">
                <a16:creationId xmlns="" xmlns:a16="http://schemas.microsoft.com/office/drawing/2014/main" id="{D1178EA3-F808-FA40-ACC0-1278A8280A01}"/>
              </a:ext>
            </a:extLst>
          </p:cNvPr>
          <p:cNvSpPr>
            <a:spLocks noGrp="1"/>
          </p:cNvSpPr>
          <p:nvPr>
            <p:ph type="title"/>
          </p:nvPr>
        </p:nvSpPr>
        <p:spPr>
          <a:xfrm>
            <a:off x="240941" y="365126"/>
            <a:ext cx="11710118" cy="644278"/>
          </a:xfrm>
        </p:spPr>
        <p:txBody>
          <a:bodyPr/>
          <a:lstStyle/>
          <a:p>
            <a:r>
              <a:rPr lang="en-US"/>
              <a:t>Click to edit Master title style</a:t>
            </a:r>
          </a:p>
        </p:txBody>
      </p:sp>
      <p:sp>
        <p:nvSpPr>
          <p:cNvPr id="2" name="Slide Number Placeholder 1">
            <a:extLst>
              <a:ext uri="{FF2B5EF4-FFF2-40B4-BE49-F238E27FC236}">
                <a16:creationId xmlns="" xmlns:a16="http://schemas.microsoft.com/office/drawing/2014/main" id="{66A7B6E1-BAB1-B598-78E0-7F84FE236474}"/>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5" name="Text Placeholder 3">
            <a:extLst>
              <a:ext uri="{FF2B5EF4-FFF2-40B4-BE49-F238E27FC236}">
                <a16:creationId xmlns="" xmlns:a16="http://schemas.microsoft.com/office/drawing/2014/main" id="{6C7105B5-A94F-CB29-5056-0F6BFD63F0FA}"/>
              </a:ext>
            </a:extLst>
          </p:cNvPr>
          <p:cNvSpPr>
            <a:spLocks noGrp="1"/>
          </p:cNvSpPr>
          <p:nvPr>
            <p:ph type="body" sz="quarter" idx="12"/>
          </p:nvPr>
        </p:nvSpPr>
        <p:spPr>
          <a:xfrm>
            <a:off x="241300" y="1176338"/>
            <a:ext cx="11709400" cy="4725987"/>
          </a:xfrm>
        </p:spPr>
        <p:txBody>
          <a:bodyPr/>
          <a:lstStyle>
            <a:lvl1pPr>
              <a:defRPr sz="1800"/>
            </a:lvl1pPr>
          </a:lstStyle>
          <a:p>
            <a:pPr lvl="0"/>
            <a:r>
              <a:rPr lang="en-US"/>
              <a:t>Click to edit Master text styles</a:t>
            </a:r>
          </a:p>
        </p:txBody>
      </p:sp>
      <p:sp>
        <p:nvSpPr>
          <p:cNvPr id="3" name="Footer Placeholder 2">
            <a:extLst>
              <a:ext uri="{FF2B5EF4-FFF2-40B4-BE49-F238E27FC236}">
                <a16:creationId xmlns="" xmlns:a16="http://schemas.microsoft.com/office/drawing/2014/main" id="{82322F17-7061-DBE6-40F0-4CE0A9CEF9EB}"/>
              </a:ext>
            </a:extLst>
          </p:cNvPr>
          <p:cNvSpPr>
            <a:spLocks noGrp="1"/>
          </p:cNvSpPr>
          <p:nvPr>
            <p:ph type="ftr" sz="quarter" idx="13"/>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730493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 xmlns:a16="http://schemas.microsoft.com/office/drawing/2014/main" id="{CB15F2C0-30F8-DAE1-A01A-A77FC537443D}"/>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3" name="Footer Placeholder 2">
            <a:extLst>
              <a:ext uri="{FF2B5EF4-FFF2-40B4-BE49-F238E27FC236}">
                <a16:creationId xmlns="" xmlns:a16="http://schemas.microsoft.com/office/drawing/2014/main" id="{74C36402-0D38-2FE6-DABB-84869F8B0A7B}"/>
              </a:ext>
            </a:extLst>
          </p:cNvPr>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126847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E7A80BA3-E490-7BB8-44E4-2563732CEF4C}"/>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2" name="Footer Placeholder 1">
            <a:extLst>
              <a:ext uri="{FF2B5EF4-FFF2-40B4-BE49-F238E27FC236}">
                <a16:creationId xmlns="" xmlns:a16="http://schemas.microsoft.com/office/drawing/2014/main" id="{2F4A4BE7-29FE-EC65-CE2C-3F4AEC502DB5}"/>
              </a:ext>
            </a:extLst>
          </p:cNvPr>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713448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tegory_AWS-Squid-Ink">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061DB949-1463-2A4C-B301-63F1602C50E3}"/>
              </a:ext>
            </a:extLst>
          </p:cNvPr>
          <p:cNvSpPr/>
          <p:nvPr userDrawn="1"/>
        </p:nvSpPr>
        <p:spPr>
          <a:xfrm>
            <a:off x="0" y="1"/>
            <a:ext cx="12191999" cy="6857999"/>
          </a:xfrm>
          <a:prstGeom prst="rect">
            <a:avLst/>
          </a:prstGeom>
          <a:noFill/>
          <a:ln w="1778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 xmlns:a16="http://schemas.microsoft.com/office/drawing/2014/main" id="{A3AA0474-8FF5-26D4-FF3B-B8AA251B06F0}"/>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 xmlns:a16="http://schemas.microsoft.com/office/drawing/2014/main" id="{EDC6BC82-2752-FE77-7E7B-D40EB348F501}"/>
              </a:ext>
            </a:extLst>
          </p:cNvPr>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 xmlns:a16="http://schemas.microsoft.com/office/drawing/2014/main" id="{D62913E6-E833-A35B-D52D-6FC43B3AAB23}"/>
              </a:ext>
            </a:extLst>
          </p:cNvPr>
          <p:cNvSpPr>
            <a:spLocks noGrp="1"/>
          </p:cNvSpPr>
          <p:nvPr>
            <p:ph type="ctrTitle"/>
          </p:nvPr>
        </p:nvSpPr>
        <p:spPr>
          <a:xfrm>
            <a:off x="291226" y="2069559"/>
            <a:ext cx="8195549" cy="2251180"/>
          </a:xfrm>
        </p:spPr>
        <p:txBody>
          <a:bodyPr anchor="b"/>
          <a:lstStyle>
            <a:lvl1pPr algn="l">
              <a:defRPr sz="5400"/>
            </a:lvl1pPr>
          </a:lstStyle>
          <a:p>
            <a:endParaRPr lang="en-US" dirty="0"/>
          </a:p>
        </p:txBody>
      </p:sp>
    </p:spTree>
    <p:extLst>
      <p:ext uri="{BB962C8B-B14F-4D97-AF65-F5344CB8AC3E}">
        <p14:creationId xmlns:p14="http://schemas.microsoft.com/office/powerpoint/2010/main" val="2221994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cons_AWS-Squid-Ink">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848DBF48-0EFD-7E4F-AAF0-AB1C4877B680}"/>
              </a:ext>
            </a:extLst>
          </p:cNvPr>
          <p:cNvSpPr/>
          <p:nvPr userDrawn="1"/>
        </p:nvSpPr>
        <p:spPr>
          <a:xfrm>
            <a:off x="0" y="1009650"/>
            <a:ext cx="12192000"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 xmlns:a16="http://schemas.microsoft.com/office/drawing/2014/main" id="{E1388B4C-0BAF-3342-B4C4-F8F3835171BA}"/>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General Services</a:t>
            </a:r>
          </a:p>
        </p:txBody>
      </p:sp>
      <p:sp>
        <p:nvSpPr>
          <p:cNvPr id="6" name="Title 1">
            <a:extLst>
              <a:ext uri="{FF2B5EF4-FFF2-40B4-BE49-F238E27FC236}">
                <a16:creationId xmlns="" xmlns:a16="http://schemas.microsoft.com/office/drawing/2014/main" id="{1589A14A-BBCF-BC41-8E4A-D55A4B8E1B3D}"/>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 xmlns:a16="http://schemas.microsoft.com/office/drawing/2014/main" id="{613BDA1A-1CBB-8E43-A453-55D625CBA08B}"/>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9DE7E60F-0E8F-E845-A30E-6D51DFDCF24C}"/>
              </a:ext>
            </a:extLst>
          </p:cNvPr>
          <p:cNvSpPr/>
          <p:nvPr userDrawn="1"/>
        </p:nvSpPr>
        <p:spPr>
          <a:xfrm>
            <a:off x="0" y="1"/>
            <a:ext cx="12191999" cy="6857999"/>
          </a:xfrm>
          <a:prstGeom prst="rect">
            <a:avLst/>
          </a:prstGeom>
          <a:noFill/>
          <a:ln w="1778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1" name="Text Placeholder 23">
            <a:extLst>
              <a:ext uri="{FF2B5EF4-FFF2-40B4-BE49-F238E27FC236}">
                <a16:creationId xmlns="" xmlns:a16="http://schemas.microsoft.com/office/drawing/2014/main" id="{06F1EA21-81DA-5A4B-9469-25634A530790}"/>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B2E1ECED-EA93-EF92-CE3E-5CCF2183532A}"/>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 xmlns:a16="http://schemas.microsoft.com/office/drawing/2014/main" id="{856C5E90-B6A0-C44C-5B33-1A7116573C30}"/>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003901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only_AWS-Squid-Ink">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8E5D3566-EC15-634D-A5DB-D8659E8B1D53}"/>
              </a:ext>
            </a:extLst>
          </p:cNvPr>
          <p:cNvSpPr/>
          <p:nvPr userDrawn="1"/>
        </p:nvSpPr>
        <p:spPr>
          <a:xfrm>
            <a:off x="0" y="1"/>
            <a:ext cx="12191999" cy="6857999"/>
          </a:xfrm>
          <a:prstGeom prst="rect">
            <a:avLst/>
          </a:prstGeom>
          <a:noFill/>
          <a:ln w="1778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p:txBody>
          <a:bodyPr/>
          <a:lstStyle/>
          <a:p>
            <a:r>
              <a:rPr lang="en-US"/>
              <a:t>Click to edit Master title style</a:t>
            </a:r>
          </a:p>
        </p:txBody>
      </p:sp>
      <p:sp>
        <p:nvSpPr>
          <p:cNvPr id="6" name="Slide Number Placeholder 5">
            <a:extLst>
              <a:ext uri="{FF2B5EF4-FFF2-40B4-BE49-F238E27FC236}">
                <a16:creationId xmlns="" xmlns:a16="http://schemas.microsoft.com/office/drawing/2014/main" id="{48AA02FF-B2B6-C57F-26B1-0DD331F6C150}"/>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 xmlns:a16="http://schemas.microsoft.com/office/drawing/2014/main" id="{84867BF2-F07F-5F3F-475C-95CD1798EEA5}"/>
              </a:ext>
            </a:extLst>
          </p:cNvPr>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413293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tegory_AWS-Galaxy-500">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0AEB10B3-8C08-7244-A574-BA85CB778D8C}"/>
              </a:ext>
            </a:extLst>
          </p:cNvPr>
          <p:cNvSpPr/>
          <p:nvPr userDrawn="1"/>
        </p:nvSpPr>
        <p:spPr>
          <a:xfrm>
            <a:off x="0" y="0"/>
            <a:ext cx="12191999" cy="6857999"/>
          </a:xfrm>
          <a:prstGeom prst="rect">
            <a:avLst/>
          </a:prstGeom>
          <a:noFill/>
          <a:ln w="177800">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 xmlns:a16="http://schemas.microsoft.com/office/drawing/2014/main" id="{108BE0B2-F3AA-6FBC-AD07-99EDAC6C0D94}"/>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 xmlns:a16="http://schemas.microsoft.com/office/drawing/2014/main" id="{5C25EDD2-E77A-C2D7-DFD4-A448A9D8DA6F}"/>
              </a:ext>
            </a:extLst>
          </p:cNvPr>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 xmlns:a16="http://schemas.microsoft.com/office/drawing/2014/main" id="{D4C323C8-2085-5822-7923-7CF461743E9D}"/>
              </a:ext>
            </a:extLst>
          </p:cNvPr>
          <p:cNvSpPr>
            <a:spLocks noGrp="1"/>
          </p:cNvSpPr>
          <p:nvPr>
            <p:ph type="ctrTitle"/>
          </p:nvPr>
        </p:nvSpPr>
        <p:spPr>
          <a:xfrm>
            <a:off x="291226" y="2069559"/>
            <a:ext cx="8195549" cy="2251180"/>
          </a:xfrm>
        </p:spPr>
        <p:txBody>
          <a:bodyPr anchor="b"/>
          <a:lstStyle>
            <a:lvl1pPr algn="l">
              <a:defRPr sz="5400"/>
            </a:lvl1pPr>
          </a:lstStyle>
          <a:p>
            <a:endParaRPr lang="en-US" dirty="0"/>
          </a:p>
        </p:txBody>
      </p:sp>
    </p:spTree>
    <p:extLst>
      <p:ext uri="{BB962C8B-B14F-4D97-AF65-F5344CB8AC3E}">
        <p14:creationId xmlns:p14="http://schemas.microsoft.com/office/powerpoint/2010/main" val="21765707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_AWS-Galaxy-500">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831F4C99-54C2-9541-8F43-762C964F1301}"/>
              </a:ext>
            </a:extLst>
          </p:cNvPr>
          <p:cNvSpPr/>
          <p:nvPr userDrawn="1"/>
        </p:nvSpPr>
        <p:spPr>
          <a:xfrm>
            <a:off x="0" y="1009650"/>
            <a:ext cx="12191997"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Title 1">
            <a:extLst>
              <a:ext uri="{FF2B5EF4-FFF2-40B4-BE49-F238E27FC236}">
                <a16:creationId xmlns="" xmlns:a16="http://schemas.microsoft.com/office/drawing/2014/main" id="{4A10370E-4F42-8241-BF9F-E9A72893EDA6}"/>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7" name="Title 1">
            <a:extLst>
              <a:ext uri="{FF2B5EF4-FFF2-40B4-BE49-F238E27FC236}">
                <a16:creationId xmlns="" xmlns:a16="http://schemas.microsoft.com/office/drawing/2014/main" id="{E12F472C-8CA3-7949-8253-63E2F46D3462}"/>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8" name="Straight Connector 7">
            <a:extLst>
              <a:ext uri="{FF2B5EF4-FFF2-40B4-BE49-F238E27FC236}">
                <a16:creationId xmlns="" xmlns:a16="http://schemas.microsoft.com/office/drawing/2014/main" id="{672AB3EF-8D29-0347-A0F4-5A920F8D6324}"/>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1" name="Text Placeholder 23">
            <a:extLst>
              <a:ext uri="{FF2B5EF4-FFF2-40B4-BE49-F238E27FC236}">
                <a16:creationId xmlns="" xmlns:a16="http://schemas.microsoft.com/office/drawing/2014/main" id="{0FB48715-5720-1948-9EBD-02110C7CC891}"/>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68C1FD56-C45F-424C-E9DB-ED23FAE2B384}"/>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 xmlns:a16="http://schemas.microsoft.com/office/drawing/2014/main" id="{A5FA43EF-49E4-74BC-21F0-D41D27599C59}"/>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10" name="Rectangle 9">
            <a:extLst>
              <a:ext uri="{FF2B5EF4-FFF2-40B4-BE49-F238E27FC236}">
                <a16:creationId xmlns="" xmlns:a16="http://schemas.microsoft.com/office/drawing/2014/main" id="{468A9567-E554-3010-2A38-DF450DDFF986}"/>
              </a:ext>
            </a:extLst>
          </p:cNvPr>
          <p:cNvSpPr/>
          <p:nvPr userDrawn="1"/>
        </p:nvSpPr>
        <p:spPr>
          <a:xfrm>
            <a:off x="0" y="0"/>
            <a:ext cx="12191999" cy="6857999"/>
          </a:xfrm>
          <a:prstGeom prst="rect">
            <a:avLst/>
          </a:prstGeom>
          <a:noFill/>
          <a:ln w="177800">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extLst>
      <p:ext uri="{BB962C8B-B14F-4D97-AF65-F5344CB8AC3E}">
        <p14:creationId xmlns:p14="http://schemas.microsoft.com/office/powerpoint/2010/main" val="152046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only_AWS-Galaxy-500">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AFF7784A-AC38-A14C-8390-9F3D6CB22C2B}"/>
              </a:ext>
            </a:extLst>
          </p:cNvPr>
          <p:cNvSpPr/>
          <p:nvPr userDrawn="1"/>
        </p:nvSpPr>
        <p:spPr>
          <a:xfrm>
            <a:off x="0" y="0"/>
            <a:ext cx="12191999" cy="6857999"/>
          </a:xfrm>
          <a:prstGeom prst="rect">
            <a:avLst/>
          </a:prstGeom>
          <a:noFill/>
          <a:ln w="177800">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1" name="Text Placeholder 23">
            <a:extLst>
              <a:ext uri="{FF2B5EF4-FFF2-40B4-BE49-F238E27FC236}">
                <a16:creationId xmlns="" xmlns:a16="http://schemas.microsoft.com/office/drawing/2014/main" id="{0FB48715-5720-1948-9EBD-02110C7CC891}"/>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745F89A6-18DC-5D54-AD1E-DB045747406C}"/>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5" name="Footer Placeholder 4">
            <a:extLst>
              <a:ext uri="{FF2B5EF4-FFF2-40B4-BE49-F238E27FC236}">
                <a16:creationId xmlns="" xmlns:a16="http://schemas.microsoft.com/office/drawing/2014/main" id="{9527EB7E-691A-4FE3-71DE-02772BF2868C}"/>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1556234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tegory_AWS-Cosmos-500">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92051C7E-3900-3D47-BA06-C45A775AC5C5}"/>
              </a:ext>
            </a:extLst>
          </p:cNvPr>
          <p:cNvSpPr/>
          <p:nvPr userDrawn="1"/>
        </p:nvSpPr>
        <p:spPr>
          <a:xfrm>
            <a:off x="0" y="0"/>
            <a:ext cx="12191999" cy="6857999"/>
          </a:xfrm>
          <a:prstGeom prst="rect">
            <a:avLst/>
          </a:prstGeom>
          <a:noFill/>
          <a:ln w="177800">
            <a:solidFill>
              <a:srgbClr val="E7157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 xmlns:a16="http://schemas.microsoft.com/office/drawing/2014/main" id="{5195DDB9-D31A-2698-9E06-EDBA420408B1}"/>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 xmlns:a16="http://schemas.microsoft.com/office/drawing/2014/main" id="{549BC9C4-5B16-0446-1707-A098531C834D}"/>
              </a:ext>
            </a:extLst>
          </p:cNvPr>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 xmlns:a16="http://schemas.microsoft.com/office/drawing/2014/main" id="{7AFB4B64-1C05-8022-8062-CE396DA9A90A}"/>
              </a:ext>
            </a:extLst>
          </p:cNvPr>
          <p:cNvSpPr>
            <a:spLocks noGrp="1"/>
          </p:cNvSpPr>
          <p:nvPr>
            <p:ph type="ctrTitle"/>
          </p:nvPr>
        </p:nvSpPr>
        <p:spPr>
          <a:xfrm>
            <a:off x="291226" y="2069559"/>
            <a:ext cx="8195549" cy="2251180"/>
          </a:xfrm>
        </p:spPr>
        <p:txBody>
          <a:bodyPr anchor="b"/>
          <a:lstStyle>
            <a:lvl1pPr algn="l">
              <a:defRPr sz="5400"/>
            </a:lvl1pPr>
          </a:lstStyle>
          <a:p>
            <a:endParaRPr lang="en-US" dirty="0"/>
          </a:p>
        </p:txBody>
      </p:sp>
    </p:spTree>
    <p:extLst>
      <p:ext uri="{BB962C8B-B14F-4D97-AF65-F5344CB8AC3E}">
        <p14:creationId xmlns:p14="http://schemas.microsoft.com/office/powerpoint/2010/main" val="12178027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_AWS-Cosmos-500">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D487056-54C9-3C44-8A0E-E8A0308AD2EC}"/>
              </a:ext>
            </a:extLst>
          </p:cNvPr>
          <p:cNvSpPr/>
          <p:nvPr userDrawn="1"/>
        </p:nvSpPr>
        <p:spPr>
          <a:xfrm>
            <a:off x="0" y="1009650"/>
            <a:ext cx="12191996"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 xmlns:a16="http://schemas.microsoft.com/office/drawing/2014/main" id="{769FAB93-C1F2-A245-90B4-C96C9D1826D2}"/>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 xmlns:a16="http://schemas.microsoft.com/office/drawing/2014/main" id="{4F0D628E-4994-3E4C-AFDD-4A6F01ABA79D}"/>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 xmlns:a16="http://schemas.microsoft.com/office/drawing/2014/main" id="{E483B396-C225-9E4D-8732-D5FC98F01E48}"/>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95DB3A17-29D7-3A45-ACDB-C1245E165449}"/>
              </a:ext>
            </a:extLst>
          </p:cNvPr>
          <p:cNvSpPr/>
          <p:nvPr userDrawn="1"/>
        </p:nvSpPr>
        <p:spPr>
          <a:xfrm>
            <a:off x="0" y="0"/>
            <a:ext cx="12191999" cy="6857999"/>
          </a:xfrm>
          <a:prstGeom prst="rect">
            <a:avLst/>
          </a:prstGeom>
          <a:noFill/>
          <a:ln w="177800">
            <a:solidFill>
              <a:srgbClr val="E7157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3" name="Text Placeholder 23">
            <a:extLst>
              <a:ext uri="{FF2B5EF4-FFF2-40B4-BE49-F238E27FC236}">
                <a16:creationId xmlns="" xmlns:a16="http://schemas.microsoft.com/office/drawing/2014/main" id="{F12AE10E-078F-804F-9AD5-CDE64C853CCC}"/>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4D0CF192-8158-0693-458E-D0BD5278EFE6}"/>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 xmlns:a16="http://schemas.microsoft.com/office/drawing/2014/main" id="{C41C9672-9F35-D403-7E93-A3EAF1A26E6E}"/>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4782707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tegory_AWS-Endor-500">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5573C5A5-FEA2-6F41-A1B4-E8FDB998D476}"/>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 xmlns:a16="http://schemas.microsoft.com/office/drawing/2014/main" id="{88FE23E1-65D3-108F-B7F0-D0FA7F50C02C}"/>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 xmlns:a16="http://schemas.microsoft.com/office/drawing/2014/main" id="{87076095-762D-BE68-015D-91DF4C459DD2}"/>
              </a:ext>
            </a:extLst>
          </p:cNvPr>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 xmlns:a16="http://schemas.microsoft.com/office/drawing/2014/main" id="{E64B0985-E6AB-7E04-B155-7041E50767B8}"/>
              </a:ext>
            </a:extLst>
          </p:cNvPr>
          <p:cNvSpPr>
            <a:spLocks noGrp="1"/>
          </p:cNvSpPr>
          <p:nvPr>
            <p:ph type="ctrTitle"/>
          </p:nvPr>
        </p:nvSpPr>
        <p:spPr>
          <a:xfrm>
            <a:off x="291226" y="2069559"/>
            <a:ext cx="8195549" cy="2251180"/>
          </a:xfrm>
        </p:spPr>
        <p:txBody>
          <a:bodyPr anchor="b"/>
          <a:lstStyle>
            <a:lvl1pPr algn="l">
              <a:defRPr sz="5400"/>
            </a:lvl1pPr>
          </a:lstStyle>
          <a:p>
            <a:endParaRPr lang="en-US" dirty="0"/>
          </a:p>
        </p:txBody>
      </p:sp>
    </p:spTree>
    <p:extLst>
      <p:ext uri="{BB962C8B-B14F-4D97-AF65-F5344CB8AC3E}">
        <p14:creationId xmlns:p14="http://schemas.microsoft.com/office/powerpoint/2010/main" val="35505815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_AWS-Endor-500">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B6512C27-F57D-C04D-8C2E-2FBCFAEFE9E8}"/>
              </a:ext>
            </a:extLst>
          </p:cNvPr>
          <p:cNvSpPr/>
          <p:nvPr userDrawn="1"/>
        </p:nvSpPr>
        <p:spPr>
          <a:xfrm>
            <a:off x="0" y="1009650"/>
            <a:ext cx="12192000"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 xmlns:a16="http://schemas.microsoft.com/office/drawing/2014/main" id="{FAE0B215-B435-A046-AB52-3AC5CD6CB093}"/>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 xmlns:a16="http://schemas.microsoft.com/office/drawing/2014/main" id="{BB3FCFCA-86E9-6843-BBC5-696B46773C55}"/>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 xmlns:a16="http://schemas.microsoft.com/office/drawing/2014/main" id="{E90F07F7-0ACA-744C-8676-DDDFF0EDD79A}"/>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9AB1F7AC-1D02-F24E-80FB-3513723974A8}"/>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3" name="Text Placeholder 23">
            <a:extLst>
              <a:ext uri="{FF2B5EF4-FFF2-40B4-BE49-F238E27FC236}">
                <a16:creationId xmlns="" xmlns:a16="http://schemas.microsoft.com/office/drawing/2014/main" id="{4B1180FA-C20F-4340-836A-5B39546E465E}"/>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7ED2BE29-5008-2D62-A19B-811CC5BEDF3A}"/>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 xmlns:a16="http://schemas.microsoft.com/office/drawing/2014/main" id="{9242A501-CFBB-7A93-52F3-AB8E94687A2C}"/>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7046292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orage-Classes_AWS-Endor-500">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BC46AA92-8B71-8343-AF02-BAEECFD8F9E8}"/>
              </a:ext>
            </a:extLst>
          </p:cNvPr>
          <p:cNvSpPr/>
          <p:nvPr userDrawn="1"/>
        </p:nvSpPr>
        <p:spPr>
          <a:xfrm>
            <a:off x="0" y="1009650"/>
            <a:ext cx="12191998"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 xmlns:a16="http://schemas.microsoft.com/office/drawing/2014/main" id="{C66A8FD4-AEDF-F246-ACD7-A4642BCCBDE8}"/>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 xmlns:a16="http://schemas.microsoft.com/office/drawing/2014/main" id="{A6DB7508-B76E-E744-9C55-928286936635}"/>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Storage Classes</a:t>
            </a:r>
          </a:p>
        </p:txBody>
      </p:sp>
      <p:cxnSp>
        <p:nvCxnSpPr>
          <p:cNvPr id="7" name="Straight Connector 6">
            <a:extLst>
              <a:ext uri="{FF2B5EF4-FFF2-40B4-BE49-F238E27FC236}">
                <a16:creationId xmlns="" xmlns:a16="http://schemas.microsoft.com/office/drawing/2014/main" id="{EB7DB5F5-A7AF-224D-AD0A-3017FEAC6807}"/>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D41A0A26-7D8D-E34A-A375-337900A81340}"/>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itle 1">
            <a:extLst>
              <a:ext uri="{FF2B5EF4-FFF2-40B4-BE49-F238E27FC236}">
                <a16:creationId xmlns="" xmlns:a16="http://schemas.microsoft.com/office/drawing/2014/main" id="{0EE8DD8F-3E33-DE49-A6C4-85510AAE5192}"/>
              </a:ext>
            </a:extLst>
          </p:cNvPr>
          <p:cNvSpPr txBox="1">
            <a:spLocks/>
          </p:cNvSpPr>
          <p:nvPr userDrawn="1"/>
        </p:nvSpPr>
        <p:spPr>
          <a:xfrm>
            <a:off x="241300" y="44196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3" name="Text Placeholder 23">
            <a:extLst>
              <a:ext uri="{FF2B5EF4-FFF2-40B4-BE49-F238E27FC236}">
                <a16:creationId xmlns="" xmlns:a16="http://schemas.microsoft.com/office/drawing/2014/main" id="{4B1180FA-C20F-4340-836A-5B39546E465E}"/>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877A8E09-3949-0C42-F238-4E96EA21F599}"/>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10" name="Footer Placeholder 9">
            <a:extLst>
              <a:ext uri="{FF2B5EF4-FFF2-40B4-BE49-F238E27FC236}">
                <a16:creationId xmlns="" xmlns:a16="http://schemas.microsoft.com/office/drawing/2014/main" id="{C7A0009A-07A1-B192-98C1-30731D62BA50}"/>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4080634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oT-Resources_AWS-Endor-500">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BCC60938-B1D7-7642-B1A2-9236489D4F1E}"/>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IoT Resources</a:t>
            </a:r>
          </a:p>
        </p:txBody>
      </p:sp>
      <p:cxnSp>
        <p:nvCxnSpPr>
          <p:cNvPr id="6" name="Straight Connector 5">
            <a:extLst>
              <a:ext uri="{FF2B5EF4-FFF2-40B4-BE49-F238E27FC236}">
                <a16:creationId xmlns="" xmlns:a16="http://schemas.microsoft.com/office/drawing/2014/main" id="{E942122E-0449-9146-A319-D11DF60C4F51}"/>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 xmlns:a16="http://schemas.microsoft.com/office/drawing/2014/main" id="{4C2C7E85-0D8D-A349-9C99-2B876764A290}"/>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3" name="Text Placeholder 23">
            <a:extLst>
              <a:ext uri="{FF2B5EF4-FFF2-40B4-BE49-F238E27FC236}">
                <a16:creationId xmlns="" xmlns:a16="http://schemas.microsoft.com/office/drawing/2014/main" id="{4B1180FA-C20F-4340-836A-5B39546E465E}"/>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EED97408-F4F0-7E99-C730-19F388F4D2E4}"/>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8" name="Footer Placeholder 7">
            <a:extLst>
              <a:ext uri="{FF2B5EF4-FFF2-40B4-BE49-F238E27FC236}">
                <a16:creationId xmlns="" xmlns:a16="http://schemas.microsoft.com/office/drawing/2014/main" id="{A1692BB6-3B05-1293-CC06-6FDE3455017D}"/>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2155831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oT-Things_AWS-Endor-500">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63DE121C-6773-A942-87BC-F4D427316A91}"/>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IoT Things</a:t>
            </a:r>
          </a:p>
        </p:txBody>
      </p:sp>
      <p:cxnSp>
        <p:nvCxnSpPr>
          <p:cNvPr id="6" name="Straight Connector 5">
            <a:extLst>
              <a:ext uri="{FF2B5EF4-FFF2-40B4-BE49-F238E27FC236}">
                <a16:creationId xmlns="" xmlns:a16="http://schemas.microsoft.com/office/drawing/2014/main" id="{50F07151-3D39-D647-9EC4-468CD7515165}"/>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 xmlns:a16="http://schemas.microsoft.com/office/drawing/2014/main" id="{4758A11D-69A8-0C48-B5B1-2F07EB49825B}"/>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3" name="Text Placeholder 23">
            <a:extLst>
              <a:ext uri="{FF2B5EF4-FFF2-40B4-BE49-F238E27FC236}">
                <a16:creationId xmlns="" xmlns:a16="http://schemas.microsoft.com/office/drawing/2014/main" id="{4B1180FA-C20F-4340-836A-5B39546E465E}"/>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DE6B9F3D-6443-1422-0F09-2FC88B70556E}"/>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8" name="Footer Placeholder 7">
            <a:extLst>
              <a:ext uri="{FF2B5EF4-FFF2-40B4-BE49-F238E27FC236}">
                <a16:creationId xmlns="" xmlns:a16="http://schemas.microsoft.com/office/drawing/2014/main" id="{07DD450F-B073-2724-EFAB-1458FF83F7D0}"/>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0288314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tegory_AWS-Smile-500">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04734F41-1E91-BB44-8DB4-8C7590A467BD}"/>
              </a:ext>
            </a:extLst>
          </p:cNvPr>
          <p:cNvSpPr/>
          <p:nvPr userDrawn="1"/>
        </p:nvSpPr>
        <p:spPr>
          <a:xfrm>
            <a:off x="0" y="0"/>
            <a:ext cx="12191999" cy="6857999"/>
          </a:xfrm>
          <a:prstGeom prst="rect">
            <a:avLst/>
          </a:prstGeom>
          <a:noFill/>
          <a:ln w="177800">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 xmlns:a16="http://schemas.microsoft.com/office/drawing/2014/main" id="{709D418F-7ECB-AD5F-D0C7-A97A145050F2}"/>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 xmlns:a16="http://schemas.microsoft.com/office/drawing/2014/main" id="{1E6EA197-D7E8-786F-1AA3-1FACE65C25CC}"/>
              </a:ext>
            </a:extLst>
          </p:cNvPr>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 xmlns:a16="http://schemas.microsoft.com/office/drawing/2014/main" id="{E87719DA-11C0-89F7-1183-23DEE88B92BC}"/>
              </a:ext>
            </a:extLst>
          </p:cNvPr>
          <p:cNvSpPr>
            <a:spLocks noGrp="1"/>
          </p:cNvSpPr>
          <p:nvPr>
            <p:ph type="ctrTitle"/>
          </p:nvPr>
        </p:nvSpPr>
        <p:spPr>
          <a:xfrm>
            <a:off x="291226" y="2069559"/>
            <a:ext cx="8195549" cy="2251180"/>
          </a:xfrm>
        </p:spPr>
        <p:txBody>
          <a:bodyPr anchor="b"/>
          <a:lstStyle>
            <a:lvl1pPr algn="l">
              <a:defRPr sz="5400"/>
            </a:lvl1pPr>
          </a:lstStyle>
          <a:p>
            <a:endParaRPr lang="en-US" dirty="0"/>
          </a:p>
        </p:txBody>
      </p:sp>
    </p:spTree>
    <p:extLst>
      <p:ext uri="{BB962C8B-B14F-4D97-AF65-F5344CB8AC3E}">
        <p14:creationId xmlns:p14="http://schemas.microsoft.com/office/powerpoint/2010/main" val="25267283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cons_AWS-Smile-500">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28F773F9-4F99-D942-BEBB-1593505C68C1}"/>
              </a:ext>
            </a:extLst>
          </p:cNvPr>
          <p:cNvSpPr/>
          <p:nvPr userDrawn="1"/>
        </p:nvSpPr>
        <p:spPr>
          <a:xfrm>
            <a:off x="0" y="1009650"/>
            <a:ext cx="12191998"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 xmlns:a16="http://schemas.microsoft.com/office/drawing/2014/main" id="{1AF5CCA0-0690-374D-8772-DEF02BD7F540}"/>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 xmlns:a16="http://schemas.microsoft.com/office/drawing/2014/main" id="{3BC98EB3-F74A-FD47-AF5D-6FDD457384E6}"/>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 xmlns:a16="http://schemas.microsoft.com/office/drawing/2014/main" id="{CDEDFC34-7FFC-F543-BA55-50C9C7C48B26}"/>
              </a:ext>
            </a:extLst>
          </p:cNvPr>
          <p:cNvCxnSpPr>
            <a:cxnSpLocks/>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D97EA81C-3417-9A44-BB8E-31157C34FEB0}"/>
              </a:ext>
            </a:extLst>
          </p:cNvPr>
          <p:cNvSpPr/>
          <p:nvPr userDrawn="1"/>
        </p:nvSpPr>
        <p:spPr>
          <a:xfrm>
            <a:off x="0" y="0"/>
            <a:ext cx="12191999" cy="6857999"/>
          </a:xfrm>
          <a:prstGeom prst="rect">
            <a:avLst/>
          </a:prstGeom>
          <a:noFill/>
          <a:ln w="177800">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5" name="Text Placeholder 23">
            <a:extLst>
              <a:ext uri="{FF2B5EF4-FFF2-40B4-BE49-F238E27FC236}">
                <a16:creationId xmlns="" xmlns:a16="http://schemas.microsoft.com/office/drawing/2014/main" id="{62A62E79-E4B4-554D-B049-F72881B22BC1}"/>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F4A7C87C-AFEA-994A-5677-D6E0BF66DFCF}"/>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 xmlns:a16="http://schemas.microsoft.com/office/drawing/2014/main" id="{F52EE44F-067B-DDFC-C61E-4E445447410A}"/>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6233687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es_Instances_AWS-Smile-500">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E7F41C06-25C4-FE46-A47C-4B60AE628A89}"/>
              </a:ext>
            </a:extLst>
          </p:cNvPr>
          <p:cNvSpPr/>
          <p:nvPr userDrawn="1"/>
        </p:nvSpPr>
        <p:spPr>
          <a:xfrm>
            <a:off x="0" y="1009650"/>
            <a:ext cx="12192000"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 xmlns:a16="http://schemas.microsoft.com/office/drawing/2014/main" id="{98499298-BDCA-EC42-BE59-1F8672E52526}"/>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 xmlns:a16="http://schemas.microsoft.com/office/drawing/2014/main" id="{461EB6ED-D795-1747-A446-1C4C0434D810}"/>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 xmlns:a16="http://schemas.microsoft.com/office/drawing/2014/main" id="{7378119F-F6F8-D44F-8ABE-419D35451573}"/>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8B257808-C612-7942-9E1F-FF677A089C7C}"/>
              </a:ext>
            </a:extLst>
          </p:cNvPr>
          <p:cNvSpPr/>
          <p:nvPr userDrawn="1"/>
        </p:nvSpPr>
        <p:spPr>
          <a:xfrm>
            <a:off x="0" y="0"/>
            <a:ext cx="12191999" cy="6857999"/>
          </a:xfrm>
          <a:prstGeom prst="rect">
            <a:avLst/>
          </a:prstGeom>
          <a:noFill/>
          <a:ln w="177800">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9" name="Text Placeholder 23">
            <a:extLst>
              <a:ext uri="{FF2B5EF4-FFF2-40B4-BE49-F238E27FC236}">
                <a16:creationId xmlns="" xmlns:a16="http://schemas.microsoft.com/office/drawing/2014/main" id="{51C8E2B8-601E-1A45-AFD4-63CA944F4CA1}"/>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14" name="Title 1">
            <a:extLst>
              <a:ext uri="{FF2B5EF4-FFF2-40B4-BE49-F238E27FC236}">
                <a16:creationId xmlns="" xmlns:a16="http://schemas.microsoft.com/office/drawing/2014/main" id="{FE489E1A-1BF1-F242-86E2-9807F29A1BEB}"/>
              </a:ext>
            </a:extLst>
          </p:cNvPr>
          <p:cNvSpPr txBox="1">
            <a:spLocks/>
          </p:cNvSpPr>
          <p:nvPr userDrawn="1"/>
        </p:nvSpPr>
        <p:spPr>
          <a:xfrm>
            <a:off x="241300" y="4049487"/>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Instances</a:t>
            </a:r>
          </a:p>
        </p:txBody>
      </p:sp>
      <p:sp>
        <p:nvSpPr>
          <p:cNvPr id="3" name="Slide Number Placeholder 2">
            <a:extLst>
              <a:ext uri="{FF2B5EF4-FFF2-40B4-BE49-F238E27FC236}">
                <a16:creationId xmlns="" xmlns:a16="http://schemas.microsoft.com/office/drawing/2014/main" id="{E2D6D495-0407-CD1E-7CF2-B5727772E034}"/>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 xmlns:a16="http://schemas.microsoft.com/office/drawing/2014/main" id="{2181C349-28A5-9EA2-5AD9-07AE81A15BF5}"/>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5919609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tegory_AWS-Mars-500">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687C9EBA-6CEA-D94E-918D-9DD6990AE6A3}"/>
              </a:ext>
            </a:extLst>
          </p:cNvPr>
          <p:cNvSpPr/>
          <p:nvPr userDrawn="1"/>
        </p:nvSpPr>
        <p:spPr>
          <a:xfrm>
            <a:off x="0" y="0"/>
            <a:ext cx="12191999" cy="6857999"/>
          </a:xfrm>
          <a:prstGeom prst="rect">
            <a:avLst/>
          </a:prstGeom>
          <a:noFill/>
          <a:ln w="177800">
            <a:solidFill>
              <a:srgbClr val="DD344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 xmlns:a16="http://schemas.microsoft.com/office/drawing/2014/main" id="{92D7B292-2800-583D-9EDE-02771F81661C}"/>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 xmlns:a16="http://schemas.microsoft.com/office/drawing/2014/main" id="{4A38E266-EB39-0A9E-C76A-053B4434F354}"/>
              </a:ext>
            </a:extLst>
          </p:cNvPr>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 xmlns:a16="http://schemas.microsoft.com/office/drawing/2014/main" id="{6D344EBE-C5DD-42C9-0773-5EF03139806B}"/>
              </a:ext>
            </a:extLst>
          </p:cNvPr>
          <p:cNvSpPr>
            <a:spLocks noGrp="1"/>
          </p:cNvSpPr>
          <p:nvPr>
            <p:ph type="ctrTitle"/>
          </p:nvPr>
        </p:nvSpPr>
        <p:spPr>
          <a:xfrm>
            <a:off x="291226" y="2069559"/>
            <a:ext cx="8195549" cy="2251180"/>
          </a:xfrm>
        </p:spPr>
        <p:txBody>
          <a:bodyPr anchor="b"/>
          <a:lstStyle>
            <a:lvl1pPr algn="l">
              <a:defRPr sz="5400"/>
            </a:lvl1pPr>
          </a:lstStyle>
          <a:p>
            <a:endParaRPr lang="en-US" dirty="0"/>
          </a:p>
        </p:txBody>
      </p:sp>
    </p:spTree>
    <p:extLst>
      <p:ext uri="{BB962C8B-B14F-4D97-AF65-F5344CB8AC3E}">
        <p14:creationId xmlns:p14="http://schemas.microsoft.com/office/powerpoint/2010/main" val="6153946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cons_AWS-Mars-500">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0E300FE-0BEC-454E-9226-4BF426763D48}"/>
              </a:ext>
            </a:extLst>
          </p:cNvPr>
          <p:cNvSpPr/>
          <p:nvPr userDrawn="1"/>
        </p:nvSpPr>
        <p:spPr>
          <a:xfrm>
            <a:off x="0" y="1009650"/>
            <a:ext cx="12192000"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 xmlns:a16="http://schemas.microsoft.com/office/drawing/2014/main" id="{4C2F67B6-6C8E-C641-86AA-C2F4428DDFA6}"/>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 xmlns:a16="http://schemas.microsoft.com/office/drawing/2014/main" id="{8BBDD403-20C7-4B41-9D7D-4F367D174F23}"/>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 xmlns:a16="http://schemas.microsoft.com/office/drawing/2014/main" id="{871A8823-AC99-5D48-BD49-9E36441E3815}"/>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BB803129-AEB7-3747-880F-67B9DA5EADCD}"/>
              </a:ext>
            </a:extLst>
          </p:cNvPr>
          <p:cNvSpPr/>
          <p:nvPr userDrawn="1"/>
        </p:nvSpPr>
        <p:spPr>
          <a:xfrm>
            <a:off x="0" y="0"/>
            <a:ext cx="12191999" cy="6857999"/>
          </a:xfrm>
          <a:prstGeom prst="rect">
            <a:avLst/>
          </a:prstGeom>
          <a:noFill/>
          <a:ln w="177800">
            <a:solidFill>
              <a:srgbClr val="DD344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3" name="Text Placeholder 23">
            <a:extLst>
              <a:ext uri="{FF2B5EF4-FFF2-40B4-BE49-F238E27FC236}">
                <a16:creationId xmlns="" xmlns:a16="http://schemas.microsoft.com/office/drawing/2014/main" id="{734B9127-FC3D-9845-AB17-D6D8304C65C2}"/>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AA6F7325-7C1E-09BA-9DE1-BB358065CDDB}"/>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 xmlns:a16="http://schemas.microsoft.com/office/drawing/2014/main" id="{A243F37E-BEB7-9CA9-4E15-9F6907D9A54E}"/>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3223337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tegory_AWS-Nebula-500">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C9CC7A7B-72BF-2148-B160-EA5B32411469}"/>
              </a:ext>
            </a:extLst>
          </p:cNvPr>
          <p:cNvSpPr/>
          <p:nvPr userDrawn="1"/>
        </p:nvSpPr>
        <p:spPr>
          <a:xfrm>
            <a:off x="0" y="0"/>
            <a:ext cx="12191999" cy="6857999"/>
          </a:xfrm>
          <a:prstGeom prst="rect">
            <a:avLst/>
          </a:prstGeom>
          <a:noFill/>
          <a:ln w="177800">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 xmlns:a16="http://schemas.microsoft.com/office/drawing/2014/main" id="{16628AE4-430E-D97E-BAB2-7E97E952C247}"/>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 xmlns:a16="http://schemas.microsoft.com/office/drawing/2014/main" id="{802214BB-2C3F-E1E5-BDD0-C67B8300112A}"/>
              </a:ext>
            </a:extLst>
          </p:cNvPr>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 xmlns:a16="http://schemas.microsoft.com/office/drawing/2014/main" id="{9E8E3023-FCBD-DC65-9C52-8350A86354BA}"/>
              </a:ext>
            </a:extLst>
          </p:cNvPr>
          <p:cNvSpPr>
            <a:spLocks noGrp="1"/>
          </p:cNvSpPr>
          <p:nvPr>
            <p:ph type="ctrTitle"/>
          </p:nvPr>
        </p:nvSpPr>
        <p:spPr>
          <a:xfrm>
            <a:off x="291226" y="2069559"/>
            <a:ext cx="8195549" cy="2251180"/>
          </a:xfrm>
        </p:spPr>
        <p:txBody>
          <a:bodyPr anchor="b"/>
          <a:lstStyle>
            <a:lvl1pPr algn="l">
              <a:defRPr sz="5400"/>
            </a:lvl1pPr>
          </a:lstStyle>
          <a:p>
            <a:endParaRPr lang="en-US" dirty="0"/>
          </a:p>
        </p:txBody>
      </p:sp>
    </p:spTree>
    <p:extLst>
      <p:ext uri="{BB962C8B-B14F-4D97-AF65-F5344CB8AC3E}">
        <p14:creationId xmlns:p14="http://schemas.microsoft.com/office/powerpoint/2010/main" val="20997362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cons_AWS-Nebula-500">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990783BA-5DA2-994D-A7B2-8BDAECAFA190}"/>
              </a:ext>
            </a:extLst>
          </p:cNvPr>
          <p:cNvSpPr/>
          <p:nvPr userDrawn="1"/>
        </p:nvSpPr>
        <p:spPr>
          <a:xfrm>
            <a:off x="0" y="1009650"/>
            <a:ext cx="12191994"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 xmlns:a16="http://schemas.microsoft.com/office/drawing/2014/main" id="{59EAF9B0-BE56-6748-B94F-D6A648A817D0}"/>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 xmlns:a16="http://schemas.microsoft.com/office/drawing/2014/main" id="{2E90A3CE-0CBA-E54C-B9E6-033E9469194E}"/>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 xmlns:a16="http://schemas.microsoft.com/office/drawing/2014/main" id="{82471B9F-0CD6-C044-9881-BAE1BF200229}"/>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CEA737E2-E92D-E84A-8C9E-5B00074EEFC1}"/>
              </a:ext>
            </a:extLst>
          </p:cNvPr>
          <p:cNvSpPr/>
          <p:nvPr userDrawn="1"/>
        </p:nvSpPr>
        <p:spPr>
          <a:xfrm>
            <a:off x="0" y="0"/>
            <a:ext cx="12191999" cy="6857999"/>
          </a:xfrm>
          <a:prstGeom prst="rect">
            <a:avLst/>
          </a:prstGeom>
          <a:noFill/>
          <a:ln w="177800">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3" name="Text Placeholder 23">
            <a:extLst>
              <a:ext uri="{FF2B5EF4-FFF2-40B4-BE49-F238E27FC236}">
                <a16:creationId xmlns="" xmlns:a16="http://schemas.microsoft.com/office/drawing/2014/main" id="{ED6FDA10-67FD-9241-9D4E-DBA923DCBE38}"/>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E77D7BF4-5C9B-4B50-0688-107EBA9E396B}"/>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 xmlns:a16="http://schemas.microsoft.com/office/drawing/2014/main" id="{26A55216-35F8-604A-0178-35EDF978E440}"/>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3999351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source-Icons_AWS-Nebula-500">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8C40F516-D969-6E4E-BF93-CCA70344A631}"/>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6" name="Straight Connector 5">
            <a:extLst>
              <a:ext uri="{FF2B5EF4-FFF2-40B4-BE49-F238E27FC236}">
                <a16:creationId xmlns="" xmlns:a16="http://schemas.microsoft.com/office/drawing/2014/main" id="{7DFF49B2-D892-0D45-AB42-3AAD67C3E792}"/>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 xmlns:a16="http://schemas.microsoft.com/office/drawing/2014/main" id="{90370AE6-5FDC-E344-AF35-B06C2A21DEA6}"/>
              </a:ext>
            </a:extLst>
          </p:cNvPr>
          <p:cNvSpPr/>
          <p:nvPr userDrawn="1"/>
        </p:nvSpPr>
        <p:spPr>
          <a:xfrm>
            <a:off x="0" y="0"/>
            <a:ext cx="12191999" cy="6857999"/>
          </a:xfrm>
          <a:prstGeom prst="rect">
            <a:avLst/>
          </a:prstGeom>
          <a:noFill/>
          <a:ln w="177800">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3" name="Text Placeholder 23">
            <a:extLst>
              <a:ext uri="{FF2B5EF4-FFF2-40B4-BE49-F238E27FC236}">
                <a16:creationId xmlns="" xmlns:a16="http://schemas.microsoft.com/office/drawing/2014/main" id="{ED6FDA10-67FD-9241-9D4E-DBA923DCBE38}"/>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BA6B5FC3-AE52-19A7-6F8A-323718978F22}"/>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8" name="Footer Placeholder 7">
            <a:extLst>
              <a:ext uri="{FF2B5EF4-FFF2-40B4-BE49-F238E27FC236}">
                <a16:creationId xmlns="" xmlns:a16="http://schemas.microsoft.com/office/drawing/2014/main" id="{B406D92E-6025-F398-40DC-9469712D631D}"/>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4201969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ategory_AWS-Orbit-500">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AFBE0FF0-DD9B-4D4C-8D49-958F9D7B538D}"/>
              </a:ext>
            </a:extLst>
          </p:cNvPr>
          <p:cNvSpPr/>
          <p:nvPr userDrawn="1"/>
        </p:nvSpPr>
        <p:spPr>
          <a:xfrm>
            <a:off x="0" y="0"/>
            <a:ext cx="12191999" cy="6857999"/>
          </a:xfrm>
          <a:prstGeom prst="rect">
            <a:avLst/>
          </a:prstGeom>
          <a:noFill/>
          <a:ln w="177800">
            <a:solidFill>
              <a:srgbClr val="01A88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 xmlns:a16="http://schemas.microsoft.com/office/drawing/2014/main" id="{39CEB0F6-1D91-81B8-A937-F1A989006E8D}"/>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 xmlns:a16="http://schemas.microsoft.com/office/drawing/2014/main" id="{87E65EC2-65B2-F233-2399-B91B20DC8930}"/>
              </a:ext>
            </a:extLst>
          </p:cNvPr>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 xmlns:a16="http://schemas.microsoft.com/office/drawing/2014/main" id="{221B69D6-D4A2-83BE-46E9-1295904E1746}"/>
              </a:ext>
            </a:extLst>
          </p:cNvPr>
          <p:cNvSpPr>
            <a:spLocks noGrp="1"/>
          </p:cNvSpPr>
          <p:nvPr>
            <p:ph type="ctrTitle"/>
          </p:nvPr>
        </p:nvSpPr>
        <p:spPr>
          <a:xfrm>
            <a:off x="291226" y="2069559"/>
            <a:ext cx="8195549" cy="2251180"/>
          </a:xfrm>
        </p:spPr>
        <p:txBody>
          <a:bodyPr anchor="b"/>
          <a:lstStyle>
            <a:lvl1pPr algn="l">
              <a:defRPr sz="5400"/>
            </a:lvl1pPr>
          </a:lstStyle>
          <a:p>
            <a:endParaRPr lang="en-US" dirty="0"/>
          </a:p>
        </p:txBody>
      </p:sp>
    </p:spTree>
    <p:extLst>
      <p:ext uri="{BB962C8B-B14F-4D97-AF65-F5344CB8AC3E}">
        <p14:creationId xmlns:p14="http://schemas.microsoft.com/office/powerpoint/2010/main" val="10391137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cons_AWS-Orbit-500">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0E2F0230-E8CE-DC44-BE47-8907F62C997D}"/>
              </a:ext>
            </a:extLst>
          </p:cNvPr>
          <p:cNvSpPr/>
          <p:nvPr userDrawn="1"/>
        </p:nvSpPr>
        <p:spPr>
          <a:xfrm>
            <a:off x="0" y="1009650"/>
            <a:ext cx="12191998"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 xmlns:a16="http://schemas.microsoft.com/office/drawing/2014/main" id="{E08B11CB-640D-E043-BAF5-A0C13F493AD5}"/>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 xmlns:a16="http://schemas.microsoft.com/office/drawing/2014/main" id="{3B3AE031-14EA-8D40-9418-E068CFCCEE63}"/>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 xmlns:a16="http://schemas.microsoft.com/office/drawing/2014/main" id="{DC3153ED-10FE-2541-95D5-3FFD37931226}"/>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2014E3DB-720E-E740-82E3-A1F043489F17}"/>
              </a:ext>
            </a:extLst>
          </p:cNvPr>
          <p:cNvSpPr/>
          <p:nvPr userDrawn="1"/>
        </p:nvSpPr>
        <p:spPr>
          <a:xfrm>
            <a:off x="0" y="0"/>
            <a:ext cx="12191999" cy="6857999"/>
          </a:xfrm>
          <a:prstGeom prst="rect">
            <a:avLst/>
          </a:prstGeom>
          <a:noFill/>
          <a:ln w="177800">
            <a:solidFill>
              <a:srgbClr val="01A88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dirty="0"/>
          </a:p>
        </p:txBody>
      </p:sp>
      <p:sp>
        <p:nvSpPr>
          <p:cNvPr id="13" name="Text Placeholder 23">
            <a:extLst>
              <a:ext uri="{FF2B5EF4-FFF2-40B4-BE49-F238E27FC236}">
                <a16:creationId xmlns="" xmlns:a16="http://schemas.microsoft.com/office/drawing/2014/main" id="{F1ACC603-6326-454F-8DB6-8BB023F9A082}"/>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 xmlns:a16="http://schemas.microsoft.com/office/drawing/2014/main" id="{47B46F3E-9AF6-1A67-72BD-4E356152EE42}"/>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 xmlns:a16="http://schemas.microsoft.com/office/drawing/2014/main" id="{D9E05E46-9741-B3CF-1195-89E912118D3A}"/>
              </a:ext>
            </a:extLst>
          </p:cNvPr>
          <p:cNvSpPr>
            <a:spLocks noGrp="1"/>
          </p:cNvSpPr>
          <p:nvPr>
            <p:ph type="ftr" sz="quarter" idx="12"/>
          </p:nvPr>
        </p:nvSpPr>
        <p:spPr/>
        <p:txBody>
          <a:bodyPr/>
          <a:lstStyle/>
          <a:p>
            <a:r>
              <a:rPr lang="en-US" dirty="0">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9017340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 xmlns:a16="http://schemas.microsoft.com/office/drawing/2014/main" id="{011C473C-44BA-054B-B271-D3751D073C48}"/>
              </a:ext>
            </a:extLst>
          </p:cNvPr>
          <p:cNvSpPr>
            <a:spLocks noGrp="1" noChangeArrowheads="1"/>
          </p:cNvSpPr>
          <p:nvPr>
            <p:ph type="title"/>
          </p:nvPr>
        </p:nvSpPr>
        <p:spPr bwMode="auto">
          <a:xfrm>
            <a:off x="241300" y="365125"/>
            <a:ext cx="117094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 xmlns:a16="http://schemas.microsoft.com/office/drawing/2014/main" id="{8604AFDB-588D-E24E-89EC-AD90383CE474}"/>
              </a:ext>
            </a:extLst>
          </p:cNvPr>
          <p:cNvSpPr>
            <a:spLocks noGrp="1" noChangeArrowheads="1"/>
          </p:cNvSpPr>
          <p:nvPr>
            <p:ph type="body" idx="1"/>
          </p:nvPr>
        </p:nvSpPr>
        <p:spPr bwMode="auto">
          <a:xfrm>
            <a:off x="241300" y="1176338"/>
            <a:ext cx="11709400"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p:txBody>
      </p:sp>
      <p:sp>
        <p:nvSpPr>
          <p:cNvPr id="2" name="Slide Number Placeholder 5">
            <a:extLst>
              <a:ext uri="{FF2B5EF4-FFF2-40B4-BE49-F238E27FC236}">
                <a16:creationId xmlns="" xmlns:a16="http://schemas.microsoft.com/office/drawing/2014/main" id="{56B8CE38-9F29-7D57-6505-1D5D478DA6B5}"/>
              </a:ext>
            </a:extLst>
          </p:cNvPr>
          <p:cNvSpPr>
            <a:spLocks noGrp="1"/>
          </p:cNvSpPr>
          <p:nvPr>
            <p:ph type="sldNum" sz="quarter" idx="4"/>
          </p:nvPr>
        </p:nvSpPr>
        <p:spPr>
          <a:xfrm>
            <a:off x="9112080" y="6289500"/>
            <a:ext cx="2743200" cy="365125"/>
          </a:xfrm>
          <a:prstGeom prst="rect">
            <a:avLst/>
          </a:prstGeom>
        </p:spPr>
        <p:txBody>
          <a:bodyPr vert="horz" lIns="91440" tIns="45720" rIns="91440" bIns="45720" rtlCol="0" anchor="ctr"/>
          <a:lstStyle>
            <a:lvl1pPr algn="r">
              <a:defRPr sz="900">
                <a:solidFill>
                  <a:schemeClr val="bg1"/>
                </a:solidFill>
                <a:latin typeface="Arial" panose="020B0604020202020204" pitchFamily="34" charset="0"/>
                <a:cs typeface="Arial" panose="020B0604020202020204" pitchFamily="34" charset="0"/>
              </a:defRPr>
            </a:lvl1pPr>
          </a:lstStyle>
          <a:p>
            <a:fld id="{EB4B8DE2-A4E8-46E4-8BBF-D75455EFF32C}" type="slidenum">
              <a:rPr lang="en-US" smtClean="0"/>
              <a:pPr/>
              <a:t>‹#›</a:t>
            </a:fld>
            <a:endParaRPr lang="en-US"/>
          </a:p>
        </p:txBody>
      </p:sp>
      <p:sp>
        <p:nvSpPr>
          <p:cNvPr id="8" name="Footer Placeholder 5">
            <a:extLst>
              <a:ext uri="{FF2B5EF4-FFF2-40B4-BE49-F238E27FC236}">
                <a16:creationId xmlns="" xmlns:a16="http://schemas.microsoft.com/office/drawing/2014/main" id="{FC649E9B-1B14-03BC-223A-A73E4C2CBC46}"/>
              </a:ext>
            </a:extLst>
          </p:cNvPr>
          <p:cNvSpPr>
            <a:spLocks noGrp="1"/>
          </p:cNvSpPr>
          <p:nvPr>
            <p:ph type="ftr" sz="quarter" idx="3"/>
          </p:nvPr>
        </p:nvSpPr>
        <p:spPr>
          <a:xfrm>
            <a:off x="4038600" y="6289500"/>
            <a:ext cx="4114800" cy="365125"/>
          </a:xfrm>
          <a:prstGeom prst="rect">
            <a:avLst/>
          </a:prstGeom>
        </p:spPr>
        <p:txBody>
          <a:bodyPr vert="horz" lIns="91440" tIns="45720" rIns="91440" bIns="45720" rtlCol="0" anchor="ctr"/>
          <a:lstStyle>
            <a:lvl1pPr algn="ctr">
              <a:defRPr sz="600">
                <a:solidFill>
                  <a:schemeClr val="bg1"/>
                </a:solidFill>
              </a:defRPr>
            </a:lvl1pPr>
          </a:lstStyle>
          <a:p>
            <a:r>
              <a:rPr lang="en-US" dirty="0">
                <a:latin typeface="Arial" panose="020B0604020202020204" pitchFamily="34" charset="0"/>
                <a:cs typeface="Arial" panose="020B0604020202020204" pitchFamily="34" charset="0"/>
              </a:rPr>
              <a:t>© 2023, Amazon Web Services, Inc. or its affiliates.</a:t>
            </a:r>
          </a:p>
        </p:txBody>
      </p:sp>
      <p:pic>
        <p:nvPicPr>
          <p:cNvPr id="5" name="Picture 4">
            <a:extLst>
              <a:ext uri="{FF2B5EF4-FFF2-40B4-BE49-F238E27FC236}">
                <a16:creationId xmlns="" xmlns:a16="http://schemas.microsoft.com/office/drawing/2014/main" id="{6CCB2219-6841-1D92-4D69-CA13E4688CCD}"/>
              </a:ext>
            </a:extLst>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336720" y="6335089"/>
            <a:ext cx="348827" cy="208700"/>
          </a:xfrm>
          <a:prstGeom prst="rect">
            <a:avLst/>
          </a:prstGeom>
        </p:spPr>
      </p:pic>
    </p:spTree>
    <p:extLst>
      <p:ext uri="{BB962C8B-B14F-4D97-AF65-F5344CB8AC3E}">
        <p14:creationId xmlns:p14="http://schemas.microsoft.com/office/powerpoint/2010/main" val="1659047060"/>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2" r:id="rId15"/>
    <p:sldLayoutId id="2147483843" r:id="rId16"/>
    <p:sldLayoutId id="2147483844" r:id="rId17"/>
    <p:sldLayoutId id="2147483845" r:id="rId18"/>
    <p:sldLayoutId id="2147483846" r:id="rId19"/>
    <p:sldLayoutId id="2147483847" r:id="rId20"/>
    <p:sldLayoutId id="2147483848" r:id="rId21"/>
    <p:sldLayoutId id="2147483849" r:id="rId22"/>
    <p:sldLayoutId id="2147483850" r:id="rId23"/>
    <p:sldLayoutId id="2147483851" r:id="rId24"/>
    <p:sldLayoutId id="2147483852" r:id="rId25"/>
    <p:sldLayoutId id="2147483853" r:id="rId26"/>
    <p:sldLayoutId id="2147483854" r:id="rId27"/>
    <p:sldLayoutId id="2147483855" r:id="rId28"/>
    <p:sldLayoutId id="2147483856" r:id="rId29"/>
    <p:sldLayoutId id="2147483857" r:id="rId30"/>
    <p:sldLayoutId id="2147483858" r:id="rId31"/>
    <p:sldLayoutId id="2147483859" r:id="rId32"/>
    <p:sldLayoutId id="2147483860" r:id="rId33"/>
    <p:sldLayoutId id="2147483861" r:id="rId34"/>
  </p:sldLayoutIdLst>
  <p:hf hdr="0" dt="0"/>
  <p:txStyles>
    <p:titleStyle>
      <a:lvl1pPr algn="l" rtl="0" eaLnBrk="0" fontAlgn="base" hangingPunct="0">
        <a:lnSpc>
          <a:spcPct val="90000"/>
        </a:lnSpc>
        <a:spcBef>
          <a:spcPct val="0"/>
        </a:spcBef>
        <a:spcAft>
          <a:spcPct val="0"/>
        </a:spcAft>
        <a:defRPr sz="2800" b="1" kern="1200">
          <a:solidFill>
            <a:schemeClr val="bg1"/>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6pPr>
      <a:lvl7pPr marL="9144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7pPr>
      <a:lvl8pPr marL="13716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8pPr>
      <a:lvl9pPr marL="18288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9pPr>
    </p:titleStyle>
    <p:bodyStyle>
      <a:lvl1pPr algn="l" rtl="0" eaLnBrk="0" fontAlgn="base" hangingPunct="0">
        <a:lnSpc>
          <a:spcPct val="100000"/>
        </a:lnSpc>
        <a:spcBef>
          <a:spcPts val="1000"/>
        </a:spcBef>
        <a:spcAft>
          <a:spcPct val="0"/>
        </a:spcAft>
        <a:buFont typeface="Arial" panose="020B0604020202020204" pitchFamily="34" charset="0"/>
        <a:defRPr sz="2400" kern="1200">
          <a:solidFill>
            <a:schemeClr val="bg1"/>
          </a:solidFill>
          <a:latin typeface="Arial" panose="020B0604020202020204" pitchFamily="34" charset="0"/>
          <a:ea typeface="+mn-ea"/>
          <a:cs typeface="Arial" panose="020B0604020202020204" pitchFamily="34" charset="0"/>
        </a:defRPr>
      </a:lvl1pPr>
      <a:lvl2pPr marL="457200" algn="l" rtl="0" eaLnBrk="0" fontAlgn="base" hangingPunct="0">
        <a:lnSpc>
          <a:spcPct val="100000"/>
        </a:lnSpc>
        <a:spcBef>
          <a:spcPts val="500"/>
        </a:spcBef>
        <a:spcAft>
          <a:spcPct val="0"/>
        </a:spcAft>
        <a:buFont typeface="Arial" panose="020B0604020202020204" pitchFamily="34" charset="0"/>
        <a:defRPr sz="2000" kern="1200">
          <a:solidFill>
            <a:schemeClr val="bg1"/>
          </a:solidFill>
          <a:latin typeface="Arial" panose="020B0604020202020204" pitchFamily="34" charset="0"/>
          <a:ea typeface="+mn-ea"/>
          <a:cs typeface="Arial" panose="020B0604020202020204" pitchFamily="34" charset="0"/>
        </a:defRPr>
      </a:lvl2pPr>
      <a:lvl3pPr marL="914400" algn="l" rtl="0" eaLnBrk="0" fontAlgn="base" hangingPunct="0">
        <a:lnSpc>
          <a:spcPct val="100000"/>
        </a:lnSpc>
        <a:spcBef>
          <a:spcPts val="500"/>
        </a:spcBef>
        <a:spcAft>
          <a:spcPct val="0"/>
        </a:spcAft>
        <a:buFont typeface="Arial" panose="020B0604020202020204" pitchFamily="34" charset="0"/>
        <a:defRPr kern="1200">
          <a:solidFill>
            <a:schemeClr val="bg1"/>
          </a:solidFill>
          <a:latin typeface="Arial" panose="020B0604020202020204" pitchFamily="34" charset="0"/>
          <a:ea typeface="+mn-ea"/>
          <a:cs typeface="Arial" panose="020B0604020202020204" pitchFamily="34" charset="0"/>
        </a:defRPr>
      </a:lvl3pPr>
      <a:lvl4pPr marL="1371600" algn="l" rtl="0" eaLnBrk="0" fontAlgn="base" hangingPunct="0">
        <a:lnSpc>
          <a:spcPct val="100000"/>
        </a:lnSpc>
        <a:spcBef>
          <a:spcPts val="500"/>
        </a:spcBef>
        <a:spcAft>
          <a:spcPct val="0"/>
        </a:spcAft>
        <a:buFont typeface="Arial" panose="020B0604020202020204" pitchFamily="34" charset="0"/>
        <a:defRPr sz="1600" kern="1200">
          <a:solidFill>
            <a:schemeClr val="bg1"/>
          </a:solidFill>
          <a:latin typeface="Arial" panose="020B0604020202020204" pitchFamily="34" charset="0"/>
          <a:ea typeface="+mn-ea"/>
          <a:cs typeface="Arial" panose="020B060402020202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85" Type="http://schemas.openxmlformats.org/officeDocument/2006/relationships/image" Target="../media/image23.png"/><Relationship Id="rId3" Type="http://schemas.openxmlformats.org/officeDocument/2006/relationships/image" Target="../media/image6.png"/><Relationship Id="rId63" Type="http://schemas.openxmlformats.org/officeDocument/2006/relationships/image" Target="../media/image10.svg"/><Relationship Id="rId84" Type="http://schemas.openxmlformats.org/officeDocument/2006/relationships/image" Target="../media/image287.sv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6" Type="http://schemas.openxmlformats.org/officeDocument/2006/relationships/image" Target="../media/image19.png"/><Relationship Id="rId62" Type="http://schemas.openxmlformats.org/officeDocument/2006/relationships/image" Target="../media/image20.png"/><Relationship Id="rId83" Type="http://schemas.openxmlformats.org/officeDocument/2006/relationships/image" Target="../media/image22.png"/><Relationship Id="rId88" Type="http://schemas.openxmlformats.org/officeDocument/2006/relationships/image" Target="../media/image536.svg"/><Relationship Id="rId1" Type="http://schemas.openxmlformats.org/officeDocument/2006/relationships/slideLayout" Target="../slideLayouts/slideLayout11.xml"/><Relationship Id="rId6" Type="http://schemas.openxmlformats.org/officeDocument/2006/relationships/image" Target="../media/image9.png"/><Relationship Id="rId11" Type="http://schemas.openxmlformats.org/officeDocument/2006/relationships/image" Target="../media/image14.png"/><Relationship Id="rId87" Type="http://schemas.openxmlformats.org/officeDocument/2006/relationships/image" Target="../media/image24.png"/><Relationship Id="rId5" Type="http://schemas.openxmlformats.org/officeDocument/2006/relationships/image" Target="../media/image8.png"/><Relationship Id="rId15" Type="http://schemas.openxmlformats.org/officeDocument/2006/relationships/image" Target="../media/image18.png"/><Relationship Id="rId61" Type="http://schemas.openxmlformats.org/officeDocument/2006/relationships/image" Target="../media/image1405.svg"/><Relationship Id="rId82" Type="http://schemas.openxmlformats.org/officeDocument/2006/relationships/image" Target="../media/image289.svg"/><Relationship Id="rId10" Type="http://schemas.openxmlformats.org/officeDocument/2006/relationships/image" Target="../media/image13.png"/><Relationship Id="rId86" Type="http://schemas.openxmlformats.org/officeDocument/2006/relationships/image" Target="../media/image534.sv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64" Type="http://schemas.openxmlformats.org/officeDocument/2006/relationships/image" Target="../media/image21.png"/></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4.xml"/><Relationship Id="rId5" Type="http://schemas.openxmlformats.org/officeDocument/2006/relationships/image" Target="../media/image27.png"/><Relationship Id="rId4" Type="http://schemas.openxmlformats.org/officeDocument/2006/relationships/image" Target="../media/image279.svg"/></Relationships>
</file>

<file path=ppt/slides/_rels/slide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79.svg"/><Relationship Id="rId2" Type="http://schemas.openxmlformats.org/officeDocument/2006/relationships/image" Target="../media/image26.png"/><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4.xml"/><Relationship Id="rId4" Type="http://schemas.openxmlformats.org/officeDocument/2006/relationships/image" Target="../media/image279.sv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85" Type="http://schemas.openxmlformats.org/officeDocument/2006/relationships/image" Target="../media/image23.png"/><Relationship Id="rId3" Type="http://schemas.openxmlformats.org/officeDocument/2006/relationships/image" Target="../media/image6.png"/><Relationship Id="rId63" Type="http://schemas.openxmlformats.org/officeDocument/2006/relationships/image" Target="../media/image10.svg"/><Relationship Id="rId84" Type="http://schemas.openxmlformats.org/officeDocument/2006/relationships/image" Target="../media/image287.sv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6" Type="http://schemas.openxmlformats.org/officeDocument/2006/relationships/image" Target="../media/image19.png"/><Relationship Id="rId62" Type="http://schemas.openxmlformats.org/officeDocument/2006/relationships/image" Target="../media/image20.png"/><Relationship Id="rId83" Type="http://schemas.openxmlformats.org/officeDocument/2006/relationships/image" Target="../media/image22.png"/><Relationship Id="rId88" Type="http://schemas.openxmlformats.org/officeDocument/2006/relationships/image" Target="../media/image536.svg"/><Relationship Id="rId1" Type="http://schemas.openxmlformats.org/officeDocument/2006/relationships/slideLayout" Target="../slideLayouts/slideLayout11.xml"/><Relationship Id="rId6" Type="http://schemas.openxmlformats.org/officeDocument/2006/relationships/image" Target="../media/image9.png"/><Relationship Id="rId11" Type="http://schemas.openxmlformats.org/officeDocument/2006/relationships/image" Target="../media/image14.png"/><Relationship Id="rId87" Type="http://schemas.openxmlformats.org/officeDocument/2006/relationships/image" Target="../media/image24.png"/><Relationship Id="rId5" Type="http://schemas.openxmlformats.org/officeDocument/2006/relationships/image" Target="../media/image8.png"/><Relationship Id="rId15" Type="http://schemas.openxmlformats.org/officeDocument/2006/relationships/image" Target="../media/image18.png"/><Relationship Id="rId61" Type="http://schemas.openxmlformats.org/officeDocument/2006/relationships/image" Target="../media/image1405.svg"/><Relationship Id="rId82" Type="http://schemas.openxmlformats.org/officeDocument/2006/relationships/image" Target="../media/image289.svg"/><Relationship Id="rId10" Type="http://schemas.openxmlformats.org/officeDocument/2006/relationships/image" Target="../media/image13.png"/><Relationship Id="rId86" Type="http://schemas.openxmlformats.org/officeDocument/2006/relationships/image" Target="../media/image534.sv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6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649966" y="1557623"/>
            <a:ext cx="8857470" cy="2431435"/>
          </a:xfrm>
          <a:prstGeom prst="rect">
            <a:avLst/>
          </a:prstGeom>
        </p:spPr>
        <p:txBody>
          <a:bodyPr wrap="square">
            <a:spAutoFit/>
          </a:bodyPr>
          <a:lstStyle/>
          <a:p>
            <a:pPr algn="ctr"/>
            <a:r>
              <a:rPr lang="en-US" sz="3000" b="1" dirty="0" smtClean="0">
                <a:solidFill>
                  <a:schemeClr val="bg1"/>
                </a:solidFill>
                <a:latin typeface="+mn-lt"/>
              </a:rPr>
              <a:t>Max </a:t>
            </a:r>
            <a:r>
              <a:rPr lang="en-US" sz="3000" b="1" dirty="0" err="1" smtClean="0">
                <a:solidFill>
                  <a:schemeClr val="bg1"/>
                </a:solidFill>
                <a:latin typeface="+mn-lt"/>
              </a:rPr>
              <a:t>Montaseri</a:t>
            </a:r>
            <a:endParaRPr lang="en-US" sz="3000" b="1" dirty="0" smtClean="0">
              <a:solidFill>
                <a:schemeClr val="bg1"/>
              </a:solidFill>
              <a:latin typeface="+mn-lt"/>
            </a:endParaRPr>
          </a:p>
          <a:p>
            <a:pPr algn="ctr"/>
            <a:endParaRPr lang="en-US" sz="3000" b="1" dirty="0" smtClean="0">
              <a:solidFill>
                <a:schemeClr val="bg1"/>
              </a:solidFill>
              <a:latin typeface="+mn-lt"/>
            </a:endParaRPr>
          </a:p>
          <a:p>
            <a:pPr algn="ctr"/>
            <a:r>
              <a:rPr lang="en-US" sz="3200" dirty="0" smtClean="0">
                <a:solidFill>
                  <a:schemeClr val="bg1"/>
                </a:solidFill>
              </a:rPr>
              <a:t> </a:t>
            </a:r>
            <a:r>
              <a:rPr lang="en-US" sz="3200" b="1" dirty="0" smtClean="0">
                <a:solidFill>
                  <a:schemeClr val="bg1"/>
                </a:solidFill>
              </a:rPr>
              <a:t>Back-End </a:t>
            </a:r>
            <a:r>
              <a:rPr lang="en-US" sz="3200" b="1" dirty="0" smtClean="0">
                <a:solidFill>
                  <a:schemeClr val="bg1"/>
                </a:solidFill>
              </a:rPr>
              <a:t>&amp; Front-End </a:t>
            </a:r>
            <a:r>
              <a:rPr lang="en-US" sz="3200" b="1" dirty="0">
                <a:solidFill>
                  <a:schemeClr val="bg1"/>
                </a:solidFill>
              </a:rPr>
              <a:t>Integration</a:t>
            </a:r>
            <a:r>
              <a:rPr lang="en-US" sz="3000" b="1" dirty="0" smtClean="0">
                <a:solidFill>
                  <a:schemeClr val="bg1"/>
                </a:solidFill>
                <a:latin typeface="+mn-lt"/>
              </a:rPr>
              <a:t> </a:t>
            </a:r>
          </a:p>
          <a:p>
            <a:pPr algn="ctr"/>
            <a:endParaRPr lang="en-US" sz="3000" b="1" dirty="0" smtClean="0">
              <a:solidFill>
                <a:schemeClr val="bg1"/>
              </a:solidFill>
              <a:latin typeface="+mn-lt"/>
            </a:endParaRPr>
          </a:p>
          <a:p>
            <a:pPr algn="ctr"/>
            <a:r>
              <a:rPr lang="en-US" sz="3000" b="1" dirty="0" smtClean="0">
                <a:solidFill>
                  <a:schemeClr val="bg1"/>
                </a:solidFill>
                <a:latin typeface="+mn-lt"/>
              </a:rPr>
              <a:t>AWS </a:t>
            </a:r>
            <a:r>
              <a:rPr lang="en-US" sz="3000" b="1" dirty="0" err="1" smtClean="0">
                <a:solidFill>
                  <a:schemeClr val="bg1"/>
                </a:solidFill>
                <a:latin typeface="+mn-lt"/>
              </a:rPr>
              <a:t>Serverless</a:t>
            </a:r>
            <a:r>
              <a:rPr lang="en-US" sz="3000" b="1" dirty="0" smtClean="0">
                <a:solidFill>
                  <a:schemeClr val="bg1"/>
                </a:solidFill>
                <a:latin typeface="+mn-lt"/>
              </a:rPr>
              <a:t> </a:t>
            </a:r>
            <a:r>
              <a:rPr lang="en-US" sz="3000" b="1" dirty="0" err="1" smtClean="0">
                <a:solidFill>
                  <a:schemeClr val="bg1"/>
                </a:solidFill>
                <a:latin typeface="+mn-lt"/>
              </a:rPr>
              <a:t>Microservices</a:t>
            </a:r>
            <a:endParaRPr lang="en-US" sz="3000" b="0" i="0" dirty="0">
              <a:solidFill>
                <a:schemeClr val="bg1"/>
              </a:solidFill>
              <a:effectLst/>
              <a:latin typeface="+mn-lt"/>
            </a:endParaRPr>
          </a:p>
        </p:txBody>
      </p:sp>
    </p:spTree>
    <p:extLst>
      <p:ext uri="{BB962C8B-B14F-4D97-AF65-F5344CB8AC3E}">
        <p14:creationId xmlns:p14="http://schemas.microsoft.com/office/powerpoint/2010/main" val="29894843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073043" y="401811"/>
            <a:ext cx="2317108" cy="5002542"/>
          </a:xfrm>
          <a:prstGeom prst="roundRect">
            <a:avLst>
              <a:gd name="adj" fmla="val 2890"/>
            </a:avLst>
          </a:prstGeom>
          <a:solidFill>
            <a:srgbClr val="071D34"/>
          </a:solidFill>
          <a:ln w="7937" cap="rnd">
            <a:solidFill>
              <a:srgbClr val="168CF0"/>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Rounded Rectangle 2"/>
          <p:cNvSpPr/>
          <p:nvPr/>
        </p:nvSpPr>
        <p:spPr>
          <a:xfrm>
            <a:off x="3443726" y="401811"/>
            <a:ext cx="2966702" cy="5002542"/>
          </a:xfrm>
          <a:prstGeom prst="roundRect">
            <a:avLst>
              <a:gd name="adj" fmla="val 2257"/>
            </a:avLst>
          </a:prstGeom>
          <a:solidFill>
            <a:srgbClr val="0E1C31"/>
          </a:solidFill>
          <a:ln w="7937" cap="rnd">
            <a:solidFill>
              <a:srgbClr val="8F52F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Rounded Rectangle 3"/>
          <p:cNvSpPr/>
          <p:nvPr/>
        </p:nvSpPr>
        <p:spPr>
          <a:xfrm>
            <a:off x="6484093" y="401811"/>
            <a:ext cx="4640913" cy="5002542"/>
          </a:xfrm>
          <a:prstGeom prst="roundRect">
            <a:avLst>
              <a:gd name="adj" fmla="val 1443"/>
            </a:avLst>
          </a:prstGeom>
          <a:solidFill>
            <a:srgbClr val="072D29"/>
          </a:solidFill>
          <a:ln w="7937" cap="rnd">
            <a:solidFill>
              <a:srgbClr val="19A96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Round Same Side Corner Rectangle 4"/>
          <p:cNvSpPr/>
          <p:nvPr/>
        </p:nvSpPr>
        <p:spPr>
          <a:xfrm>
            <a:off x="1079740" y="401811"/>
            <a:ext cx="2303714" cy="495566"/>
          </a:xfrm>
          <a:prstGeom prst="round2SameRect">
            <a:avLst>
              <a:gd name="adj1" fmla="val 13513"/>
              <a:gd name="adj2" fmla="val 0"/>
            </a:avLst>
          </a:prstGeom>
          <a:solidFill>
            <a:srgbClr val="102F50">
              <a:alpha val="72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Round Same Side Corner Rectangle 5"/>
          <p:cNvSpPr/>
          <p:nvPr/>
        </p:nvSpPr>
        <p:spPr>
          <a:xfrm>
            <a:off x="3450423" y="401811"/>
            <a:ext cx="2953308" cy="495566"/>
          </a:xfrm>
          <a:prstGeom prst="round2SameRect">
            <a:avLst>
              <a:gd name="adj1" fmla="val 13513"/>
              <a:gd name="adj2" fmla="val 0"/>
            </a:avLst>
          </a:prstGeom>
          <a:solidFill>
            <a:srgbClr val="32205C">
              <a:alpha val="76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Round Same Side Corner Rectangle 6"/>
          <p:cNvSpPr/>
          <p:nvPr/>
        </p:nvSpPr>
        <p:spPr>
          <a:xfrm>
            <a:off x="6490790" y="401811"/>
            <a:ext cx="4627519" cy="495566"/>
          </a:xfrm>
          <a:prstGeom prst="round2SameRect">
            <a:avLst>
              <a:gd name="adj1" fmla="val 13513"/>
              <a:gd name="adj2" fmla="val 0"/>
            </a:avLst>
          </a:prstGeom>
          <a:solidFill>
            <a:srgbClr val="11372A">
              <a:alpha val="72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 name="Connector 7"/>
          <p:cNvCxnSpPr/>
          <p:nvPr/>
        </p:nvCxnSpPr>
        <p:spPr>
          <a:xfrm>
            <a:off x="1059649" y="897377"/>
            <a:ext cx="3013580" cy="0"/>
          </a:xfrm>
          <a:prstGeom prst="line">
            <a:avLst/>
          </a:prstGeom>
          <a:ln w="7937" cap="rnd">
            <a:solidFill>
              <a:srgbClr val="2D5A83"/>
            </a:solidFill>
            <a:round/>
          </a:ln>
          <a:effectLst/>
        </p:spPr>
        <p:style>
          <a:lnRef idx="2">
            <a:schemeClr val="accent1"/>
          </a:lnRef>
          <a:fillRef idx="0">
            <a:schemeClr val="accent1"/>
          </a:fillRef>
          <a:effectRef idx="0">
            <a:schemeClr val="accent1"/>
          </a:effectRef>
          <a:fontRef idx="minor">
            <a:schemeClr val="tx1"/>
          </a:fontRef>
        </p:style>
      </p:cxnSp>
      <p:cxnSp>
        <p:nvCxnSpPr>
          <p:cNvPr id="9" name="Connector 8"/>
          <p:cNvCxnSpPr/>
          <p:nvPr/>
        </p:nvCxnSpPr>
        <p:spPr>
          <a:xfrm>
            <a:off x="2566440" y="897377"/>
            <a:ext cx="4721275" cy="0"/>
          </a:xfrm>
          <a:prstGeom prst="line">
            <a:avLst/>
          </a:prstGeom>
          <a:ln w="7937" cap="rnd">
            <a:solidFill>
              <a:srgbClr val="604B9A"/>
            </a:solidFill>
            <a:round/>
          </a:ln>
          <a:effectLst/>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a:off x="5104543" y="897377"/>
            <a:ext cx="6027159" cy="0"/>
          </a:xfrm>
          <a:prstGeom prst="line">
            <a:avLst/>
          </a:prstGeom>
          <a:ln w="7937" cap="rnd">
            <a:solidFill>
              <a:srgbClr val="2B7558"/>
            </a:solidFill>
            <a:round/>
          </a:ln>
          <a:effectLst/>
        </p:spPr>
        <p:style>
          <a:lnRef idx="2">
            <a:schemeClr val="accent1"/>
          </a:lnRef>
          <a:fillRef idx="0">
            <a:schemeClr val="accent1"/>
          </a:fillRef>
          <a:effectRef idx="0">
            <a:schemeClr val="accent1"/>
          </a:effectRef>
          <a:fontRef idx="minor">
            <a:schemeClr val="tx1"/>
          </a:fontRef>
        </p:style>
      </p:cxnSp>
      <p:sp>
        <p:nvSpPr>
          <p:cNvPr id="11" name="Rounded Rectangle 10"/>
          <p:cNvSpPr/>
          <p:nvPr/>
        </p:nvSpPr>
        <p:spPr>
          <a:xfrm>
            <a:off x="1073044" y="5484715"/>
            <a:ext cx="7627705" cy="1138463"/>
          </a:xfrm>
          <a:prstGeom prst="roundRect">
            <a:avLst>
              <a:gd name="adj" fmla="val 5294"/>
            </a:avLst>
          </a:prstGeom>
          <a:solidFill>
            <a:srgbClr val="1C2026"/>
          </a:solidFill>
          <a:ln w="7937" cap="rnd">
            <a:solidFill>
              <a:srgbClr val="E89518"/>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Rounded Rectangle 11"/>
          <p:cNvSpPr/>
          <p:nvPr/>
        </p:nvSpPr>
        <p:spPr>
          <a:xfrm>
            <a:off x="8767717" y="5484715"/>
            <a:ext cx="2357289" cy="1138463"/>
          </a:xfrm>
          <a:prstGeom prst="roundRect">
            <a:avLst>
              <a:gd name="adj" fmla="val 5294"/>
            </a:avLst>
          </a:prstGeom>
          <a:solidFill>
            <a:srgbClr val="0B2036"/>
          </a:solidFill>
          <a:ln w="7937" cap="rnd">
            <a:solidFill>
              <a:srgbClr val="5084BB"/>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2320264" y="-5378"/>
            <a:ext cx="7550825" cy="288349"/>
          </a:xfrm>
          <a:prstGeom prst="rect">
            <a:avLst/>
          </a:prstGeom>
          <a:noFill/>
        </p:spPr>
        <p:txBody>
          <a:bodyPr wrap="square" lIns="0" tIns="0" rIns="0" bIns="0" anchor="t">
            <a:spAutoFit/>
          </a:bodyPr>
          <a:lstStyle/>
          <a:p>
            <a:pPr algn="ctr">
              <a:lnSpc>
                <a:spcPct val="115000"/>
              </a:lnSpc>
            </a:pPr>
            <a:r>
              <a:rPr sz="1629" b="1">
                <a:solidFill>
                  <a:srgbClr val="F8F8FC"/>
                </a:solidFill>
                <a:latin typeface="Arial"/>
              </a:rPr>
              <a:t>AWS Serverless Microservices: AppSync GraphQL + DynamoDB Streams</a:t>
            </a:r>
          </a:p>
        </p:txBody>
      </p:sp>
      <p:sp>
        <p:nvSpPr>
          <p:cNvPr id="14" name="TextBox 13"/>
          <p:cNvSpPr txBox="1"/>
          <p:nvPr/>
        </p:nvSpPr>
        <p:spPr>
          <a:xfrm>
            <a:off x="1166799" y="416433"/>
            <a:ext cx="475476" cy="228781"/>
          </a:xfrm>
          <a:prstGeom prst="rect">
            <a:avLst/>
          </a:prstGeom>
          <a:noFill/>
        </p:spPr>
        <p:txBody>
          <a:bodyPr wrap="square" lIns="0" tIns="0" rIns="0" bIns="0" anchor="t">
            <a:spAutoFit/>
          </a:bodyPr>
          <a:lstStyle/>
          <a:p>
            <a:pPr algn="l">
              <a:lnSpc>
                <a:spcPct val="115000"/>
              </a:lnSpc>
            </a:pPr>
            <a:r>
              <a:rPr sz="1293" b="1">
                <a:solidFill>
                  <a:srgbClr val="D5EAFF"/>
                </a:solidFill>
                <a:latin typeface="Arial"/>
              </a:rPr>
              <a:t>Client</a:t>
            </a:r>
          </a:p>
        </p:txBody>
      </p:sp>
      <p:sp>
        <p:nvSpPr>
          <p:cNvPr id="15" name="TextBox 14"/>
          <p:cNvSpPr txBox="1"/>
          <p:nvPr/>
        </p:nvSpPr>
        <p:spPr>
          <a:xfrm>
            <a:off x="1180193" y="632169"/>
            <a:ext cx="1446518" cy="149400"/>
          </a:xfrm>
          <a:prstGeom prst="rect">
            <a:avLst/>
          </a:prstGeom>
          <a:noFill/>
        </p:spPr>
        <p:txBody>
          <a:bodyPr wrap="square" lIns="0" tIns="0" rIns="0" bIns="0" anchor="t">
            <a:spAutoFit/>
          </a:bodyPr>
          <a:lstStyle/>
          <a:p>
            <a:pPr algn="l">
              <a:lnSpc>
                <a:spcPct val="115000"/>
              </a:lnSpc>
            </a:pPr>
            <a:r>
              <a:rPr sz="844" b="1" dirty="0">
                <a:solidFill>
                  <a:srgbClr val="B6DCFC"/>
                </a:solidFill>
                <a:latin typeface="Arial"/>
              </a:rPr>
              <a:t>Web and External Clients</a:t>
            </a:r>
          </a:p>
        </p:txBody>
      </p:sp>
      <p:sp>
        <p:nvSpPr>
          <p:cNvPr id="16" name="TextBox 15"/>
          <p:cNvSpPr txBox="1"/>
          <p:nvPr/>
        </p:nvSpPr>
        <p:spPr>
          <a:xfrm>
            <a:off x="3577663" y="412712"/>
            <a:ext cx="1547774" cy="223844"/>
          </a:xfrm>
          <a:prstGeom prst="rect">
            <a:avLst/>
          </a:prstGeom>
          <a:noFill/>
        </p:spPr>
        <p:txBody>
          <a:bodyPr wrap="square" lIns="0" tIns="0" rIns="0" bIns="0" anchor="t">
            <a:spAutoFit/>
          </a:bodyPr>
          <a:lstStyle/>
          <a:p>
            <a:pPr algn="l">
              <a:lnSpc>
                <a:spcPct val="115000"/>
              </a:lnSpc>
            </a:pPr>
            <a:r>
              <a:rPr sz="1265" b="1">
                <a:solidFill>
                  <a:srgbClr val="F1EDFF"/>
                </a:solidFill>
                <a:latin typeface="Arial"/>
              </a:rPr>
              <a:t>GraphQL/API Layer</a:t>
            </a:r>
          </a:p>
        </p:txBody>
      </p:sp>
      <p:sp>
        <p:nvSpPr>
          <p:cNvPr id="17" name="TextBox 16"/>
          <p:cNvSpPr txBox="1"/>
          <p:nvPr/>
        </p:nvSpPr>
        <p:spPr>
          <a:xfrm>
            <a:off x="3597753" y="633856"/>
            <a:ext cx="2827943" cy="149400"/>
          </a:xfrm>
          <a:prstGeom prst="rect">
            <a:avLst/>
          </a:prstGeom>
          <a:noFill/>
        </p:spPr>
        <p:txBody>
          <a:bodyPr wrap="square" lIns="0" tIns="0" rIns="0" bIns="0" anchor="t">
            <a:spAutoFit/>
          </a:bodyPr>
          <a:lstStyle/>
          <a:p>
            <a:pPr algn="l">
              <a:lnSpc>
                <a:spcPct val="115000"/>
              </a:lnSpc>
            </a:pPr>
            <a:r>
              <a:rPr sz="844" b="1" dirty="0">
                <a:solidFill>
                  <a:srgbClr val="FAF8FC"/>
                </a:solidFill>
                <a:latin typeface="Arial"/>
              </a:rPr>
              <a:t>AWS </a:t>
            </a:r>
            <a:r>
              <a:rPr sz="844" b="1" dirty="0" err="1">
                <a:solidFill>
                  <a:srgbClr val="FAF8FC"/>
                </a:solidFill>
                <a:latin typeface="Arial"/>
              </a:rPr>
              <a:t>AppSync</a:t>
            </a:r>
            <a:r>
              <a:rPr sz="844" b="1" dirty="0">
                <a:solidFill>
                  <a:srgbClr val="FAF8FC"/>
                </a:solidFill>
                <a:latin typeface="Arial"/>
              </a:rPr>
              <a:t> with </a:t>
            </a:r>
            <a:r>
              <a:rPr sz="844" b="1" dirty="0" err="1">
                <a:solidFill>
                  <a:srgbClr val="FAF8FC"/>
                </a:solidFill>
                <a:latin typeface="Arial"/>
              </a:rPr>
              <a:t>GraphQL</a:t>
            </a:r>
            <a:r>
              <a:rPr sz="844" b="1" dirty="0">
                <a:solidFill>
                  <a:srgbClr val="FAF8FC"/>
                </a:solidFill>
                <a:latin typeface="Arial"/>
              </a:rPr>
              <a:t> and optional REST API</a:t>
            </a:r>
          </a:p>
        </p:txBody>
      </p:sp>
      <p:sp>
        <p:nvSpPr>
          <p:cNvPr id="18" name="TextBox 17"/>
          <p:cNvSpPr txBox="1"/>
          <p:nvPr/>
        </p:nvSpPr>
        <p:spPr>
          <a:xfrm>
            <a:off x="7341289" y="415918"/>
            <a:ext cx="2900269" cy="233590"/>
          </a:xfrm>
          <a:prstGeom prst="rect">
            <a:avLst/>
          </a:prstGeom>
          <a:noFill/>
        </p:spPr>
        <p:txBody>
          <a:bodyPr wrap="square" lIns="0" tIns="0" rIns="0" bIns="0" anchor="t">
            <a:spAutoFit/>
          </a:bodyPr>
          <a:lstStyle/>
          <a:p>
            <a:pPr algn="l">
              <a:lnSpc>
                <a:spcPct val="115000"/>
              </a:lnSpc>
            </a:pPr>
            <a:r>
              <a:rPr sz="1320" b="1">
                <a:solidFill>
                  <a:srgbClr val="EFFFF4"/>
                </a:solidFill>
                <a:latin typeface="Arial"/>
              </a:rPr>
              <a:t>Data &amp; Event-Driven Microservices</a:t>
            </a:r>
          </a:p>
        </p:txBody>
      </p:sp>
      <p:sp>
        <p:nvSpPr>
          <p:cNvPr id="19" name="TextBox 18"/>
          <p:cNvSpPr txBox="1"/>
          <p:nvPr/>
        </p:nvSpPr>
        <p:spPr>
          <a:xfrm>
            <a:off x="6651514" y="634445"/>
            <a:ext cx="4086414" cy="149400"/>
          </a:xfrm>
          <a:prstGeom prst="rect">
            <a:avLst/>
          </a:prstGeom>
          <a:noFill/>
        </p:spPr>
        <p:txBody>
          <a:bodyPr wrap="square" lIns="0" tIns="0" rIns="0" bIns="0" anchor="t">
            <a:spAutoFit/>
          </a:bodyPr>
          <a:lstStyle/>
          <a:p>
            <a:pPr algn="ctr">
              <a:lnSpc>
                <a:spcPct val="115000"/>
              </a:lnSpc>
            </a:pPr>
            <a:r>
              <a:rPr sz="844" b="1" dirty="0" err="1">
                <a:solidFill>
                  <a:srgbClr val="CEFAE4"/>
                </a:solidFill>
                <a:latin typeface="Arial"/>
              </a:rPr>
              <a:t>DynamoDB</a:t>
            </a:r>
            <a:r>
              <a:rPr sz="844" b="1" dirty="0">
                <a:solidFill>
                  <a:srgbClr val="CEFAE4"/>
                </a:solidFill>
                <a:latin typeface="Arial"/>
              </a:rPr>
              <a:t>, Streams, Event Processing and Asynchronous </a:t>
            </a:r>
            <a:r>
              <a:rPr sz="844" b="1" dirty="0" err="1">
                <a:solidFill>
                  <a:srgbClr val="CEFAE4"/>
                </a:solidFill>
                <a:latin typeface="Arial"/>
              </a:rPr>
              <a:t>Microservices</a:t>
            </a:r>
            <a:endParaRPr sz="844" b="1" dirty="0">
              <a:solidFill>
                <a:srgbClr val="CEFAE4"/>
              </a:solidFill>
              <a:latin typeface="Arial"/>
            </a:endParaRPr>
          </a:p>
        </p:txBody>
      </p:sp>
      <p:sp>
        <p:nvSpPr>
          <p:cNvPr id="21" name="TextBox 20"/>
          <p:cNvSpPr txBox="1"/>
          <p:nvPr/>
        </p:nvSpPr>
        <p:spPr>
          <a:xfrm>
            <a:off x="1218327" y="1563749"/>
            <a:ext cx="706287" cy="205184"/>
          </a:xfrm>
          <a:prstGeom prst="rect">
            <a:avLst/>
          </a:prstGeom>
          <a:noFill/>
        </p:spPr>
        <p:txBody>
          <a:bodyPr wrap="square" lIns="0" tIns="0" rIns="0" bIns="0" anchor="t">
            <a:spAutoFit/>
          </a:bodyPr>
          <a:lstStyle/>
          <a:p>
            <a:pPr algn="ctr">
              <a:lnSpc>
                <a:spcPts val="784"/>
              </a:lnSpc>
            </a:pPr>
            <a:r>
              <a:rPr sz="759" b="1" dirty="0">
                <a:solidFill>
                  <a:srgbClr val="F5F7FF"/>
                </a:solidFill>
                <a:latin typeface="Arial"/>
              </a:rPr>
              <a:t>End Users</a:t>
            </a:r>
          </a:p>
          <a:p>
            <a:pPr algn="ctr">
              <a:lnSpc>
                <a:spcPts val="784"/>
              </a:lnSpc>
            </a:pPr>
            <a:r>
              <a:rPr sz="759" dirty="0">
                <a:solidFill>
                  <a:srgbClr val="D8E4F2"/>
                </a:solidFill>
                <a:latin typeface="Arial"/>
              </a:rPr>
              <a:t>(Web / Mobile)</a:t>
            </a:r>
          </a:p>
        </p:txBody>
      </p:sp>
      <p:cxnSp>
        <p:nvCxnSpPr>
          <p:cNvPr id="22" name="Connector 21"/>
          <p:cNvCxnSpPr/>
          <p:nvPr/>
        </p:nvCxnSpPr>
        <p:spPr>
          <a:xfrm>
            <a:off x="1615488" y="1767967"/>
            <a:ext cx="0" cy="328145"/>
          </a:xfrm>
          <a:prstGeom prst="line">
            <a:avLst/>
          </a:prstGeom>
          <a:ln w="7937" cap="rnd">
            <a:solidFill>
              <a:srgbClr val="A8D2FF"/>
            </a:solidFill>
            <a:round/>
            <a:headEnd type="triangle" w="med" len="med"/>
            <a:tailEnd type="triangle" w="med" len="med"/>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1186889" y="2116203"/>
            <a:ext cx="1084889" cy="1379550"/>
          </a:xfrm>
          <a:prstGeom prst="roundRect">
            <a:avLst>
              <a:gd name="adj" fmla="val 4938"/>
            </a:avLst>
          </a:prstGeom>
          <a:solidFill>
            <a:srgbClr val="102944"/>
          </a:solidFill>
          <a:ln w="7937" cap="rnd">
            <a:solidFill>
              <a:srgbClr val="75B8F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logo react"/>
          <p:cNvSpPr/>
          <p:nvPr/>
        </p:nvSpPr>
        <p:spPr>
          <a:xfrm>
            <a:off x="1485569" y="2220674"/>
            <a:ext cx="427259" cy="427259"/>
          </a:xfrm>
          <a:custGeom>
            <a:avLst/>
            <a:gdLst/>
            <a:ahLst/>
            <a:cxnLst/>
            <a:rect l="0" t="0" r="0" b="0"/>
            <a:pathLst>
              <a:path w="100000" h="100000">
                <a:moveTo>
                  <a:pt x="59292" y="50017"/>
                </a:moveTo>
                <a:cubicBezTo>
                  <a:pt x="59292" y="51651"/>
                  <a:pt x="58861" y="53258"/>
                  <a:pt x="58044" y="54674"/>
                </a:cubicBezTo>
                <a:cubicBezTo>
                  <a:pt x="57227" y="56090"/>
                  <a:pt x="56051" y="57266"/>
                  <a:pt x="54636" y="58084"/>
                </a:cubicBezTo>
                <a:cubicBezTo>
                  <a:pt x="53220" y="58902"/>
                  <a:pt x="51614" y="59333"/>
                  <a:pt x="49979" y="59333"/>
                </a:cubicBezTo>
                <a:cubicBezTo>
                  <a:pt x="48756" y="59333"/>
                  <a:pt x="47544" y="59092"/>
                  <a:pt x="46414" y="58624"/>
                </a:cubicBezTo>
                <a:cubicBezTo>
                  <a:pt x="45284" y="58156"/>
                  <a:pt x="44256" y="57470"/>
                  <a:pt x="43391" y="56605"/>
                </a:cubicBezTo>
                <a:cubicBezTo>
                  <a:pt x="42526" y="55739"/>
                  <a:pt x="41840" y="54712"/>
                  <a:pt x="41372" y="53582"/>
                </a:cubicBezTo>
                <a:cubicBezTo>
                  <a:pt x="40903" y="52452"/>
                  <a:pt x="40663" y="51240"/>
                  <a:pt x="40663" y="50017"/>
                </a:cubicBezTo>
                <a:cubicBezTo>
                  <a:pt x="40662" y="48382"/>
                  <a:pt x="41093" y="46775"/>
                  <a:pt x="41910" y="45360"/>
                </a:cubicBezTo>
                <a:cubicBezTo>
                  <a:pt x="42727" y="43944"/>
                  <a:pt x="43903" y="42767"/>
                  <a:pt x="45318" y="41950"/>
                </a:cubicBezTo>
                <a:cubicBezTo>
                  <a:pt x="46734" y="41132"/>
                  <a:pt x="48340" y="40701"/>
                  <a:pt x="49975" y="40700"/>
                </a:cubicBezTo>
                <a:cubicBezTo>
                  <a:pt x="51198" y="40700"/>
                  <a:pt x="52410" y="40941"/>
                  <a:pt x="53540" y="41409"/>
                </a:cubicBezTo>
                <a:cubicBezTo>
                  <a:pt x="54671" y="41877"/>
                  <a:pt x="55698" y="42564"/>
                  <a:pt x="56563" y="43429"/>
                </a:cubicBezTo>
                <a:cubicBezTo>
                  <a:pt x="57428" y="44294"/>
                  <a:pt x="58114" y="45321"/>
                  <a:pt x="58582" y="46451"/>
                </a:cubicBezTo>
                <a:cubicBezTo>
                  <a:pt x="59051" y="47582"/>
                  <a:pt x="59292" y="48793"/>
                  <a:pt x="59292" y="50017"/>
                </a:cubicBezTo>
                <a:close/>
                <a:moveTo>
                  <a:pt x="70325" y="5475"/>
                </a:moveTo>
                <a:cubicBezTo>
                  <a:pt x="64717" y="5475"/>
                  <a:pt x="57379" y="9475"/>
                  <a:pt x="49958" y="16400"/>
                </a:cubicBezTo>
                <a:cubicBezTo>
                  <a:pt x="42542" y="9512"/>
                  <a:pt x="35200" y="5558"/>
                  <a:pt x="29596" y="5558"/>
                </a:cubicBezTo>
                <a:cubicBezTo>
                  <a:pt x="27888" y="5558"/>
                  <a:pt x="26333" y="5946"/>
                  <a:pt x="24988" y="6717"/>
                </a:cubicBezTo>
                <a:cubicBezTo>
                  <a:pt x="19258" y="10021"/>
                  <a:pt x="17975" y="20317"/>
                  <a:pt x="20933" y="33238"/>
                </a:cubicBezTo>
                <a:cubicBezTo>
                  <a:pt x="8250" y="37154"/>
                  <a:pt x="0" y="43417"/>
                  <a:pt x="0" y="50017"/>
                </a:cubicBezTo>
                <a:cubicBezTo>
                  <a:pt x="0" y="56642"/>
                  <a:pt x="8292" y="62921"/>
                  <a:pt x="21013" y="66808"/>
                </a:cubicBezTo>
                <a:cubicBezTo>
                  <a:pt x="18079" y="79779"/>
                  <a:pt x="19388" y="90092"/>
                  <a:pt x="25129" y="93392"/>
                </a:cubicBezTo>
                <a:cubicBezTo>
                  <a:pt x="26463" y="94171"/>
                  <a:pt x="28004" y="94537"/>
                  <a:pt x="29721" y="94537"/>
                </a:cubicBezTo>
                <a:cubicBezTo>
                  <a:pt x="35325" y="94537"/>
                  <a:pt x="42667" y="90537"/>
                  <a:pt x="50088" y="83604"/>
                </a:cubicBezTo>
                <a:cubicBezTo>
                  <a:pt x="57504" y="90496"/>
                  <a:pt x="64846" y="94450"/>
                  <a:pt x="70450" y="94450"/>
                </a:cubicBezTo>
                <a:cubicBezTo>
                  <a:pt x="72158" y="94450"/>
                  <a:pt x="73713" y="94075"/>
                  <a:pt x="75058" y="93304"/>
                </a:cubicBezTo>
                <a:cubicBezTo>
                  <a:pt x="80783" y="90004"/>
                  <a:pt x="82071" y="79708"/>
                  <a:pt x="79113" y="66783"/>
                </a:cubicBezTo>
                <a:cubicBezTo>
                  <a:pt x="91750" y="62900"/>
                  <a:pt x="100000" y="56625"/>
                  <a:pt x="100000" y="50017"/>
                </a:cubicBezTo>
                <a:cubicBezTo>
                  <a:pt x="100000" y="43392"/>
                  <a:pt x="91708" y="37112"/>
                  <a:pt x="78988" y="33217"/>
                </a:cubicBezTo>
                <a:cubicBezTo>
                  <a:pt x="81921" y="20258"/>
                  <a:pt x="80613" y="9938"/>
                  <a:pt x="74871" y="6633"/>
                </a:cubicBezTo>
                <a:cubicBezTo>
                  <a:pt x="73546" y="5867"/>
                  <a:pt x="72004" y="5479"/>
                  <a:pt x="70321" y="5475"/>
                </a:cubicBezTo>
                <a:close/>
                <a:moveTo>
                  <a:pt x="70304" y="10017"/>
                </a:moveTo>
                <a:lnTo>
                  <a:pt x="70304" y="10042"/>
                </a:lnTo>
                <a:cubicBezTo>
                  <a:pt x="71242" y="10042"/>
                  <a:pt x="71996" y="10225"/>
                  <a:pt x="72629" y="10571"/>
                </a:cubicBezTo>
                <a:cubicBezTo>
                  <a:pt x="75404" y="12163"/>
                  <a:pt x="76608" y="18217"/>
                  <a:pt x="75671" y="26004"/>
                </a:cubicBezTo>
                <a:cubicBezTo>
                  <a:pt x="75446" y="27921"/>
                  <a:pt x="75079" y="29942"/>
                  <a:pt x="74629" y="32004"/>
                </a:cubicBezTo>
                <a:cubicBezTo>
                  <a:pt x="70629" y="31021"/>
                  <a:pt x="66271" y="30267"/>
                  <a:pt x="61683" y="29779"/>
                </a:cubicBezTo>
                <a:cubicBezTo>
                  <a:pt x="58933" y="26008"/>
                  <a:pt x="56079" y="22583"/>
                  <a:pt x="53204" y="19583"/>
                </a:cubicBezTo>
                <a:cubicBezTo>
                  <a:pt x="59838" y="13417"/>
                  <a:pt x="66067" y="10033"/>
                  <a:pt x="70308" y="10021"/>
                </a:cubicBezTo>
                <a:close/>
                <a:moveTo>
                  <a:pt x="29596" y="10100"/>
                </a:moveTo>
                <a:cubicBezTo>
                  <a:pt x="33813" y="10100"/>
                  <a:pt x="40071" y="13467"/>
                  <a:pt x="46721" y="19600"/>
                </a:cubicBezTo>
                <a:cubicBezTo>
                  <a:pt x="43863" y="22600"/>
                  <a:pt x="41012" y="26004"/>
                  <a:pt x="38304" y="29775"/>
                </a:cubicBezTo>
                <a:cubicBezTo>
                  <a:pt x="33692" y="30262"/>
                  <a:pt x="29329" y="31017"/>
                  <a:pt x="25333" y="32017"/>
                </a:cubicBezTo>
                <a:cubicBezTo>
                  <a:pt x="24867" y="29975"/>
                  <a:pt x="24521" y="28000"/>
                  <a:pt x="24275" y="26100"/>
                </a:cubicBezTo>
                <a:cubicBezTo>
                  <a:pt x="23317" y="18317"/>
                  <a:pt x="24500" y="12267"/>
                  <a:pt x="27250" y="10654"/>
                </a:cubicBezTo>
                <a:cubicBezTo>
                  <a:pt x="28042" y="10279"/>
                  <a:pt x="28917" y="10125"/>
                  <a:pt x="29596" y="10104"/>
                </a:cubicBezTo>
                <a:close/>
                <a:moveTo>
                  <a:pt x="49938" y="22808"/>
                </a:moveTo>
                <a:cubicBezTo>
                  <a:pt x="51833" y="24758"/>
                  <a:pt x="53729" y="26942"/>
                  <a:pt x="55604" y="29325"/>
                </a:cubicBezTo>
                <a:cubicBezTo>
                  <a:pt x="53771" y="29242"/>
                  <a:pt x="51896" y="29183"/>
                  <a:pt x="50000" y="29183"/>
                </a:cubicBezTo>
                <a:cubicBezTo>
                  <a:pt x="48083" y="29183"/>
                  <a:pt x="46188" y="29225"/>
                  <a:pt x="44333" y="29325"/>
                </a:cubicBezTo>
                <a:cubicBezTo>
                  <a:pt x="46167" y="26942"/>
                  <a:pt x="48063" y="24758"/>
                  <a:pt x="49938" y="22804"/>
                </a:cubicBezTo>
                <a:close/>
                <a:moveTo>
                  <a:pt x="50000" y="33750"/>
                </a:moveTo>
                <a:cubicBezTo>
                  <a:pt x="53083" y="33750"/>
                  <a:pt x="56154" y="33892"/>
                  <a:pt x="59175" y="34138"/>
                </a:cubicBezTo>
                <a:cubicBezTo>
                  <a:pt x="60867" y="36563"/>
                  <a:pt x="62517" y="39150"/>
                  <a:pt x="64104" y="41888"/>
                </a:cubicBezTo>
                <a:cubicBezTo>
                  <a:pt x="65654" y="44554"/>
                  <a:pt x="67062" y="47262"/>
                  <a:pt x="68346" y="49996"/>
                </a:cubicBezTo>
                <a:cubicBezTo>
                  <a:pt x="67062" y="52725"/>
                  <a:pt x="65654" y="55454"/>
                  <a:pt x="64125" y="58121"/>
                </a:cubicBezTo>
                <a:cubicBezTo>
                  <a:pt x="62542" y="60871"/>
                  <a:pt x="60904" y="63488"/>
                  <a:pt x="59208" y="65912"/>
                </a:cubicBezTo>
                <a:cubicBezTo>
                  <a:pt x="56175" y="66175"/>
                  <a:pt x="53100" y="66321"/>
                  <a:pt x="50000" y="66321"/>
                </a:cubicBezTo>
                <a:cubicBezTo>
                  <a:pt x="46917" y="66321"/>
                  <a:pt x="43846" y="66175"/>
                  <a:pt x="40825" y="65933"/>
                </a:cubicBezTo>
                <a:cubicBezTo>
                  <a:pt x="39133" y="63508"/>
                  <a:pt x="37483" y="60917"/>
                  <a:pt x="35896" y="58183"/>
                </a:cubicBezTo>
                <a:cubicBezTo>
                  <a:pt x="34346" y="55517"/>
                  <a:pt x="32938" y="52808"/>
                  <a:pt x="31654" y="50075"/>
                </a:cubicBezTo>
                <a:cubicBezTo>
                  <a:pt x="32917" y="47338"/>
                  <a:pt x="34346" y="44604"/>
                  <a:pt x="35875" y="41933"/>
                </a:cubicBezTo>
                <a:cubicBezTo>
                  <a:pt x="37458" y="39183"/>
                  <a:pt x="39096" y="36575"/>
                  <a:pt x="40792" y="34150"/>
                </a:cubicBezTo>
                <a:cubicBezTo>
                  <a:pt x="43825" y="33883"/>
                  <a:pt x="46900" y="33742"/>
                  <a:pt x="50000" y="33742"/>
                </a:cubicBezTo>
                <a:close/>
                <a:moveTo>
                  <a:pt x="34854" y="34808"/>
                </a:moveTo>
                <a:cubicBezTo>
                  <a:pt x="33854" y="36379"/>
                  <a:pt x="32854" y="37988"/>
                  <a:pt x="31921" y="39642"/>
                </a:cubicBezTo>
                <a:cubicBezTo>
                  <a:pt x="30983" y="41267"/>
                  <a:pt x="30108" y="42900"/>
                  <a:pt x="29275" y="44533"/>
                </a:cubicBezTo>
                <a:cubicBezTo>
                  <a:pt x="28171" y="41800"/>
                  <a:pt x="27233" y="39075"/>
                  <a:pt x="26458" y="36421"/>
                </a:cubicBezTo>
                <a:cubicBezTo>
                  <a:pt x="29125" y="35796"/>
                  <a:pt x="31938" y="35242"/>
                  <a:pt x="34854" y="34813"/>
                </a:cubicBezTo>
                <a:close/>
                <a:moveTo>
                  <a:pt x="65104" y="34808"/>
                </a:moveTo>
                <a:cubicBezTo>
                  <a:pt x="68000" y="35238"/>
                  <a:pt x="70792" y="35767"/>
                  <a:pt x="73462" y="36421"/>
                </a:cubicBezTo>
                <a:cubicBezTo>
                  <a:pt x="72713" y="39054"/>
                  <a:pt x="71775" y="41762"/>
                  <a:pt x="70712" y="44475"/>
                </a:cubicBezTo>
                <a:cubicBezTo>
                  <a:pt x="69879" y="42850"/>
                  <a:pt x="69004" y="41212"/>
                  <a:pt x="68046" y="39583"/>
                </a:cubicBezTo>
                <a:cubicBezTo>
                  <a:pt x="67108" y="37950"/>
                  <a:pt x="66108" y="36358"/>
                  <a:pt x="65108" y="34808"/>
                </a:cubicBezTo>
                <a:close/>
                <a:moveTo>
                  <a:pt x="77867" y="37621"/>
                </a:moveTo>
                <a:cubicBezTo>
                  <a:pt x="79883" y="38246"/>
                  <a:pt x="81800" y="38942"/>
                  <a:pt x="83596" y="39696"/>
                </a:cubicBezTo>
                <a:cubicBezTo>
                  <a:pt x="90812" y="42779"/>
                  <a:pt x="95479" y="46812"/>
                  <a:pt x="95479" y="50013"/>
                </a:cubicBezTo>
                <a:cubicBezTo>
                  <a:pt x="95458" y="53213"/>
                  <a:pt x="90792" y="57263"/>
                  <a:pt x="83575" y="60325"/>
                </a:cubicBezTo>
                <a:cubicBezTo>
                  <a:pt x="81825" y="61075"/>
                  <a:pt x="79908" y="61750"/>
                  <a:pt x="77929" y="62379"/>
                </a:cubicBezTo>
                <a:cubicBezTo>
                  <a:pt x="76762" y="58388"/>
                  <a:pt x="75238" y="54229"/>
                  <a:pt x="73346" y="49962"/>
                </a:cubicBezTo>
                <a:cubicBezTo>
                  <a:pt x="75221" y="45725"/>
                  <a:pt x="76721" y="41588"/>
                  <a:pt x="77867" y="37612"/>
                </a:cubicBezTo>
                <a:close/>
                <a:moveTo>
                  <a:pt x="22054" y="37638"/>
                </a:moveTo>
                <a:cubicBezTo>
                  <a:pt x="23212" y="41638"/>
                  <a:pt x="24742" y="45792"/>
                  <a:pt x="26637" y="50054"/>
                </a:cubicBezTo>
                <a:cubicBezTo>
                  <a:pt x="24762" y="54292"/>
                  <a:pt x="23254" y="58429"/>
                  <a:pt x="22112" y="62404"/>
                </a:cubicBezTo>
                <a:cubicBezTo>
                  <a:pt x="20096" y="61779"/>
                  <a:pt x="18179" y="61079"/>
                  <a:pt x="16404" y="60321"/>
                </a:cubicBezTo>
                <a:cubicBezTo>
                  <a:pt x="9187" y="57250"/>
                  <a:pt x="4521" y="53213"/>
                  <a:pt x="4521" y="50013"/>
                </a:cubicBezTo>
                <a:cubicBezTo>
                  <a:pt x="4521" y="46812"/>
                  <a:pt x="9187" y="42754"/>
                  <a:pt x="16404" y="39696"/>
                </a:cubicBezTo>
                <a:cubicBezTo>
                  <a:pt x="18154" y="38946"/>
                  <a:pt x="20071" y="38271"/>
                  <a:pt x="22054" y="37638"/>
                </a:cubicBezTo>
                <a:close/>
                <a:moveTo>
                  <a:pt x="70712" y="55471"/>
                </a:moveTo>
                <a:cubicBezTo>
                  <a:pt x="71817" y="58208"/>
                  <a:pt x="72754" y="60938"/>
                  <a:pt x="73529" y="63588"/>
                </a:cubicBezTo>
                <a:cubicBezTo>
                  <a:pt x="70862" y="64242"/>
                  <a:pt x="68046" y="64796"/>
                  <a:pt x="65129" y="65213"/>
                </a:cubicBezTo>
                <a:cubicBezTo>
                  <a:pt x="66129" y="63650"/>
                  <a:pt x="67129" y="62038"/>
                  <a:pt x="68067" y="60388"/>
                </a:cubicBezTo>
                <a:cubicBezTo>
                  <a:pt x="69004" y="58762"/>
                  <a:pt x="69879" y="57104"/>
                  <a:pt x="70717" y="55471"/>
                </a:cubicBezTo>
                <a:close/>
                <a:moveTo>
                  <a:pt x="29275" y="55554"/>
                </a:moveTo>
                <a:cubicBezTo>
                  <a:pt x="30108" y="57187"/>
                  <a:pt x="30983" y="58817"/>
                  <a:pt x="31942" y="60450"/>
                </a:cubicBezTo>
                <a:cubicBezTo>
                  <a:pt x="32900" y="62075"/>
                  <a:pt x="33879" y="63667"/>
                  <a:pt x="34879" y="65213"/>
                </a:cubicBezTo>
                <a:cubicBezTo>
                  <a:pt x="31983" y="64788"/>
                  <a:pt x="29192" y="64254"/>
                  <a:pt x="26521" y="63604"/>
                </a:cubicBezTo>
                <a:cubicBezTo>
                  <a:pt x="27271" y="60979"/>
                  <a:pt x="28212" y="58263"/>
                  <a:pt x="29271" y="55550"/>
                </a:cubicBezTo>
                <a:close/>
                <a:moveTo>
                  <a:pt x="74667" y="68000"/>
                </a:moveTo>
                <a:cubicBezTo>
                  <a:pt x="75133" y="70054"/>
                  <a:pt x="75500" y="72033"/>
                  <a:pt x="75725" y="73929"/>
                </a:cubicBezTo>
                <a:cubicBezTo>
                  <a:pt x="76683" y="81713"/>
                  <a:pt x="75500" y="87763"/>
                  <a:pt x="72750" y="89379"/>
                </a:cubicBezTo>
                <a:cubicBezTo>
                  <a:pt x="72138" y="89754"/>
                  <a:pt x="71342" y="89913"/>
                  <a:pt x="70404" y="89913"/>
                </a:cubicBezTo>
                <a:cubicBezTo>
                  <a:pt x="66188" y="89913"/>
                  <a:pt x="59929" y="86550"/>
                  <a:pt x="53279" y="80412"/>
                </a:cubicBezTo>
                <a:cubicBezTo>
                  <a:pt x="56138" y="77413"/>
                  <a:pt x="58988" y="74012"/>
                  <a:pt x="61696" y="70246"/>
                </a:cubicBezTo>
                <a:cubicBezTo>
                  <a:pt x="66308" y="69754"/>
                  <a:pt x="70671" y="68996"/>
                  <a:pt x="74667" y="67996"/>
                </a:cubicBezTo>
                <a:close/>
                <a:moveTo>
                  <a:pt x="25375" y="68042"/>
                </a:moveTo>
                <a:cubicBezTo>
                  <a:pt x="29375" y="69017"/>
                  <a:pt x="33733" y="69771"/>
                  <a:pt x="38321" y="70258"/>
                </a:cubicBezTo>
                <a:cubicBezTo>
                  <a:pt x="41071" y="74029"/>
                  <a:pt x="43925" y="77454"/>
                  <a:pt x="46800" y="80450"/>
                </a:cubicBezTo>
                <a:cubicBezTo>
                  <a:pt x="40154" y="86629"/>
                  <a:pt x="33917" y="90013"/>
                  <a:pt x="29675" y="90013"/>
                </a:cubicBezTo>
                <a:cubicBezTo>
                  <a:pt x="28758" y="89992"/>
                  <a:pt x="27983" y="89804"/>
                  <a:pt x="27371" y="89462"/>
                </a:cubicBezTo>
                <a:cubicBezTo>
                  <a:pt x="24596" y="87879"/>
                  <a:pt x="23392" y="81821"/>
                  <a:pt x="24329" y="74033"/>
                </a:cubicBezTo>
                <a:cubicBezTo>
                  <a:pt x="24554" y="72117"/>
                  <a:pt x="24921" y="70100"/>
                  <a:pt x="25371" y="68042"/>
                </a:cubicBezTo>
                <a:close/>
                <a:moveTo>
                  <a:pt x="44375" y="70708"/>
                </a:moveTo>
                <a:cubicBezTo>
                  <a:pt x="46208" y="70792"/>
                  <a:pt x="48083" y="70850"/>
                  <a:pt x="49979" y="70850"/>
                </a:cubicBezTo>
                <a:cubicBezTo>
                  <a:pt x="51896" y="70850"/>
                  <a:pt x="53792" y="70808"/>
                  <a:pt x="55646" y="70708"/>
                </a:cubicBezTo>
                <a:cubicBezTo>
                  <a:pt x="53813" y="73092"/>
                  <a:pt x="51917" y="75271"/>
                  <a:pt x="50042" y="77229"/>
                </a:cubicBezTo>
                <a:cubicBezTo>
                  <a:pt x="48146" y="75271"/>
                  <a:pt x="46250" y="73092"/>
                  <a:pt x="44375" y="70708"/>
                </a:cubicBezTo>
                <a:close/>
              </a:path>
            </a:pathLst>
          </a:custGeom>
          <a:solidFill>
            <a:srgbClr val="01F7FB"/>
          </a:solidFill>
          <a:ln>
            <a:noFill/>
          </a:ln>
        </p:spPr>
        <p:txBody>
          <a:bodyPr/>
          <a:lstStyle/>
          <a:p>
            <a:endParaRPr/>
          </a:p>
        </p:txBody>
      </p:sp>
      <p:sp>
        <p:nvSpPr>
          <p:cNvPr id="25" name="TextBox 24"/>
          <p:cNvSpPr txBox="1"/>
          <p:nvPr/>
        </p:nvSpPr>
        <p:spPr>
          <a:xfrm>
            <a:off x="1331274" y="2692131"/>
            <a:ext cx="802818" cy="307777"/>
          </a:xfrm>
          <a:prstGeom prst="rect">
            <a:avLst/>
          </a:prstGeom>
          <a:noFill/>
        </p:spPr>
        <p:txBody>
          <a:bodyPr wrap="square" lIns="0" tIns="0" rIns="0" bIns="0" anchor="t">
            <a:spAutoFit/>
          </a:bodyPr>
          <a:lstStyle/>
          <a:p>
            <a:pPr algn="ctr">
              <a:lnSpc>
                <a:spcPts val="798"/>
              </a:lnSpc>
            </a:pPr>
            <a:r>
              <a:rPr sz="759" b="1" dirty="0">
                <a:solidFill>
                  <a:srgbClr val="EFF7FF"/>
                </a:solidFill>
                <a:latin typeface="Arial"/>
              </a:rPr>
              <a:t>React Web App</a:t>
            </a:r>
          </a:p>
          <a:p>
            <a:pPr algn="ctr">
              <a:lnSpc>
                <a:spcPts val="798"/>
              </a:lnSpc>
            </a:pPr>
            <a:r>
              <a:rPr sz="759" b="1" dirty="0">
                <a:solidFill>
                  <a:srgbClr val="EFF7FF"/>
                </a:solidFill>
                <a:latin typeface="Arial"/>
              </a:rPr>
              <a:t>with Apollo Client</a:t>
            </a:r>
          </a:p>
        </p:txBody>
      </p:sp>
      <p:sp>
        <p:nvSpPr>
          <p:cNvPr id="26" name="Rounded Rectangle 25"/>
          <p:cNvSpPr/>
          <p:nvPr/>
        </p:nvSpPr>
        <p:spPr>
          <a:xfrm>
            <a:off x="1267252" y="3026973"/>
            <a:ext cx="917468" cy="388417"/>
          </a:xfrm>
          <a:prstGeom prst="roundRect">
            <a:avLst>
              <a:gd name="adj" fmla="val 10344"/>
            </a:avLst>
          </a:prstGeom>
          <a:solidFill>
            <a:srgbClr val="132D4C"/>
          </a:solidFill>
          <a:ln w="7937" cap="rnd">
            <a:solidFill>
              <a:srgbClr val="8ABBF1"/>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1366901" y="3058159"/>
            <a:ext cx="744957" cy="346249"/>
          </a:xfrm>
          <a:prstGeom prst="rect">
            <a:avLst/>
          </a:prstGeom>
          <a:noFill/>
        </p:spPr>
        <p:txBody>
          <a:bodyPr wrap="square" lIns="0" tIns="0" rIns="0" bIns="0" anchor="t">
            <a:spAutoFit/>
          </a:bodyPr>
          <a:lstStyle/>
          <a:p>
            <a:pPr algn="ctr">
              <a:lnSpc>
                <a:spcPts val="895"/>
              </a:lnSpc>
            </a:pPr>
            <a:r>
              <a:rPr sz="759" b="1" dirty="0">
                <a:solidFill>
                  <a:srgbClr val="E6F0FF"/>
                </a:solidFill>
                <a:latin typeface="Arial"/>
              </a:rPr>
              <a:t>Apollo Client</a:t>
            </a:r>
          </a:p>
          <a:p>
            <a:pPr algn="ctr">
              <a:lnSpc>
                <a:spcPts val="895"/>
              </a:lnSpc>
            </a:pPr>
            <a:r>
              <a:rPr sz="759" dirty="0">
                <a:solidFill>
                  <a:srgbClr val="D7E5F7"/>
                </a:solidFill>
                <a:latin typeface="Arial"/>
              </a:rPr>
              <a:t>(In-memory Cache)</a:t>
            </a:r>
          </a:p>
        </p:txBody>
      </p:sp>
      <p:sp>
        <p:nvSpPr>
          <p:cNvPr id="30" name="TextBox 29"/>
          <p:cNvSpPr txBox="1"/>
          <p:nvPr/>
        </p:nvSpPr>
        <p:spPr>
          <a:xfrm>
            <a:off x="2589145" y="1263013"/>
            <a:ext cx="753395" cy="346249"/>
          </a:xfrm>
          <a:prstGeom prst="rect">
            <a:avLst/>
          </a:prstGeom>
          <a:noFill/>
        </p:spPr>
        <p:txBody>
          <a:bodyPr wrap="square" lIns="0" tIns="0" rIns="0" bIns="0" anchor="t">
            <a:spAutoFit/>
          </a:bodyPr>
          <a:lstStyle/>
          <a:p>
            <a:pPr algn="ctr">
              <a:lnSpc>
                <a:spcPts val="860"/>
              </a:lnSpc>
            </a:pPr>
            <a:r>
              <a:rPr sz="758" b="1" dirty="0">
                <a:solidFill>
                  <a:srgbClr val="CDD7ED"/>
                </a:solidFill>
                <a:latin typeface="Arial"/>
              </a:rPr>
              <a:t>Authentication &amp; Authorization</a:t>
            </a:r>
          </a:p>
          <a:p>
            <a:pPr algn="ctr">
              <a:lnSpc>
                <a:spcPts val="860"/>
              </a:lnSpc>
            </a:pPr>
            <a:r>
              <a:rPr sz="758" dirty="0">
                <a:solidFill>
                  <a:srgbClr val="CDD7ED"/>
                </a:solidFill>
                <a:latin typeface="Arial"/>
              </a:rPr>
              <a:t>(Issues JWT)</a:t>
            </a:r>
          </a:p>
        </p:txBody>
      </p:sp>
      <p:sp>
        <p:nvSpPr>
          <p:cNvPr id="31" name="Freeform 30"/>
          <p:cNvSpPr/>
          <p:nvPr/>
        </p:nvSpPr>
        <p:spPr>
          <a:xfrm>
            <a:off x="2445897" y="1212129"/>
            <a:ext cx="1573758" cy="502263"/>
          </a:xfrm>
          <a:custGeom>
            <a:avLst/>
            <a:gdLst/>
            <a:ahLst/>
            <a:cxnLst/>
            <a:rect l="l" t="t" r="r" b="b"/>
            <a:pathLst>
              <a:path w="235" h="75">
                <a:moveTo>
                  <a:pt x="0" y="0"/>
                </a:moveTo>
                <a:lnTo>
                  <a:pt x="226" y="0"/>
                </a:lnTo>
                <a:lnTo>
                  <a:pt x="230" y="1"/>
                </a:lnTo>
                <a:lnTo>
                  <a:pt x="233" y="2"/>
                </a:lnTo>
                <a:lnTo>
                  <a:pt x="234" y="5"/>
                </a:lnTo>
                <a:lnTo>
                  <a:pt x="235" y="9"/>
                </a:lnTo>
                <a:lnTo>
                  <a:pt x="235" y="75"/>
                </a:lnTo>
              </a:path>
            </a:pathLst>
          </a:custGeom>
          <a:noFill/>
          <a:ln w="7937" cap="rnd">
            <a:solidFill>
              <a:srgbClr val="BDC8E3"/>
            </a:solidFill>
            <a:prstDash val="dash"/>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2" name="Connector 31"/>
          <p:cNvCxnSpPr/>
          <p:nvPr/>
        </p:nvCxnSpPr>
        <p:spPr>
          <a:xfrm>
            <a:off x="1930239" y="1214272"/>
            <a:ext cx="0" cy="925772"/>
          </a:xfrm>
          <a:prstGeom prst="line">
            <a:avLst/>
          </a:prstGeom>
          <a:ln w="7937" cap="rnd">
            <a:solidFill>
              <a:srgbClr val="BDC8E3"/>
            </a:solidFill>
            <a:prstDash val="dash"/>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3562662" y="983402"/>
            <a:ext cx="1104979" cy="205184"/>
          </a:xfrm>
          <a:prstGeom prst="rect">
            <a:avLst/>
          </a:prstGeom>
          <a:noFill/>
        </p:spPr>
        <p:txBody>
          <a:bodyPr wrap="square" lIns="0" tIns="0" rIns="0" bIns="0" anchor="t">
            <a:spAutoFit/>
          </a:bodyPr>
          <a:lstStyle/>
          <a:p>
            <a:pPr>
              <a:lnSpc>
                <a:spcPts val="792"/>
              </a:lnSpc>
            </a:pPr>
            <a:r>
              <a:rPr sz="759" b="1" dirty="0">
                <a:solidFill>
                  <a:srgbClr val="C7D6E7"/>
                </a:solidFill>
                <a:latin typeface="Arial"/>
              </a:rPr>
              <a:t>JWT token</a:t>
            </a:r>
          </a:p>
          <a:p>
            <a:pPr>
              <a:lnSpc>
                <a:spcPts val="792"/>
              </a:lnSpc>
            </a:pPr>
            <a:r>
              <a:rPr sz="759" dirty="0">
                <a:solidFill>
                  <a:srgbClr val="C7D6E7"/>
                </a:solidFill>
                <a:latin typeface="Arial"/>
              </a:rPr>
              <a:t>(in Authorization header)</a:t>
            </a:r>
          </a:p>
        </p:txBody>
      </p:sp>
      <p:cxnSp>
        <p:nvCxnSpPr>
          <p:cNvPr id="34" name="Connector 33"/>
          <p:cNvCxnSpPr/>
          <p:nvPr/>
        </p:nvCxnSpPr>
        <p:spPr>
          <a:xfrm>
            <a:off x="2278475" y="2531407"/>
            <a:ext cx="1285794" cy="0"/>
          </a:xfrm>
          <a:prstGeom prst="line">
            <a:avLst/>
          </a:prstGeom>
          <a:ln w="15874" cap="rnd">
            <a:solidFill>
              <a:srgbClr val="559EE6"/>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2436253" y="2138816"/>
            <a:ext cx="802818" cy="307777"/>
          </a:xfrm>
          <a:prstGeom prst="rect">
            <a:avLst/>
          </a:prstGeom>
          <a:noFill/>
        </p:spPr>
        <p:txBody>
          <a:bodyPr wrap="square" lIns="0" tIns="0" rIns="0" bIns="0" anchor="t">
            <a:spAutoFit/>
          </a:bodyPr>
          <a:lstStyle/>
          <a:p>
            <a:pPr algn="ctr">
              <a:lnSpc>
                <a:spcPts val="835"/>
              </a:lnSpc>
            </a:pPr>
            <a:r>
              <a:rPr sz="762" b="1" dirty="0" err="1">
                <a:solidFill>
                  <a:srgbClr val="76C8FF"/>
                </a:solidFill>
                <a:latin typeface="Arial"/>
              </a:rPr>
              <a:t>GraphQL</a:t>
            </a:r>
            <a:endParaRPr sz="762" b="1" dirty="0">
              <a:solidFill>
                <a:srgbClr val="76C8FF"/>
              </a:solidFill>
              <a:latin typeface="Arial"/>
            </a:endParaRPr>
          </a:p>
          <a:p>
            <a:pPr algn="ctr">
              <a:lnSpc>
                <a:spcPts val="835"/>
              </a:lnSpc>
            </a:pPr>
            <a:r>
              <a:rPr sz="762" b="1" dirty="0">
                <a:solidFill>
                  <a:srgbClr val="76C8FF"/>
                </a:solidFill>
                <a:latin typeface="Arial"/>
              </a:rPr>
              <a:t>Query / Mutation</a:t>
            </a:r>
          </a:p>
          <a:p>
            <a:pPr algn="ctr">
              <a:lnSpc>
                <a:spcPts val="835"/>
              </a:lnSpc>
            </a:pPr>
            <a:r>
              <a:rPr sz="762" dirty="0">
                <a:solidFill>
                  <a:srgbClr val="D6E9FF"/>
                </a:solidFill>
                <a:latin typeface="Arial"/>
              </a:rPr>
              <a:t>(HTTPS)</a:t>
            </a:r>
          </a:p>
        </p:txBody>
      </p:sp>
      <p:sp>
        <p:nvSpPr>
          <p:cNvPr id="36" name="Rounded Rectangle 35"/>
          <p:cNvSpPr/>
          <p:nvPr/>
        </p:nvSpPr>
        <p:spPr>
          <a:xfrm>
            <a:off x="3564270" y="1714392"/>
            <a:ext cx="1024617" cy="1372853"/>
          </a:xfrm>
          <a:prstGeom prst="roundRect">
            <a:avLst>
              <a:gd name="adj" fmla="val 3921"/>
            </a:avLst>
          </a:prstGeom>
          <a:solidFill>
            <a:srgbClr val="B3135C"/>
          </a:solidFill>
          <a:ln w="15874" cap="rnd">
            <a:solidFill>
              <a:srgbClr val="F14591"/>
            </a:solidFill>
            <a:round/>
          </a:ln>
          <a:effectLst>
            <a:outerShdw blurRad="90000" dist="25400" dir="5400000"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37" name="Picture 36" descr="pic_37.png"/>
          <p:cNvPicPr>
            <a:picLocks noChangeAspect="1"/>
          </p:cNvPicPr>
          <p:nvPr/>
        </p:nvPicPr>
        <p:blipFill>
          <a:blip r:embed="rId2"/>
          <a:stretch>
            <a:fillRect/>
          </a:stretch>
        </p:blipFill>
        <p:spPr>
          <a:xfrm>
            <a:off x="3745888" y="1942888"/>
            <a:ext cx="668077" cy="668077"/>
          </a:xfrm>
          <a:prstGeom prst="rect">
            <a:avLst/>
          </a:prstGeom>
          <a:effectLst/>
        </p:spPr>
      </p:pic>
      <p:sp>
        <p:nvSpPr>
          <p:cNvPr id="38" name="Rounded Rectangle 37"/>
          <p:cNvSpPr/>
          <p:nvPr/>
        </p:nvSpPr>
        <p:spPr>
          <a:xfrm>
            <a:off x="9772243" y="2183171"/>
            <a:ext cx="1165251" cy="522354"/>
          </a:xfrm>
          <a:prstGeom prst="roundRect">
            <a:avLst>
              <a:gd name="adj" fmla="val 6410"/>
            </a:avLst>
          </a:prstGeom>
          <a:solidFill>
            <a:srgbClr val="AE1259"/>
          </a:solidFill>
          <a:ln w="15874" cap="rnd">
            <a:solidFill>
              <a:srgbClr val="FC4E9E"/>
            </a:solidFill>
            <a:round/>
          </a:ln>
          <a:effectLst>
            <a:outerShdw blurRad="90000" dist="25400" dir="5400000"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10187448" y="2305589"/>
            <a:ext cx="723259" cy="256480"/>
          </a:xfrm>
          <a:prstGeom prst="rect">
            <a:avLst/>
          </a:prstGeom>
          <a:noFill/>
        </p:spPr>
        <p:txBody>
          <a:bodyPr wrap="square" lIns="0" tIns="0" rIns="0" bIns="0" anchor="t">
            <a:spAutoFit/>
          </a:bodyPr>
          <a:lstStyle/>
          <a:p>
            <a:pPr algn="ctr">
              <a:lnSpc>
                <a:spcPts val="980"/>
              </a:lnSpc>
            </a:pPr>
            <a:r>
              <a:rPr sz="777" b="1" dirty="0">
                <a:solidFill>
                  <a:srgbClr val="FFFFFF"/>
                </a:solidFill>
                <a:latin typeface="Arial"/>
              </a:rPr>
              <a:t>AWS </a:t>
            </a:r>
            <a:r>
              <a:rPr sz="777" b="1" dirty="0" err="1">
                <a:solidFill>
                  <a:srgbClr val="FFFFFF"/>
                </a:solidFill>
                <a:latin typeface="Arial"/>
              </a:rPr>
              <a:t>AppSync</a:t>
            </a:r>
            <a:endParaRPr sz="777" b="1" dirty="0">
              <a:solidFill>
                <a:srgbClr val="FFFFFF"/>
              </a:solidFill>
              <a:latin typeface="Arial"/>
            </a:endParaRPr>
          </a:p>
          <a:p>
            <a:pPr algn="ctr">
              <a:lnSpc>
                <a:spcPts val="980"/>
              </a:lnSpc>
            </a:pPr>
            <a:r>
              <a:rPr sz="777" dirty="0">
                <a:solidFill>
                  <a:srgbClr val="FFF0FA"/>
                </a:solidFill>
                <a:latin typeface="Arial"/>
              </a:rPr>
              <a:t>(</a:t>
            </a:r>
            <a:r>
              <a:rPr sz="777" dirty="0" err="1">
                <a:solidFill>
                  <a:srgbClr val="FFF0FA"/>
                </a:solidFill>
                <a:latin typeface="Arial"/>
              </a:rPr>
              <a:t>GraphQL</a:t>
            </a:r>
            <a:r>
              <a:rPr sz="777" dirty="0">
                <a:solidFill>
                  <a:srgbClr val="FFF0FA"/>
                </a:solidFill>
                <a:latin typeface="Arial"/>
              </a:rPr>
              <a:t> API)</a:t>
            </a:r>
          </a:p>
        </p:txBody>
      </p:sp>
      <p:sp>
        <p:nvSpPr>
          <p:cNvPr id="40" name="Rounded Rectangle 39"/>
          <p:cNvSpPr/>
          <p:nvPr/>
        </p:nvSpPr>
        <p:spPr>
          <a:xfrm>
            <a:off x="4783095" y="1546971"/>
            <a:ext cx="1587152" cy="1098282"/>
          </a:xfrm>
          <a:prstGeom prst="roundRect">
            <a:avLst>
              <a:gd name="adj" fmla="val 3658"/>
            </a:avLst>
          </a:prstGeom>
          <a:solidFill>
            <a:srgbClr val="161A3D"/>
          </a:solidFill>
          <a:ln w="7937" cap="rnd">
            <a:solidFill>
              <a:srgbClr val="615BC4"/>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4903638" y="1568394"/>
            <a:ext cx="1282044" cy="134332"/>
          </a:xfrm>
          <a:prstGeom prst="rect">
            <a:avLst/>
          </a:prstGeom>
          <a:noFill/>
        </p:spPr>
        <p:txBody>
          <a:bodyPr wrap="square" lIns="0" tIns="0" rIns="0" bIns="0" anchor="t">
            <a:spAutoFit/>
          </a:bodyPr>
          <a:lstStyle/>
          <a:p>
            <a:pPr algn="ctr">
              <a:lnSpc>
                <a:spcPct val="115000"/>
              </a:lnSpc>
            </a:pPr>
            <a:r>
              <a:rPr sz="759" b="1" dirty="0">
                <a:solidFill>
                  <a:srgbClr val="F7F4FF"/>
                </a:solidFill>
                <a:latin typeface="Arial"/>
              </a:rPr>
              <a:t>Query / Mutation Resolver</a:t>
            </a:r>
          </a:p>
        </p:txBody>
      </p:sp>
      <p:sp>
        <p:nvSpPr>
          <p:cNvPr id="42" name="Rounded Rectangle 41"/>
          <p:cNvSpPr/>
          <p:nvPr/>
        </p:nvSpPr>
        <p:spPr>
          <a:xfrm>
            <a:off x="4890244" y="1767967"/>
            <a:ext cx="1406337" cy="401811"/>
          </a:xfrm>
          <a:prstGeom prst="roundRect">
            <a:avLst>
              <a:gd name="adj" fmla="val 8333"/>
            </a:avLst>
          </a:prstGeom>
          <a:solidFill>
            <a:srgbClr val="132744"/>
          </a:solidFill>
          <a:ln w="7937" cap="rnd">
            <a:solidFill>
              <a:srgbClr val="2588EE"/>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3" name="Rounded Rectangle 42"/>
          <p:cNvSpPr/>
          <p:nvPr/>
        </p:nvSpPr>
        <p:spPr>
          <a:xfrm>
            <a:off x="4952860" y="1797098"/>
            <a:ext cx="330154" cy="330154"/>
          </a:xfrm>
          <a:prstGeom prst="roundRect">
            <a:avLst>
              <a:gd name="adj" fmla="val 8113"/>
            </a:avLst>
          </a:prstGeom>
          <a:solidFill>
            <a:srgbClr val="193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44" name="Picture 43" descr="pic_44.png"/>
          <p:cNvPicPr>
            <a:picLocks noChangeAspect="1"/>
          </p:cNvPicPr>
          <p:nvPr/>
        </p:nvPicPr>
        <p:blipFill>
          <a:blip r:embed="rId3"/>
          <a:stretch>
            <a:fillRect/>
          </a:stretch>
        </p:blipFill>
        <p:spPr>
          <a:xfrm>
            <a:off x="5001411" y="1830114"/>
            <a:ext cx="233051" cy="264123"/>
          </a:xfrm>
          <a:prstGeom prst="rect">
            <a:avLst/>
          </a:prstGeom>
          <a:effectLst/>
        </p:spPr>
      </p:pic>
      <p:sp>
        <p:nvSpPr>
          <p:cNvPr id="45" name="TextBox 44"/>
          <p:cNvSpPr txBox="1"/>
          <p:nvPr/>
        </p:nvSpPr>
        <p:spPr>
          <a:xfrm>
            <a:off x="5186002" y="1807184"/>
            <a:ext cx="1172208" cy="307777"/>
          </a:xfrm>
          <a:prstGeom prst="rect">
            <a:avLst/>
          </a:prstGeom>
          <a:noFill/>
        </p:spPr>
        <p:txBody>
          <a:bodyPr wrap="square" lIns="0" tIns="0" rIns="0" bIns="0" anchor="t">
            <a:spAutoFit/>
          </a:bodyPr>
          <a:lstStyle/>
          <a:p>
            <a:pPr algn="ctr">
              <a:lnSpc>
                <a:spcPts val="840"/>
              </a:lnSpc>
            </a:pPr>
            <a:r>
              <a:rPr sz="759" b="1" dirty="0" err="1">
                <a:solidFill>
                  <a:srgbClr val="F4F8FF"/>
                </a:solidFill>
                <a:latin typeface="Arial"/>
              </a:rPr>
              <a:t>DynamoDB</a:t>
            </a:r>
            <a:r>
              <a:rPr sz="759" b="1" dirty="0">
                <a:solidFill>
                  <a:srgbClr val="F4F8FF"/>
                </a:solidFill>
                <a:latin typeface="Arial"/>
              </a:rPr>
              <a:t> Data </a:t>
            </a:r>
            <a:endParaRPr lang="en-US" sz="759" b="1" dirty="0">
              <a:solidFill>
                <a:srgbClr val="F4F8FF"/>
              </a:solidFill>
              <a:latin typeface="Arial"/>
            </a:endParaRPr>
          </a:p>
          <a:p>
            <a:pPr algn="ctr">
              <a:lnSpc>
                <a:spcPts val="840"/>
              </a:lnSpc>
            </a:pPr>
            <a:r>
              <a:rPr sz="759" b="1" dirty="0">
                <a:solidFill>
                  <a:srgbClr val="F4F8FF"/>
                </a:solidFill>
                <a:latin typeface="Arial"/>
              </a:rPr>
              <a:t>Source</a:t>
            </a:r>
            <a:r>
              <a:rPr lang="en-US" sz="759" b="1" dirty="0">
                <a:solidFill>
                  <a:srgbClr val="F4F8FF"/>
                </a:solidFill>
                <a:latin typeface="Arial"/>
              </a:rPr>
              <a:t> </a:t>
            </a:r>
            <a:r>
              <a:rPr sz="759" dirty="0">
                <a:solidFill>
                  <a:srgbClr val="D6E8FF"/>
                </a:solidFill>
                <a:latin typeface="Arial"/>
              </a:rPr>
              <a:t>(for simple CRUD/query)</a:t>
            </a:r>
          </a:p>
        </p:txBody>
      </p:sp>
      <p:sp>
        <p:nvSpPr>
          <p:cNvPr id="46" name="Rounded Rectangle 45"/>
          <p:cNvSpPr/>
          <p:nvPr/>
        </p:nvSpPr>
        <p:spPr>
          <a:xfrm>
            <a:off x="4890244" y="2237387"/>
            <a:ext cx="1406337" cy="371371"/>
          </a:xfrm>
          <a:prstGeom prst="roundRect">
            <a:avLst>
              <a:gd name="adj" fmla="val 8196"/>
            </a:avLst>
          </a:prstGeom>
          <a:solidFill>
            <a:srgbClr val="122743"/>
          </a:solidFill>
          <a:ln w="7937" cap="rnd">
            <a:solidFill>
              <a:srgbClr val="2588EE"/>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Rounded Rectangle 46"/>
          <p:cNvSpPr/>
          <p:nvPr/>
        </p:nvSpPr>
        <p:spPr>
          <a:xfrm>
            <a:off x="4936117" y="2272574"/>
            <a:ext cx="330154" cy="330154"/>
          </a:xfrm>
          <a:prstGeom prst="roundRect">
            <a:avLst>
              <a:gd name="adj" fmla="val 8113"/>
            </a:avLst>
          </a:prstGeom>
          <a:solidFill>
            <a:srgbClr val="EC65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48" name="Picture 47" descr="pic_48.png"/>
          <p:cNvPicPr>
            <a:picLocks noChangeAspect="1"/>
          </p:cNvPicPr>
          <p:nvPr/>
        </p:nvPicPr>
        <p:blipFill>
          <a:blip r:embed="rId4"/>
          <a:stretch>
            <a:fillRect/>
          </a:stretch>
        </p:blipFill>
        <p:spPr>
          <a:xfrm>
            <a:off x="4973017" y="2305590"/>
            <a:ext cx="256355" cy="264123"/>
          </a:xfrm>
          <a:prstGeom prst="rect">
            <a:avLst/>
          </a:prstGeom>
          <a:effectLst/>
        </p:spPr>
      </p:pic>
      <p:sp>
        <p:nvSpPr>
          <p:cNvPr id="49" name="TextBox 48"/>
          <p:cNvSpPr txBox="1"/>
          <p:nvPr/>
        </p:nvSpPr>
        <p:spPr>
          <a:xfrm>
            <a:off x="5291196" y="2281309"/>
            <a:ext cx="1012562" cy="269304"/>
          </a:xfrm>
          <a:prstGeom prst="rect">
            <a:avLst/>
          </a:prstGeom>
          <a:noFill/>
        </p:spPr>
        <p:txBody>
          <a:bodyPr wrap="square" lIns="0" tIns="0" rIns="0" bIns="0" anchor="t">
            <a:spAutoFit/>
          </a:bodyPr>
          <a:lstStyle/>
          <a:p>
            <a:pPr algn="ctr">
              <a:lnSpc>
                <a:spcPts val="743"/>
              </a:lnSpc>
            </a:pPr>
            <a:r>
              <a:rPr sz="759" b="1" dirty="0">
                <a:solidFill>
                  <a:srgbClr val="F4F8FF"/>
                </a:solidFill>
                <a:latin typeface="Arial"/>
              </a:rPr>
              <a:t>Lambda Data Source</a:t>
            </a:r>
          </a:p>
          <a:p>
            <a:pPr algn="ctr">
              <a:lnSpc>
                <a:spcPts val="743"/>
              </a:lnSpc>
            </a:pPr>
            <a:r>
              <a:rPr sz="759" dirty="0">
                <a:solidFill>
                  <a:srgbClr val="D6E8FF"/>
                </a:solidFill>
                <a:latin typeface="Arial"/>
              </a:rPr>
              <a:t>(for complex business logic)</a:t>
            </a:r>
          </a:p>
        </p:txBody>
      </p:sp>
      <p:sp>
        <p:nvSpPr>
          <p:cNvPr id="50" name="Freeform 49"/>
          <p:cNvSpPr/>
          <p:nvPr/>
        </p:nvSpPr>
        <p:spPr>
          <a:xfrm>
            <a:off x="4602280" y="1968872"/>
            <a:ext cx="294661" cy="93756"/>
          </a:xfrm>
          <a:custGeom>
            <a:avLst/>
            <a:gdLst/>
            <a:ahLst/>
            <a:cxnLst/>
            <a:rect l="l" t="t" r="r" b="b"/>
            <a:pathLst>
              <a:path w="44" h="14">
                <a:moveTo>
                  <a:pt x="0" y="14"/>
                </a:moveTo>
                <a:lnTo>
                  <a:pt x="7" y="14"/>
                </a:lnTo>
                <a:lnTo>
                  <a:pt x="10" y="14"/>
                </a:lnTo>
                <a:lnTo>
                  <a:pt x="12" y="12"/>
                </a:lnTo>
                <a:lnTo>
                  <a:pt x="14" y="10"/>
                </a:lnTo>
                <a:lnTo>
                  <a:pt x="14" y="7"/>
                </a:lnTo>
                <a:lnTo>
                  <a:pt x="14" y="4"/>
                </a:lnTo>
                <a:lnTo>
                  <a:pt x="14" y="2"/>
                </a:lnTo>
                <a:lnTo>
                  <a:pt x="15" y="1"/>
                </a:lnTo>
                <a:lnTo>
                  <a:pt x="16" y="0"/>
                </a:lnTo>
                <a:lnTo>
                  <a:pt x="17" y="0"/>
                </a:lnTo>
                <a:lnTo>
                  <a:pt x="44" y="0"/>
                </a:lnTo>
              </a:path>
            </a:pathLst>
          </a:custGeom>
          <a:noFill/>
          <a:ln w="15874" cap="rnd">
            <a:solidFill>
              <a:srgbClr val="AACFFF"/>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1" name="Freeform 50"/>
          <p:cNvSpPr/>
          <p:nvPr/>
        </p:nvSpPr>
        <p:spPr>
          <a:xfrm>
            <a:off x="4588886" y="2323805"/>
            <a:ext cx="294661" cy="120543"/>
          </a:xfrm>
          <a:custGeom>
            <a:avLst/>
            <a:gdLst/>
            <a:ahLst/>
            <a:cxnLst/>
            <a:rect l="l" t="t" r="r" b="b"/>
            <a:pathLst>
              <a:path w="44" h="18">
                <a:moveTo>
                  <a:pt x="0" y="0"/>
                </a:moveTo>
                <a:lnTo>
                  <a:pt x="7" y="0"/>
                </a:lnTo>
                <a:lnTo>
                  <a:pt x="10" y="0"/>
                </a:lnTo>
                <a:lnTo>
                  <a:pt x="12" y="2"/>
                </a:lnTo>
                <a:lnTo>
                  <a:pt x="14" y="4"/>
                </a:lnTo>
                <a:lnTo>
                  <a:pt x="14" y="7"/>
                </a:lnTo>
                <a:lnTo>
                  <a:pt x="14" y="13"/>
                </a:lnTo>
                <a:lnTo>
                  <a:pt x="14" y="15"/>
                </a:lnTo>
                <a:lnTo>
                  <a:pt x="15" y="17"/>
                </a:lnTo>
                <a:lnTo>
                  <a:pt x="17" y="18"/>
                </a:lnTo>
                <a:lnTo>
                  <a:pt x="19" y="18"/>
                </a:lnTo>
                <a:lnTo>
                  <a:pt x="44" y="18"/>
                </a:lnTo>
              </a:path>
            </a:pathLst>
          </a:custGeom>
          <a:noFill/>
          <a:ln w="15874" cap="rnd">
            <a:solidFill>
              <a:srgbClr val="AACFFF"/>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Rounded Rectangle 51"/>
          <p:cNvSpPr/>
          <p:nvPr/>
        </p:nvSpPr>
        <p:spPr>
          <a:xfrm>
            <a:off x="4863285" y="2960006"/>
            <a:ext cx="1232219" cy="502263"/>
          </a:xfrm>
          <a:prstGeom prst="roundRect">
            <a:avLst>
              <a:gd name="adj" fmla="val 6666"/>
            </a:avLst>
          </a:prstGeom>
          <a:solidFill>
            <a:srgbClr val="09192A"/>
          </a:solidFill>
          <a:ln w="7937" cap="rnd">
            <a:solidFill>
              <a:srgbClr val="AABBD0"/>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53" name="Picture 52" descr="pic_53.png"/>
          <p:cNvPicPr>
            <a:picLocks noChangeAspect="1"/>
          </p:cNvPicPr>
          <p:nvPr/>
        </p:nvPicPr>
        <p:blipFill>
          <a:blip r:embed="rId5"/>
          <a:stretch>
            <a:fillRect/>
          </a:stretch>
        </p:blipFill>
        <p:spPr>
          <a:xfrm>
            <a:off x="4862671" y="3074654"/>
            <a:ext cx="279660" cy="310734"/>
          </a:xfrm>
          <a:prstGeom prst="rect">
            <a:avLst/>
          </a:prstGeom>
          <a:effectLst/>
        </p:spPr>
      </p:pic>
      <p:sp>
        <p:nvSpPr>
          <p:cNvPr id="54" name="TextBox 53"/>
          <p:cNvSpPr txBox="1"/>
          <p:nvPr/>
        </p:nvSpPr>
        <p:spPr>
          <a:xfrm>
            <a:off x="5174626" y="3049914"/>
            <a:ext cx="890680" cy="307777"/>
          </a:xfrm>
          <a:prstGeom prst="rect">
            <a:avLst/>
          </a:prstGeom>
          <a:noFill/>
        </p:spPr>
        <p:txBody>
          <a:bodyPr wrap="square" lIns="0" tIns="0" rIns="0" bIns="0" anchor="t">
            <a:spAutoFit/>
          </a:bodyPr>
          <a:lstStyle/>
          <a:p>
            <a:pPr algn="ctr">
              <a:lnSpc>
                <a:spcPts val="817"/>
              </a:lnSpc>
            </a:pPr>
            <a:r>
              <a:rPr sz="759" b="1" dirty="0">
                <a:solidFill>
                  <a:srgbClr val="FBF7FF"/>
                </a:solidFill>
                <a:latin typeface="Arial"/>
              </a:rPr>
              <a:t>Optional</a:t>
            </a:r>
          </a:p>
          <a:p>
            <a:pPr algn="ctr">
              <a:lnSpc>
                <a:spcPts val="817"/>
              </a:lnSpc>
            </a:pPr>
            <a:r>
              <a:rPr sz="759" b="1" dirty="0" err="1">
                <a:solidFill>
                  <a:srgbClr val="FBF7FF"/>
                </a:solidFill>
                <a:latin typeface="Arial"/>
              </a:rPr>
              <a:t>AppSync</a:t>
            </a:r>
            <a:r>
              <a:rPr sz="759" b="1" dirty="0">
                <a:solidFill>
                  <a:srgbClr val="FBF7FF"/>
                </a:solidFill>
                <a:latin typeface="Arial"/>
              </a:rPr>
              <a:t> Caching</a:t>
            </a:r>
          </a:p>
          <a:p>
            <a:pPr algn="ctr">
              <a:lnSpc>
                <a:spcPts val="817"/>
              </a:lnSpc>
            </a:pPr>
            <a:r>
              <a:rPr sz="759" dirty="0">
                <a:solidFill>
                  <a:srgbClr val="D7E6F5"/>
                </a:solidFill>
                <a:latin typeface="Arial"/>
              </a:rPr>
              <a:t>(for cached queries)</a:t>
            </a:r>
          </a:p>
        </p:txBody>
      </p:sp>
      <p:cxnSp>
        <p:nvCxnSpPr>
          <p:cNvPr id="56" name="Connector 55"/>
          <p:cNvCxnSpPr/>
          <p:nvPr/>
        </p:nvCxnSpPr>
        <p:spPr>
          <a:xfrm>
            <a:off x="4073229" y="3104657"/>
            <a:ext cx="0" cy="703169"/>
          </a:xfrm>
          <a:prstGeom prst="line">
            <a:avLst/>
          </a:prstGeom>
          <a:ln w="7937" cap="rnd">
            <a:solidFill>
              <a:srgbClr val="C4D3EB"/>
            </a:solidFill>
            <a:prstDash val="dash"/>
            <a:round/>
            <a:headEnd type="triangle" w="med" len="med"/>
            <a:tailEnd type="triangle" w="med" len="med"/>
          </a:ln>
          <a:effectLst/>
        </p:spPr>
        <p:style>
          <a:lnRef idx="2">
            <a:schemeClr val="accent1"/>
          </a:lnRef>
          <a:fillRef idx="0">
            <a:schemeClr val="accent1"/>
          </a:fillRef>
          <a:effectRef idx="0">
            <a:schemeClr val="accent1"/>
          </a:effectRef>
          <a:fontRef idx="minor">
            <a:schemeClr val="tx1"/>
          </a:fontRef>
        </p:style>
      </p:cxnSp>
      <p:sp>
        <p:nvSpPr>
          <p:cNvPr id="57" name="Rounded Rectangle 56"/>
          <p:cNvSpPr/>
          <p:nvPr/>
        </p:nvSpPr>
        <p:spPr>
          <a:xfrm>
            <a:off x="1153976" y="3883825"/>
            <a:ext cx="1407609" cy="565718"/>
          </a:xfrm>
          <a:prstGeom prst="roundRect">
            <a:avLst>
              <a:gd name="adj" fmla="val 1754"/>
            </a:avLst>
          </a:prstGeom>
          <a:solidFill>
            <a:srgbClr val="0D1D2D"/>
          </a:solidFill>
          <a:ln w="7937" cap="rnd">
            <a:solidFill>
              <a:srgbClr val="B4C9E4"/>
            </a:solidFill>
            <a:prstDash val="dash"/>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ln w="76200">
                <a:solidFill>
                  <a:schemeClr val="tx1"/>
                </a:solidFill>
              </a:ln>
            </a:endParaRPr>
          </a:p>
        </p:txBody>
      </p:sp>
      <p:sp>
        <p:nvSpPr>
          <p:cNvPr id="58" name="icon monitor"/>
          <p:cNvSpPr/>
          <p:nvPr/>
        </p:nvSpPr>
        <p:spPr>
          <a:xfrm>
            <a:off x="1208711" y="3976308"/>
            <a:ext cx="411743" cy="411743"/>
          </a:xfrm>
          <a:custGeom>
            <a:avLst/>
            <a:gdLst/>
            <a:ahLst/>
            <a:cxnLst/>
            <a:rect l="0" t="0" r="0" b="0"/>
            <a:pathLst>
              <a:path w="100000" h="100000" fill="none">
                <a:moveTo>
                  <a:pt x="16667" y="12500"/>
                </a:moveTo>
                <a:lnTo>
                  <a:pt x="83333" y="12500"/>
                </a:lnTo>
                <a:cubicBezTo>
                  <a:pt x="84796" y="12500"/>
                  <a:pt x="86233" y="12885"/>
                  <a:pt x="87500" y="13616"/>
                </a:cubicBezTo>
                <a:cubicBezTo>
                  <a:pt x="88767" y="14348"/>
                  <a:pt x="89819" y="15400"/>
                  <a:pt x="90550" y="16667"/>
                </a:cubicBezTo>
                <a:cubicBezTo>
                  <a:pt x="91282" y="17933"/>
                  <a:pt x="91667" y="19371"/>
                  <a:pt x="91667" y="20833"/>
                </a:cubicBezTo>
                <a:lnTo>
                  <a:pt x="91667" y="62500"/>
                </a:lnTo>
                <a:cubicBezTo>
                  <a:pt x="91667" y="63963"/>
                  <a:pt x="91282" y="65400"/>
                  <a:pt x="90550" y="66667"/>
                </a:cubicBezTo>
                <a:cubicBezTo>
                  <a:pt x="89819" y="67933"/>
                  <a:pt x="88767" y="68986"/>
                  <a:pt x="87500" y="69717"/>
                </a:cubicBezTo>
                <a:cubicBezTo>
                  <a:pt x="86233" y="70448"/>
                  <a:pt x="84796" y="70833"/>
                  <a:pt x="83333" y="70833"/>
                </a:cubicBezTo>
                <a:lnTo>
                  <a:pt x="16667" y="70833"/>
                </a:lnTo>
                <a:cubicBezTo>
                  <a:pt x="15204" y="70833"/>
                  <a:pt x="13767" y="70448"/>
                  <a:pt x="12500" y="69717"/>
                </a:cubicBezTo>
                <a:cubicBezTo>
                  <a:pt x="11233" y="68986"/>
                  <a:pt x="10181" y="67933"/>
                  <a:pt x="9450" y="66667"/>
                </a:cubicBezTo>
                <a:cubicBezTo>
                  <a:pt x="8718" y="65400"/>
                  <a:pt x="8333" y="63963"/>
                  <a:pt x="8333" y="62500"/>
                </a:cubicBezTo>
                <a:lnTo>
                  <a:pt x="8333" y="20833"/>
                </a:lnTo>
                <a:cubicBezTo>
                  <a:pt x="8333" y="19371"/>
                  <a:pt x="8718" y="17933"/>
                  <a:pt x="9450" y="16667"/>
                </a:cubicBezTo>
                <a:cubicBezTo>
                  <a:pt x="10181" y="15400"/>
                  <a:pt x="11233" y="14348"/>
                  <a:pt x="12500" y="13616"/>
                </a:cubicBezTo>
                <a:cubicBezTo>
                  <a:pt x="13767" y="12885"/>
                  <a:pt x="15204" y="12500"/>
                  <a:pt x="16667" y="12500"/>
                </a:cubicBezTo>
                <a:close/>
                <a:moveTo>
                  <a:pt x="33333" y="87500"/>
                </a:moveTo>
                <a:lnTo>
                  <a:pt x="66667" y="87500"/>
                </a:lnTo>
                <a:moveTo>
                  <a:pt x="50000" y="70833"/>
                </a:moveTo>
                <a:lnTo>
                  <a:pt x="50000" y="87500"/>
                </a:lnTo>
              </a:path>
            </a:pathLst>
          </a:custGeom>
          <a:noFill/>
          <a:ln w="24450" cap="rnd">
            <a:solidFill>
              <a:srgbClr val="F6F7FF"/>
            </a:solidFill>
            <a:round/>
          </a:ln>
        </p:spPr>
        <p:txBody>
          <a:bodyPr/>
          <a:lstStyle/>
          <a:p>
            <a:endParaRPr/>
          </a:p>
        </p:txBody>
      </p:sp>
      <p:sp>
        <p:nvSpPr>
          <p:cNvPr id="59" name="TextBox 58"/>
          <p:cNvSpPr txBox="1"/>
          <p:nvPr/>
        </p:nvSpPr>
        <p:spPr>
          <a:xfrm>
            <a:off x="1655995" y="4076895"/>
            <a:ext cx="890680" cy="307777"/>
          </a:xfrm>
          <a:prstGeom prst="rect">
            <a:avLst/>
          </a:prstGeom>
          <a:noFill/>
        </p:spPr>
        <p:txBody>
          <a:bodyPr wrap="square" lIns="0" tIns="0" rIns="0" bIns="0" anchor="t">
            <a:spAutoFit/>
          </a:bodyPr>
          <a:lstStyle/>
          <a:p>
            <a:pPr algn="ctr">
              <a:lnSpc>
                <a:spcPts val="753"/>
              </a:lnSpc>
            </a:pPr>
            <a:r>
              <a:rPr sz="759" b="1" dirty="0">
                <a:solidFill>
                  <a:srgbClr val="FFBA51"/>
                </a:solidFill>
                <a:latin typeface="Arial"/>
              </a:rPr>
              <a:t>Optional: External</a:t>
            </a:r>
          </a:p>
          <a:p>
            <a:pPr algn="ctr">
              <a:lnSpc>
                <a:spcPts val="753"/>
              </a:lnSpc>
            </a:pPr>
            <a:r>
              <a:rPr sz="759" b="1" dirty="0">
                <a:solidFill>
                  <a:srgbClr val="FFBA51"/>
                </a:solidFill>
                <a:latin typeface="Arial"/>
              </a:rPr>
              <a:t>REST Clients</a:t>
            </a:r>
          </a:p>
          <a:p>
            <a:pPr algn="ctr">
              <a:lnSpc>
                <a:spcPts val="753"/>
              </a:lnSpc>
            </a:pPr>
            <a:r>
              <a:rPr sz="759" dirty="0">
                <a:solidFill>
                  <a:srgbClr val="D8E3F4"/>
                </a:solidFill>
                <a:latin typeface="Arial"/>
              </a:rPr>
              <a:t>(Legacy systems)</a:t>
            </a:r>
          </a:p>
        </p:txBody>
      </p:sp>
      <p:cxnSp>
        <p:nvCxnSpPr>
          <p:cNvPr id="60" name="Connector 59"/>
          <p:cNvCxnSpPr>
            <a:stCxn id="57" idx="3"/>
            <a:endCxn id="62" idx="1"/>
          </p:cNvCxnSpPr>
          <p:nvPr/>
        </p:nvCxnSpPr>
        <p:spPr>
          <a:xfrm flipV="1">
            <a:off x="2561585" y="4158740"/>
            <a:ext cx="1083047" cy="7944"/>
          </a:xfrm>
          <a:prstGeom prst="line">
            <a:avLst/>
          </a:prstGeom>
          <a:ln w="15874" cap="rnd">
            <a:solidFill>
              <a:srgbClr val="B56DFF"/>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2618046" y="3968949"/>
            <a:ext cx="725315" cy="153888"/>
          </a:xfrm>
          <a:prstGeom prst="rect">
            <a:avLst/>
          </a:prstGeom>
          <a:noFill/>
        </p:spPr>
        <p:txBody>
          <a:bodyPr wrap="square" lIns="0" tIns="0" rIns="0" bIns="0" anchor="t">
            <a:spAutoFit/>
          </a:bodyPr>
          <a:lstStyle/>
          <a:p>
            <a:pPr algn="ctr">
              <a:lnSpc>
                <a:spcPts val="634"/>
              </a:lnSpc>
            </a:pPr>
            <a:r>
              <a:rPr sz="759" b="1" dirty="0">
                <a:solidFill>
                  <a:srgbClr val="B465EB"/>
                </a:solidFill>
                <a:latin typeface="Arial"/>
              </a:rPr>
              <a:t>REST / HTTP</a:t>
            </a:r>
          </a:p>
          <a:p>
            <a:pPr algn="ctr">
              <a:lnSpc>
                <a:spcPts val="634"/>
              </a:lnSpc>
            </a:pPr>
            <a:r>
              <a:rPr sz="759" b="1" dirty="0">
                <a:solidFill>
                  <a:srgbClr val="B465EB"/>
                </a:solidFill>
                <a:latin typeface="Arial"/>
              </a:rPr>
              <a:t>(HTTPS)</a:t>
            </a:r>
          </a:p>
        </p:txBody>
      </p:sp>
      <p:sp>
        <p:nvSpPr>
          <p:cNvPr id="62" name="Rounded Rectangle 61"/>
          <p:cNvSpPr/>
          <p:nvPr/>
        </p:nvSpPr>
        <p:spPr>
          <a:xfrm>
            <a:off x="3644632" y="3850685"/>
            <a:ext cx="756743" cy="616110"/>
          </a:xfrm>
          <a:prstGeom prst="roundRect">
            <a:avLst>
              <a:gd name="adj" fmla="val 5434"/>
            </a:avLst>
          </a:prstGeom>
          <a:solidFill>
            <a:srgbClr val="812DF1"/>
          </a:solidFill>
          <a:ln w="7937" cap="rnd">
            <a:solidFill>
              <a:srgbClr val="A66AFF"/>
            </a:solidFill>
            <a:round/>
          </a:ln>
          <a:effectLst>
            <a:outerShdw blurRad="90000" dist="25400" dir="5400000"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63" name="Picture 62" descr="pic_63.png"/>
          <p:cNvPicPr>
            <a:picLocks noChangeAspect="1"/>
          </p:cNvPicPr>
          <p:nvPr/>
        </p:nvPicPr>
        <p:blipFill>
          <a:blip r:embed="rId6"/>
          <a:stretch>
            <a:fillRect/>
          </a:stretch>
        </p:blipFill>
        <p:spPr>
          <a:xfrm>
            <a:off x="3754996" y="3915779"/>
            <a:ext cx="536015" cy="512711"/>
          </a:xfrm>
          <a:prstGeom prst="rect">
            <a:avLst/>
          </a:prstGeom>
          <a:effectLst/>
        </p:spPr>
      </p:pic>
      <p:sp>
        <p:nvSpPr>
          <p:cNvPr id="64" name="TextBox 63"/>
          <p:cNvSpPr txBox="1"/>
          <p:nvPr/>
        </p:nvSpPr>
        <p:spPr>
          <a:xfrm>
            <a:off x="3445334" y="4502662"/>
            <a:ext cx="1222308" cy="230832"/>
          </a:xfrm>
          <a:prstGeom prst="rect">
            <a:avLst/>
          </a:prstGeom>
          <a:noFill/>
        </p:spPr>
        <p:txBody>
          <a:bodyPr wrap="square" lIns="0" tIns="0" rIns="0" bIns="0" anchor="t">
            <a:spAutoFit/>
          </a:bodyPr>
          <a:lstStyle/>
          <a:p>
            <a:pPr algn="ctr">
              <a:lnSpc>
                <a:spcPts val="895"/>
              </a:lnSpc>
            </a:pPr>
            <a:r>
              <a:rPr sz="759" b="1" dirty="0">
                <a:solidFill>
                  <a:srgbClr val="EEF0FF"/>
                </a:solidFill>
                <a:latin typeface="Arial"/>
              </a:rPr>
              <a:t>Amazon API Gateway</a:t>
            </a:r>
          </a:p>
          <a:p>
            <a:pPr algn="ctr">
              <a:lnSpc>
                <a:spcPts val="895"/>
              </a:lnSpc>
            </a:pPr>
            <a:r>
              <a:rPr sz="759" dirty="0">
                <a:solidFill>
                  <a:srgbClr val="E4E9FC"/>
                </a:solidFill>
                <a:latin typeface="Arial"/>
              </a:rPr>
              <a:t>(Optional - for REST/HTTP)</a:t>
            </a:r>
          </a:p>
        </p:txBody>
      </p:sp>
      <p:cxnSp>
        <p:nvCxnSpPr>
          <p:cNvPr id="65" name="Connector 64"/>
          <p:cNvCxnSpPr>
            <a:stCxn id="62" idx="3"/>
            <a:endCxn id="66" idx="1"/>
          </p:cNvCxnSpPr>
          <p:nvPr/>
        </p:nvCxnSpPr>
        <p:spPr>
          <a:xfrm flipV="1">
            <a:off x="4401375" y="4152043"/>
            <a:ext cx="596019" cy="6697"/>
          </a:xfrm>
          <a:prstGeom prst="line">
            <a:avLst/>
          </a:prstGeom>
          <a:ln w="15874" cap="rnd">
            <a:solidFill>
              <a:srgbClr val="AF68F7"/>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66" name="Rounded Rectangle 65"/>
          <p:cNvSpPr/>
          <p:nvPr/>
        </p:nvSpPr>
        <p:spPr>
          <a:xfrm>
            <a:off x="4997394" y="3857382"/>
            <a:ext cx="596019" cy="589322"/>
          </a:xfrm>
          <a:prstGeom prst="roundRect">
            <a:avLst>
              <a:gd name="adj" fmla="val 5681"/>
            </a:avLst>
          </a:prstGeom>
          <a:solidFill>
            <a:srgbClr val="E76414"/>
          </a:solidFill>
          <a:ln w="7937" cap="rnd">
            <a:solidFill>
              <a:srgbClr val="FFB64A"/>
            </a:solidFill>
            <a:round/>
          </a:ln>
          <a:effectLst>
            <a:outerShdw blurRad="90000" dist="25400" dir="5400000"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67" name="Picture 66" descr="pic_67.png"/>
          <p:cNvPicPr>
            <a:picLocks noChangeAspect="1"/>
          </p:cNvPicPr>
          <p:nvPr/>
        </p:nvPicPr>
        <p:blipFill>
          <a:blip r:embed="rId7"/>
          <a:stretch>
            <a:fillRect/>
          </a:stretch>
        </p:blipFill>
        <p:spPr>
          <a:xfrm>
            <a:off x="5072398" y="3906135"/>
            <a:ext cx="466100" cy="458332"/>
          </a:xfrm>
          <a:prstGeom prst="rect">
            <a:avLst/>
          </a:prstGeom>
          <a:effectLst/>
        </p:spPr>
      </p:pic>
      <p:sp>
        <p:nvSpPr>
          <p:cNvPr id="68" name="TextBox 67"/>
          <p:cNvSpPr txBox="1"/>
          <p:nvPr/>
        </p:nvSpPr>
        <p:spPr>
          <a:xfrm>
            <a:off x="4838410" y="4495014"/>
            <a:ext cx="963007" cy="461665"/>
          </a:xfrm>
          <a:prstGeom prst="rect">
            <a:avLst/>
          </a:prstGeom>
          <a:noFill/>
        </p:spPr>
        <p:txBody>
          <a:bodyPr wrap="square" lIns="0" tIns="0" rIns="0" bIns="0" anchor="t">
            <a:spAutoFit/>
          </a:bodyPr>
          <a:lstStyle/>
          <a:p>
            <a:pPr algn="ctr">
              <a:lnSpc>
                <a:spcPts val="860"/>
              </a:lnSpc>
            </a:pPr>
            <a:r>
              <a:rPr sz="759" b="1" dirty="0">
                <a:solidFill>
                  <a:srgbClr val="FFF6EB"/>
                </a:solidFill>
                <a:latin typeface="Arial"/>
              </a:rPr>
              <a:t>Lambda</a:t>
            </a:r>
          </a:p>
          <a:p>
            <a:pPr algn="ctr">
              <a:lnSpc>
                <a:spcPts val="860"/>
              </a:lnSpc>
            </a:pPr>
            <a:r>
              <a:rPr sz="759" b="1" dirty="0">
                <a:solidFill>
                  <a:srgbClr val="FFF6EB"/>
                </a:solidFill>
                <a:latin typeface="Arial"/>
              </a:rPr>
              <a:t>(REST API Handler)</a:t>
            </a:r>
          </a:p>
          <a:p>
            <a:pPr algn="ctr">
              <a:lnSpc>
                <a:spcPts val="860"/>
              </a:lnSpc>
            </a:pPr>
            <a:r>
              <a:rPr sz="759" dirty="0">
                <a:solidFill>
                  <a:srgbClr val="DCE7F5"/>
                </a:solidFill>
                <a:latin typeface="Arial"/>
              </a:rPr>
              <a:t>For legacy or external</a:t>
            </a:r>
          </a:p>
          <a:p>
            <a:pPr algn="ctr">
              <a:lnSpc>
                <a:spcPts val="860"/>
              </a:lnSpc>
            </a:pPr>
            <a:r>
              <a:rPr sz="759" dirty="0">
                <a:solidFill>
                  <a:srgbClr val="DCE7F5"/>
                </a:solidFill>
                <a:latin typeface="Arial"/>
              </a:rPr>
              <a:t>REST clients only</a:t>
            </a:r>
          </a:p>
        </p:txBody>
      </p:sp>
      <p:sp>
        <p:nvSpPr>
          <p:cNvPr id="69" name="Rounded Rectangle 68"/>
          <p:cNvSpPr/>
          <p:nvPr/>
        </p:nvSpPr>
        <p:spPr>
          <a:xfrm>
            <a:off x="7234139" y="1004527"/>
            <a:ext cx="1392944" cy="803621"/>
          </a:xfrm>
          <a:prstGeom prst="roundRect">
            <a:avLst>
              <a:gd name="adj" fmla="val 5000"/>
            </a:avLst>
          </a:prstGeom>
          <a:solidFill>
            <a:srgbClr val="102B49"/>
          </a:solidFill>
          <a:ln w="7937" cap="rnd">
            <a:solidFill>
              <a:srgbClr val="267CF0"/>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0" name="Rounded Rectangle 69"/>
          <p:cNvSpPr/>
          <p:nvPr/>
        </p:nvSpPr>
        <p:spPr>
          <a:xfrm>
            <a:off x="7730376" y="1031125"/>
            <a:ext cx="427259" cy="427259"/>
          </a:xfrm>
          <a:prstGeom prst="roundRect">
            <a:avLst>
              <a:gd name="adj" fmla="val 7836"/>
            </a:avLst>
          </a:prstGeom>
          <a:solidFill>
            <a:srgbClr val="2548EF"/>
          </a:solidFill>
          <a:ln>
            <a:noFill/>
          </a:ln>
          <a:effectLst>
            <a:outerShdw blurRad="90000" dist="25400" dir="5400000"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71" name="Picture 70" descr="pic_71.png"/>
          <p:cNvPicPr>
            <a:picLocks noChangeAspect="1"/>
          </p:cNvPicPr>
          <p:nvPr/>
        </p:nvPicPr>
        <p:blipFill>
          <a:blip r:embed="rId8"/>
          <a:stretch>
            <a:fillRect/>
          </a:stretch>
        </p:blipFill>
        <p:spPr>
          <a:xfrm>
            <a:off x="7812823" y="1073851"/>
            <a:ext cx="295197" cy="341807"/>
          </a:xfrm>
          <a:prstGeom prst="rect">
            <a:avLst/>
          </a:prstGeom>
          <a:effectLst/>
        </p:spPr>
      </p:pic>
      <p:sp>
        <p:nvSpPr>
          <p:cNvPr id="72" name="TextBox 71"/>
          <p:cNvSpPr txBox="1"/>
          <p:nvPr/>
        </p:nvSpPr>
        <p:spPr>
          <a:xfrm>
            <a:off x="7476330" y="1468236"/>
            <a:ext cx="1034260" cy="205184"/>
          </a:xfrm>
          <a:prstGeom prst="rect">
            <a:avLst/>
          </a:prstGeom>
          <a:noFill/>
        </p:spPr>
        <p:txBody>
          <a:bodyPr wrap="square" lIns="0" tIns="0" rIns="0" bIns="0" anchor="t">
            <a:spAutoFit/>
          </a:bodyPr>
          <a:lstStyle/>
          <a:p>
            <a:pPr algn="ctr">
              <a:lnSpc>
                <a:spcPts val="840"/>
              </a:lnSpc>
            </a:pPr>
            <a:r>
              <a:rPr sz="759" b="1" dirty="0">
                <a:solidFill>
                  <a:srgbClr val="F7FBFF"/>
                </a:solidFill>
                <a:latin typeface="Arial"/>
              </a:rPr>
              <a:t>Amazon </a:t>
            </a:r>
            <a:r>
              <a:rPr sz="759" b="1" dirty="0" err="1">
                <a:solidFill>
                  <a:srgbClr val="F7FBFF"/>
                </a:solidFill>
                <a:latin typeface="Arial"/>
              </a:rPr>
              <a:t>DynamoDB</a:t>
            </a:r>
            <a:endParaRPr sz="759" b="1" dirty="0">
              <a:solidFill>
                <a:srgbClr val="F7FBFF"/>
              </a:solidFill>
              <a:latin typeface="Arial"/>
            </a:endParaRPr>
          </a:p>
          <a:p>
            <a:pPr algn="ctr">
              <a:lnSpc>
                <a:spcPts val="840"/>
              </a:lnSpc>
            </a:pPr>
            <a:r>
              <a:rPr sz="759" dirty="0">
                <a:solidFill>
                  <a:srgbClr val="E5EDFF"/>
                </a:solidFill>
                <a:latin typeface="Arial"/>
              </a:rPr>
              <a:t>(Orders Table)</a:t>
            </a:r>
          </a:p>
        </p:txBody>
      </p:sp>
      <p:sp>
        <p:nvSpPr>
          <p:cNvPr id="73" name="Freeform 72"/>
          <p:cNvSpPr/>
          <p:nvPr/>
        </p:nvSpPr>
        <p:spPr>
          <a:xfrm>
            <a:off x="6303758" y="1453215"/>
            <a:ext cx="930381" cy="506323"/>
          </a:xfrm>
          <a:custGeom>
            <a:avLst/>
            <a:gdLst/>
            <a:ahLst/>
            <a:cxnLst/>
            <a:rect l="l" t="t" r="r" b="b"/>
            <a:pathLst>
              <a:path w="128" h="74">
                <a:moveTo>
                  <a:pt x="0" y="74"/>
                </a:moveTo>
                <a:lnTo>
                  <a:pt x="47" y="74"/>
                </a:lnTo>
                <a:lnTo>
                  <a:pt x="51" y="73"/>
                </a:lnTo>
                <a:lnTo>
                  <a:pt x="54" y="72"/>
                </a:lnTo>
                <a:lnTo>
                  <a:pt x="55" y="69"/>
                </a:lnTo>
                <a:lnTo>
                  <a:pt x="56" y="65"/>
                </a:lnTo>
                <a:lnTo>
                  <a:pt x="56" y="9"/>
                </a:lnTo>
                <a:lnTo>
                  <a:pt x="57" y="5"/>
                </a:lnTo>
                <a:lnTo>
                  <a:pt x="58" y="2"/>
                </a:lnTo>
                <a:lnTo>
                  <a:pt x="61" y="1"/>
                </a:lnTo>
                <a:lnTo>
                  <a:pt x="65" y="0"/>
                </a:lnTo>
                <a:lnTo>
                  <a:pt x="128" y="0"/>
                </a:lnTo>
              </a:path>
            </a:pathLst>
          </a:custGeom>
          <a:noFill/>
          <a:ln w="15874" cap="rnd">
            <a:solidFill>
              <a:srgbClr val="A6D4FF"/>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4" name="Freeform 73"/>
          <p:cNvSpPr/>
          <p:nvPr/>
        </p:nvSpPr>
        <p:spPr>
          <a:xfrm>
            <a:off x="6296581" y="1453216"/>
            <a:ext cx="937558" cy="984436"/>
          </a:xfrm>
          <a:custGeom>
            <a:avLst/>
            <a:gdLst/>
            <a:ahLst/>
            <a:cxnLst/>
            <a:rect l="l" t="t" r="r" b="b"/>
            <a:pathLst>
              <a:path w="140" h="147">
                <a:moveTo>
                  <a:pt x="0" y="147"/>
                </a:moveTo>
                <a:lnTo>
                  <a:pt x="59" y="147"/>
                </a:lnTo>
                <a:lnTo>
                  <a:pt x="63" y="146"/>
                </a:lnTo>
                <a:lnTo>
                  <a:pt x="66" y="145"/>
                </a:lnTo>
                <a:lnTo>
                  <a:pt x="67" y="142"/>
                </a:lnTo>
                <a:lnTo>
                  <a:pt x="68" y="138"/>
                </a:lnTo>
                <a:lnTo>
                  <a:pt x="68" y="9"/>
                </a:lnTo>
                <a:lnTo>
                  <a:pt x="69" y="5"/>
                </a:lnTo>
                <a:lnTo>
                  <a:pt x="70" y="2"/>
                </a:lnTo>
                <a:lnTo>
                  <a:pt x="73" y="1"/>
                </a:lnTo>
                <a:lnTo>
                  <a:pt x="77" y="0"/>
                </a:lnTo>
                <a:lnTo>
                  <a:pt x="140" y="0"/>
                </a:lnTo>
              </a:path>
            </a:pathLst>
          </a:custGeom>
          <a:noFill/>
          <a:ln w="15874" cap="rnd">
            <a:solidFill>
              <a:srgbClr val="A6D4FF"/>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5" name="TextBox 74"/>
          <p:cNvSpPr txBox="1"/>
          <p:nvPr/>
        </p:nvSpPr>
        <p:spPr>
          <a:xfrm>
            <a:off x="6711786" y="1163006"/>
            <a:ext cx="375023" cy="230832"/>
          </a:xfrm>
          <a:prstGeom prst="rect">
            <a:avLst/>
          </a:prstGeom>
          <a:noFill/>
        </p:spPr>
        <p:txBody>
          <a:bodyPr wrap="square" lIns="0" tIns="0" rIns="0" bIns="0" anchor="t">
            <a:spAutoFit/>
          </a:bodyPr>
          <a:lstStyle/>
          <a:p>
            <a:pPr>
              <a:lnSpc>
                <a:spcPts val="874"/>
              </a:lnSpc>
            </a:pPr>
            <a:r>
              <a:rPr sz="759" b="1" dirty="0">
                <a:solidFill>
                  <a:srgbClr val="E8F6FF"/>
                </a:solidFill>
                <a:latin typeface="Arial"/>
              </a:rPr>
              <a:t>Writes</a:t>
            </a:r>
          </a:p>
          <a:p>
            <a:pPr>
              <a:lnSpc>
                <a:spcPts val="874"/>
              </a:lnSpc>
            </a:pPr>
            <a:r>
              <a:rPr sz="759" dirty="0">
                <a:solidFill>
                  <a:srgbClr val="E8F6FF"/>
                </a:solidFill>
                <a:latin typeface="Arial"/>
              </a:rPr>
              <a:t>(Orders)</a:t>
            </a:r>
          </a:p>
        </p:txBody>
      </p:sp>
      <p:sp>
        <p:nvSpPr>
          <p:cNvPr id="76" name="Rounded Rectangle 75"/>
          <p:cNvSpPr/>
          <p:nvPr/>
        </p:nvSpPr>
        <p:spPr>
          <a:xfrm>
            <a:off x="8834685" y="1011224"/>
            <a:ext cx="2183171" cy="636200"/>
          </a:xfrm>
          <a:prstGeom prst="roundRect">
            <a:avLst>
              <a:gd name="adj" fmla="val 5263"/>
            </a:avLst>
          </a:prstGeom>
          <a:solidFill>
            <a:srgbClr val="0C2330"/>
          </a:solidFill>
          <a:ln w="7937" cap="rnd">
            <a:solidFill>
              <a:srgbClr val="9FB6CD"/>
            </a:solidFill>
            <a:prstDash val="dash"/>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ln>
                <a:solidFill>
                  <a:schemeClr val="tx1"/>
                </a:solidFill>
                <a:prstDash val="dash"/>
              </a:ln>
            </a:endParaRPr>
          </a:p>
        </p:txBody>
      </p:sp>
      <p:pic>
        <p:nvPicPr>
          <p:cNvPr id="77" name="Picture 76" descr="pic_77.png"/>
          <p:cNvPicPr>
            <a:picLocks noChangeAspect="1"/>
          </p:cNvPicPr>
          <p:nvPr/>
        </p:nvPicPr>
        <p:blipFill>
          <a:blip r:embed="rId9"/>
          <a:stretch>
            <a:fillRect/>
          </a:stretch>
        </p:blipFill>
        <p:spPr>
          <a:xfrm>
            <a:off x="8905136" y="1096676"/>
            <a:ext cx="435027" cy="411722"/>
          </a:xfrm>
          <a:prstGeom prst="rect">
            <a:avLst/>
          </a:prstGeom>
          <a:effectLst/>
        </p:spPr>
      </p:pic>
      <p:sp>
        <p:nvSpPr>
          <p:cNvPr id="78" name="TextBox 77"/>
          <p:cNvSpPr txBox="1"/>
          <p:nvPr/>
        </p:nvSpPr>
        <p:spPr>
          <a:xfrm>
            <a:off x="9360626" y="1134973"/>
            <a:ext cx="1536152" cy="461665"/>
          </a:xfrm>
          <a:prstGeom prst="rect">
            <a:avLst/>
          </a:prstGeom>
          <a:noFill/>
        </p:spPr>
        <p:txBody>
          <a:bodyPr wrap="square" lIns="0" tIns="0" rIns="0" bIns="0" anchor="t">
            <a:spAutoFit/>
          </a:bodyPr>
          <a:lstStyle/>
          <a:p>
            <a:pPr algn="ctr">
              <a:lnSpc>
                <a:spcPts val="918"/>
              </a:lnSpc>
            </a:pPr>
            <a:r>
              <a:rPr sz="759" b="1" dirty="0">
                <a:solidFill>
                  <a:srgbClr val="FBFBFF"/>
                </a:solidFill>
                <a:latin typeface="Arial"/>
              </a:rPr>
              <a:t>Optional: </a:t>
            </a:r>
            <a:r>
              <a:rPr sz="759" b="1" dirty="0" err="1">
                <a:solidFill>
                  <a:srgbClr val="FBFBFF"/>
                </a:solidFill>
                <a:latin typeface="Arial"/>
              </a:rPr>
              <a:t>DynamoDB</a:t>
            </a:r>
            <a:r>
              <a:rPr sz="759" b="1" dirty="0">
                <a:solidFill>
                  <a:srgbClr val="FBFBFF"/>
                </a:solidFill>
                <a:latin typeface="Arial"/>
              </a:rPr>
              <a:t> Accelerator</a:t>
            </a:r>
            <a:r>
              <a:rPr lang="en-US" sz="759" b="1" dirty="0">
                <a:solidFill>
                  <a:srgbClr val="FBFBFF"/>
                </a:solidFill>
                <a:latin typeface="Arial"/>
              </a:rPr>
              <a:t> </a:t>
            </a:r>
            <a:r>
              <a:rPr sz="759" b="1" dirty="0">
                <a:solidFill>
                  <a:srgbClr val="FBFBFF"/>
                </a:solidFill>
                <a:latin typeface="Arial"/>
              </a:rPr>
              <a:t>(DAX)</a:t>
            </a:r>
          </a:p>
          <a:p>
            <a:pPr algn="ctr">
              <a:lnSpc>
                <a:spcPts val="918"/>
              </a:lnSpc>
            </a:pPr>
            <a:r>
              <a:rPr sz="759" b="1" dirty="0">
                <a:solidFill>
                  <a:srgbClr val="DCE9F4"/>
                </a:solidFill>
                <a:latin typeface="Arial"/>
              </a:rPr>
              <a:t>(</a:t>
            </a:r>
            <a:r>
              <a:rPr sz="759" dirty="0">
                <a:solidFill>
                  <a:srgbClr val="DCE9F4"/>
                </a:solidFill>
                <a:latin typeface="Arial"/>
              </a:rPr>
              <a:t>Only for demonstrated</a:t>
            </a:r>
          </a:p>
          <a:p>
            <a:pPr algn="ctr">
              <a:lnSpc>
                <a:spcPts val="918"/>
              </a:lnSpc>
            </a:pPr>
            <a:r>
              <a:rPr sz="759" dirty="0">
                <a:solidFill>
                  <a:srgbClr val="DCE9F4"/>
                </a:solidFill>
                <a:latin typeface="Arial"/>
              </a:rPr>
              <a:t>read-latency/throughput need)</a:t>
            </a:r>
          </a:p>
        </p:txBody>
      </p:sp>
      <p:cxnSp>
        <p:nvCxnSpPr>
          <p:cNvPr id="79" name="Connector 78"/>
          <p:cNvCxnSpPr/>
          <p:nvPr/>
        </p:nvCxnSpPr>
        <p:spPr>
          <a:xfrm>
            <a:off x="8627083" y="1325975"/>
            <a:ext cx="207602" cy="0"/>
          </a:xfrm>
          <a:prstGeom prst="line">
            <a:avLst/>
          </a:prstGeom>
          <a:ln w="7937" cap="rnd">
            <a:solidFill>
              <a:srgbClr val="B5D7FF"/>
            </a:solidFill>
            <a:prstDash val="dash"/>
            <a:round/>
            <a:headEnd type="triangle" w="med" len="med"/>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a:off x="7883734" y="1816810"/>
            <a:ext cx="6418" cy="135932"/>
          </a:xfrm>
          <a:prstGeom prst="line">
            <a:avLst/>
          </a:prstGeom>
          <a:ln w="15874" cap="rnd">
            <a:solidFill>
              <a:srgbClr val="9EE6CF"/>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7242607" y="1696018"/>
            <a:ext cx="1403210" cy="89768"/>
          </a:xfrm>
          <a:prstGeom prst="rect">
            <a:avLst/>
          </a:prstGeom>
          <a:noFill/>
        </p:spPr>
        <p:txBody>
          <a:bodyPr wrap="square" lIns="0" tIns="0" rIns="0" bIns="0" anchor="t">
            <a:spAutoFit/>
          </a:bodyPr>
          <a:lstStyle/>
          <a:p>
            <a:pPr algn="ctr">
              <a:lnSpc>
                <a:spcPts val="713"/>
              </a:lnSpc>
            </a:pPr>
            <a:r>
              <a:rPr sz="759" dirty="0">
                <a:solidFill>
                  <a:srgbClr val="D1F9E8"/>
                </a:solidFill>
                <a:latin typeface="Arial"/>
              </a:rPr>
              <a:t>INSERT / MODIFY / REMOVE</a:t>
            </a:r>
          </a:p>
        </p:txBody>
      </p:sp>
      <p:sp>
        <p:nvSpPr>
          <p:cNvPr id="84" name="TextBox 83"/>
          <p:cNvSpPr txBox="1"/>
          <p:nvPr/>
        </p:nvSpPr>
        <p:spPr>
          <a:xfrm>
            <a:off x="6958631" y="2783721"/>
            <a:ext cx="1882751" cy="307777"/>
          </a:xfrm>
          <a:prstGeom prst="rect">
            <a:avLst/>
          </a:prstGeom>
          <a:noFill/>
        </p:spPr>
        <p:txBody>
          <a:bodyPr wrap="square" lIns="0" tIns="0" rIns="0" bIns="0" anchor="t">
            <a:spAutoFit/>
          </a:bodyPr>
          <a:lstStyle/>
          <a:p>
            <a:pPr algn="ctr">
              <a:lnSpc>
                <a:spcPts val="806"/>
              </a:lnSpc>
            </a:pPr>
            <a:r>
              <a:rPr sz="770" b="1" dirty="0">
                <a:solidFill>
                  <a:srgbClr val="FFF9EF"/>
                </a:solidFill>
                <a:latin typeface="Arial"/>
              </a:rPr>
              <a:t>Stream Processing Lambda</a:t>
            </a:r>
          </a:p>
          <a:p>
            <a:pPr algn="ctr">
              <a:lnSpc>
                <a:spcPts val="806"/>
              </a:lnSpc>
            </a:pPr>
            <a:r>
              <a:rPr sz="770" dirty="0">
                <a:solidFill>
                  <a:srgbClr val="E2F1F3"/>
                </a:solidFill>
                <a:latin typeface="Arial"/>
              </a:rPr>
              <a:t>(Validate, Transform,</a:t>
            </a:r>
          </a:p>
          <a:p>
            <a:pPr algn="ctr">
              <a:lnSpc>
                <a:spcPts val="806"/>
              </a:lnSpc>
            </a:pPr>
            <a:r>
              <a:rPr sz="770" dirty="0" err="1">
                <a:solidFill>
                  <a:srgbClr val="E2F1F3"/>
                </a:solidFill>
                <a:latin typeface="Arial"/>
              </a:rPr>
              <a:t>Idempotency</a:t>
            </a:r>
            <a:r>
              <a:rPr sz="770" dirty="0">
                <a:solidFill>
                  <a:srgbClr val="E2F1F3"/>
                </a:solidFill>
                <a:latin typeface="Arial"/>
              </a:rPr>
              <a:t>, Enrich)</a:t>
            </a:r>
          </a:p>
        </p:txBody>
      </p:sp>
      <p:cxnSp>
        <p:nvCxnSpPr>
          <p:cNvPr id="85" name="Connector 84"/>
          <p:cNvCxnSpPr/>
          <p:nvPr/>
        </p:nvCxnSpPr>
        <p:spPr>
          <a:xfrm>
            <a:off x="8128169" y="2484529"/>
            <a:ext cx="1615144" cy="0"/>
          </a:xfrm>
          <a:prstGeom prst="line">
            <a:avLst/>
          </a:prstGeom>
          <a:ln w="15874" cap="rnd">
            <a:solidFill>
              <a:srgbClr val="F454AE"/>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8154503" y="2199167"/>
            <a:ext cx="1549433" cy="269304"/>
          </a:xfrm>
          <a:prstGeom prst="rect">
            <a:avLst/>
          </a:prstGeom>
          <a:noFill/>
        </p:spPr>
        <p:txBody>
          <a:bodyPr wrap="square" lIns="0" tIns="0" rIns="0" bIns="0" anchor="t">
            <a:spAutoFit/>
          </a:bodyPr>
          <a:lstStyle/>
          <a:p>
            <a:pPr algn="ctr">
              <a:lnSpc>
                <a:spcPts val="694"/>
              </a:lnSpc>
            </a:pPr>
            <a:r>
              <a:rPr sz="759" b="1" dirty="0">
                <a:solidFill>
                  <a:srgbClr val="FFB5DD"/>
                </a:solidFill>
                <a:latin typeface="Arial"/>
              </a:rPr>
              <a:t>Lambda publishes</a:t>
            </a:r>
            <a:r>
              <a:rPr lang="en-US" sz="759" b="1" dirty="0">
                <a:solidFill>
                  <a:srgbClr val="FFB5DD"/>
                </a:solidFill>
                <a:latin typeface="Arial"/>
              </a:rPr>
              <a:t> </a:t>
            </a:r>
            <a:r>
              <a:rPr sz="759" b="1" dirty="0" err="1">
                <a:solidFill>
                  <a:srgbClr val="FFB5DD"/>
                </a:solidFill>
                <a:latin typeface="Arial"/>
              </a:rPr>
              <a:t>AppSync</a:t>
            </a:r>
            <a:r>
              <a:rPr sz="759" b="1" dirty="0">
                <a:solidFill>
                  <a:srgbClr val="FFB5DD"/>
                </a:solidFill>
                <a:latin typeface="Arial"/>
              </a:rPr>
              <a:t> mutation</a:t>
            </a:r>
          </a:p>
          <a:p>
            <a:pPr algn="ctr">
              <a:lnSpc>
                <a:spcPts val="694"/>
              </a:lnSpc>
            </a:pPr>
            <a:r>
              <a:rPr sz="759" dirty="0">
                <a:solidFill>
                  <a:srgbClr val="FFB5DD"/>
                </a:solidFill>
                <a:latin typeface="Arial"/>
              </a:rPr>
              <a:t>(e.g. </a:t>
            </a:r>
            <a:r>
              <a:rPr sz="759" dirty="0" err="1">
                <a:solidFill>
                  <a:srgbClr val="FFB5DD"/>
                </a:solidFill>
                <a:latin typeface="Arial"/>
              </a:rPr>
              <a:t>publishOrderUpdate</a:t>
            </a:r>
            <a:r>
              <a:rPr sz="759" dirty="0">
                <a:solidFill>
                  <a:srgbClr val="FFB5DD"/>
                </a:solidFill>
                <a:latin typeface="Arial"/>
              </a:rPr>
              <a:t>)</a:t>
            </a:r>
          </a:p>
        </p:txBody>
      </p:sp>
      <p:pic>
        <p:nvPicPr>
          <p:cNvPr id="87" name="Picture 86" descr="pic_87.png"/>
          <p:cNvPicPr>
            <a:picLocks noChangeAspect="1"/>
          </p:cNvPicPr>
          <p:nvPr/>
        </p:nvPicPr>
        <p:blipFill>
          <a:blip r:embed="rId10"/>
          <a:stretch>
            <a:fillRect/>
          </a:stretch>
        </p:blipFill>
        <p:spPr>
          <a:xfrm>
            <a:off x="9804656" y="2236211"/>
            <a:ext cx="403954" cy="396185"/>
          </a:xfrm>
          <a:prstGeom prst="rect">
            <a:avLst/>
          </a:prstGeom>
          <a:effectLst/>
        </p:spPr>
      </p:pic>
      <p:cxnSp>
        <p:nvCxnSpPr>
          <p:cNvPr id="88" name="Connector 87"/>
          <p:cNvCxnSpPr/>
          <p:nvPr/>
        </p:nvCxnSpPr>
        <p:spPr>
          <a:xfrm>
            <a:off x="9986542" y="2705525"/>
            <a:ext cx="0" cy="683078"/>
          </a:xfrm>
          <a:prstGeom prst="line">
            <a:avLst/>
          </a:prstGeom>
          <a:ln w="15874" cap="rnd">
            <a:solidFill>
              <a:srgbClr val="8AF5A8"/>
            </a:solidFill>
            <a:prstDash val="dash"/>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89" name="TextBox 88"/>
          <p:cNvSpPr txBox="1"/>
          <p:nvPr/>
        </p:nvSpPr>
        <p:spPr>
          <a:xfrm>
            <a:off x="10093692" y="2792675"/>
            <a:ext cx="990865" cy="461665"/>
          </a:xfrm>
          <a:prstGeom prst="rect">
            <a:avLst/>
          </a:prstGeom>
          <a:noFill/>
        </p:spPr>
        <p:txBody>
          <a:bodyPr wrap="square" lIns="0" tIns="0" rIns="0" bIns="0" anchor="t">
            <a:spAutoFit/>
          </a:bodyPr>
          <a:lstStyle/>
          <a:p>
            <a:pPr algn="ctr">
              <a:lnSpc>
                <a:spcPts val="862"/>
              </a:lnSpc>
            </a:pPr>
            <a:r>
              <a:rPr sz="759" b="1" dirty="0" err="1">
                <a:solidFill>
                  <a:srgbClr val="A8E9C5"/>
                </a:solidFill>
                <a:latin typeface="Arial"/>
              </a:rPr>
              <a:t>GraphQL</a:t>
            </a:r>
            <a:r>
              <a:rPr sz="759" b="1" dirty="0">
                <a:solidFill>
                  <a:srgbClr val="A8E9C5"/>
                </a:solidFill>
                <a:latin typeface="Arial"/>
              </a:rPr>
              <a:t> Subscriptions</a:t>
            </a:r>
          </a:p>
          <a:p>
            <a:pPr algn="ctr">
              <a:lnSpc>
                <a:spcPts val="862"/>
              </a:lnSpc>
            </a:pPr>
            <a:r>
              <a:rPr sz="759" dirty="0">
                <a:solidFill>
                  <a:srgbClr val="A8E9C5"/>
                </a:solidFill>
                <a:latin typeface="Arial"/>
              </a:rPr>
              <a:t>(Real-time updates</a:t>
            </a:r>
          </a:p>
          <a:p>
            <a:pPr algn="ctr">
              <a:lnSpc>
                <a:spcPts val="862"/>
              </a:lnSpc>
            </a:pPr>
            <a:r>
              <a:rPr sz="759" dirty="0">
                <a:solidFill>
                  <a:srgbClr val="A8E9C5"/>
                </a:solidFill>
                <a:latin typeface="Arial"/>
              </a:rPr>
              <a:t>to connected clients)</a:t>
            </a:r>
          </a:p>
        </p:txBody>
      </p:sp>
      <p:cxnSp>
        <p:nvCxnSpPr>
          <p:cNvPr id="90" name="Connector 89"/>
          <p:cNvCxnSpPr/>
          <p:nvPr/>
        </p:nvCxnSpPr>
        <p:spPr>
          <a:xfrm>
            <a:off x="7859109" y="3136972"/>
            <a:ext cx="0" cy="267200"/>
          </a:xfrm>
          <a:prstGeom prst="line">
            <a:avLst/>
          </a:prstGeom>
          <a:ln w="15874" cap="rnd">
            <a:solidFill>
              <a:srgbClr val="9BE8D2"/>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6598546" y="3172052"/>
            <a:ext cx="1236773" cy="307777"/>
          </a:xfrm>
          <a:prstGeom prst="rect">
            <a:avLst/>
          </a:prstGeom>
          <a:noFill/>
        </p:spPr>
        <p:txBody>
          <a:bodyPr wrap="square" lIns="0" tIns="0" rIns="0" bIns="0" anchor="t">
            <a:spAutoFit/>
          </a:bodyPr>
          <a:lstStyle/>
          <a:p>
            <a:pPr algn="ctr">
              <a:lnSpc>
                <a:spcPts val="761"/>
              </a:lnSpc>
            </a:pPr>
            <a:r>
              <a:rPr sz="759" dirty="0">
                <a:solidFill>
                  <a:srgbClr val="E1FFF5"/>
                </a:solidFill>
                <a:latin typeface="Arial"/>
              </a:rPr>
              <a:t>Publish domain events</a:t>
            </a:r>
          </a:p>
          <a:p>
            <a:pPr algn="ctr">
              <a:lnSpc>
                <a:spcPts val="761"/>
              </a:lnSpc>
            </a:pPr>
            <a:r>
              <a:rPr sz="759" dirty="0">
                <a:solidFill>
                  <a:srgbClr val="D2F4E7"/>
                </a:solidFill>
                <a:latin typeface="Arial"/>
              </a:rPr>
              <a:t>(</a:t>
            </a:r>
            <a:r>
              <a:rPr sz="759" dirty="0" err="1">
                <a:solidFill>
                  <a:srgbClr val="D2F4E7"/>
                </a:solidFill>
                <a:latin typeface="Arial"/>
              </a:rPr>
              <a:t>OrderCreated</a:t>
            </a:r>
            <a:r>
              <a:rPr sz="759" dirty="0">
                <a:solidFill>
                  <a:srgbClr val="D2F4E7"/>
                </a:solidFill>
                <a:latin typeface="Arial"/>
              </a:rPr>
              <a:t>/Updated/Deleted)</a:t>
            </a:r>
          </a:p>
        </p:txBody>
      </p:sp>
      <p:sp>
        <p:nvSpPr>
          <p:cNvPr id="92" name="Rounded Rectangle 91"/>
          <p:cNvSpPr/>
          <p:nvPr/>
        </p:nvSpPr>
        <p:spPr>
          <a:xfrm>
            <a:off x="7615692" y="3395133"/>
            <a:ext cx="475811" cy="475811"/>
          </a:xfrm>
          <a:prstGeom prst="roundRect">
            <a:avLst>
              <a:gd name="adj" fmla="val 7037"/>
            </a:avLst>
          </a:prstGeom>
          <a:solidFill>
            <a:srgbClr val="DC1461"/>
          </a:solidFill>
          <a:ln w="7937" cap="rnd">
            <a:solidFill>
              <a:srgbClr val="FF5592"/>
            </a:solidFill>
            <a:round/>
          </a:ln>
          <a:effectLst>
            <a:outerShdw blurRad="90000" dist="25400" dir="5400000"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93" name="Picture 92" descr="pic_93.png"/>
          <p:cNvPicPr>
            <a:picLocks noChangeAspect="1"/>
          </p:cNvPicPr>
          <p:nvPr/>
        </p:nvPicPr>
        <p:blipFill>
          <a:blip r:embed="rId11"/>
          <a:stretch>
            <a:fillRect/>
          </a:stretch>
        </p:blipFill>
        <p:spPr>
          <a:xfrm>
            <a:off x="7663273" y="3458251"/>
            <a:ext cx="380649" cy="349575"/>
          </a:xfrm>
          <a:prstGeom prst="rect">
            <a:avLst/>
          </a:prstGeom>
          <a:effectLst/>
        </p:spPr>
      </p:pic>
      <p:sp>
        <p:nvSpPr>
          <p:cNvPr id="94" name="TextBox 93"/>
          <p:cNvSpPr txBox="1"/>
          <p:nvPr/>
        </p:nvSpPr>
        <p:spPr>
          <a:xfrm>
            <a:off x="8124550" y="3517426"/>
            <a:ext cx="752190" cy="230832"/>
          </a:xfrm>
          <a:prstGeom prst="rect">
            <a:avLst/>
          </a:prstGeom>
          <a:noFill/>
        </p:spPr>
        <p:txBody>
          <a:bodyPr wrap="square" lIns="0" tIns="0" rIns="0" bIns="0" anchor="t">
            <a:spAutoFit/>
          </a:bodyPr>
          <a:lstStyle/>
          <a:p>
            <a:pPr>
              <a:lnSpc>
                <a:spcPts val="895"/>
              </a:lnSpc>
            </a:pPr>
            <a:r>
              <a:rPr sz="759" b="1" dirty="0">
                <a:solidFill>
                  <a:srgbClr val="FDF5FB"/>
                </a:solidFill>
                <a:latin typeface="Arial"/>
              </a:rPr>
              <a:t>Amazon SNS</a:t>
            </a:r>
          </a:p>
          <a:p>
            <a:pPr>
              <a:lnSpc>
                <a:spcPts val="895"/>
              </a:lnSpc>
            </a:pPr>
            <a:r>
              <a:rPr sz="759" dirty="0">
                <a:solidFill>
                  <a:srgbClr val="DBEEF5"/>
                </a:solidFill>
                <a:latin typeface="Arial"/>
              </a:rPr>
              <a:t>(Topic - Fan-out)</a:t>
            </a:r>
          </a:p>
        </p:txBody>
      </p:sp>
      <p:cxnSp>
        <p:nvCxnSpPr>
          <p:cNvPr id="95" name="Connector 94"/>
          <p:cNvCxnSpPr/>
          <p:nvPr/>
        </p:nvCxnSpPr>
        <p:spPr>
          <a:xfrm flipV="1">
            <a:off x="8863323" y="3649780"/>
            <a:ext cx="446815" cy="3495"/>
          </a:xfrm>
          <a:prstGeom prst="line">
            <a:avLst/>
          </a:prstGeom>
          <a:ln w="7937" cap="rnd">
            <a:solidFill>
              <a:srgbClr val="B8D8EB"/>
            </a:solidFill>
            <a:prstDash val="dash"/>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96" name="Rounded Rectangle 95"/>
          <p:cNvSpPr/>
          <p:nvPr/>
        </p:nvSpPr>
        <p:spPr>
          <a:xfrm>
            <a:off x="9323555" y="3381906"/>
            <a:ext cx="1613939" cy="529051"/>
          </a:xfrm>
          <a:prstGeom prst="roundRect">
            <a:avLst>
              <a:gd name="adj" fmla="val 6329"/>
            </a:avLst>
          </a:prstGeom>
          <a:solidFill>
            <a:srgbClr val="071B23"/>
          </a:solidFill>
          <a:ln w="7937" cap="rnd">
            <a:solidFill>
              <a:srgbClr val="9DB5C4"/>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7" name="Rounded Rectangle 96"/>
          <p:cNvSpPr/>
          <p:nvPr/>
        </p:nvSpPr>
        <p:spPr>
          <a:xfrm>
            <a:off x="9431375" y="3436151"/>
            <a:ext cx="427259" cy="427259"/>
          </a:xfrm>
          <a:prstGeom prst="roundRect">
            <a:avLst>
              <a:gd name="adj" fmla="val 6269"/>
            </a:avLst>
          </a:prstGeom>
          <a:solidFill>
            <a:srgbClr val="D3126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98" name="Picture 97" descr="pic_98.png"/>
          <p:cNvPicPr>
            <a:picLocks noChangeAspect="1"/>
          </p:cNvPicPr>
          <p:nvPr/>
        </p:nvPicPr>
        <p:blipFill>
          <a:blip r:embed="rId12"/>
          <a:stretch>
            <a:fillRect/>
          </a:stretch>
        </p:blipFill>
        <p:spPr>
          <a:xfrm>
            <a:off x="9474100" y="3478876"/>
            <a:ext cx="341807" cy="341807"/>
          </a:xfrm>
          <a:prstGeom prst="rect">
            <a:avLst/>
          </a:prstGeom>
          <a:effectLst/>
        </p:spPr>
      </p:pic>
      <p:sp>
        <p:nvSpPr>
          <p:cNvPr id="99" name="TextBox 98"/>
          <p:cNvSpPr txBox="1"/>
          <p:nvPr/>
        </p:nvSpPr>
        <p:spPr>
          <a:xfrm>
            <a:off x="9875232" y="3458452"/>
            <a:ext cx="1028099" cy="384721"/>
          </a:xfrm>
          <a:prstGeom prst="rect">
            <a:avLst/>
          </a:prstGeom>
          <a:noFill/>
        </p:spPr>
        <p:txBody>
          <a:bodyPr wrap="square" lIns="0" tIns="0" rIns="0" bIns="0" anchor="t">
            <a:spAutoFit/>
          </a:bodyPr>
          <a:lstStyle/>
          <a:p>
            <a:pPr algn="ctr">
              <a:lnSpc>
                <a:spcPts val="996"/>
              </a:lnSpc>
            </a:pPr>
            <a:r>
              <a:rPr sz="759" b="1" dirty="0">
                <a:solidFill>
                  <a:srgbClr val="F8FBFF"/>
                </a:solidFill>
                <a:latin typeface="Arial"/>
              </a:rPr>
              <a:t>Amazon </a:t>
            </a:r>
            <a:r>
              <a:rPr sz="759" b="1" dirty="0" err="1">
                <a:solidFill>
                  <a:srgbClr val="F8FBFF"/>
                </a:solidFill>
                <a:latin typeface="Arial"/>
              </a:rPr>
              <a:t>EventBridge</a:t>
            </a:r>
            <a:endParaRPr sz="759" b="1" dirty="0">
              <a:solidFill>
                <a:srgbClr val="F8FBFF"/>
              </a:solidFill>
              <a:latin typeface="Arial"/>
            </a:endParaRPr>
          </a:p>
          <a:p>
            <a:pPr algn="ctr">
              <a:lnSpc>
                <a:spcPts val="996"/>
              </a:lnSpc>
            </a:pPr>
            <a:r>
              <a:rPr sz="759" dirty="0">
                <a:solidFill>
                  <a:srgbClr val="D8EDF1"/>
                </a:solidFill>
                <a:latin typeface="Arial"/>
              </a:rPr>
              <a:t>(Optional - additional</a:t>
            </a:r>
          </a:p>
          <a:p>
            <a:pPr algn="ctr">
              <a:lnSpc>
                <a:spcPts val="996"/>
              </a:lnSpc>
            </a:pPr>
            <a:r>
              <a:rPr sz="759" dirty="0">
                <a:solidFill>
                  <a:srgbClr val="D8EDF1"/>
                </a:solidFill>
                <a:latin typeface="Arial"/>
              </a:rPr>
              <a:t>event routing)</a:t>
            </a:r>
          </a:p>
        </p:txBody>
      </p:sp>
      <p:sp>
        <p:nvSpPr>
          <p:cNvPr id="100" name="Freeform 99"/>
          <p:cNvSpPr/>
          <p:nvPr/>
        </p:nvSpPr>
        <p:spPr>
          <a:xfrm>
            <a:off x="7080112" y="3836560"/>
            <a:ext cx="763440" cy="341539"/>
          </a:xfrm>
          <a:custGeom>
            <a:avLst/>
            <a:gdLst/>
            <a:ahLst/>
            <a:cxnLst/>
            <a:rect l="l" t="t" r="r" b="b"/>
            <a:pathLst>
              <a:path w="114" h="51">
                <a:moveTo>
                  <a:pt x="114" y="0"/>
                </a:moveTo>
                <a:lnTo>
                  <a:pt x="114" y="15"/>
                </a:lnTo>
                <a:lnTo>
                  <a:pt x="113" y="19"/>
                </a:lnTo>
                <a:lnTo>
                  <a:pt x="112" y="22"/>
                </a:lnTo>
                <a:lnTo>
                  <a:pt x="109" y="23"/>
                </a:lnTo>
                <a:lnTo>
                  <a:pt x="105" y="24"/>
                </a:lnTo>
                <a:lnTo>
                  <a:pt x="9" y="24"/>
                </a:lnTo>
                <a:lnTo>
                  <a:pt x="5" y="25"/>
                </a:lnTo>
                <a:lnTo>
                  <a:pt x="2" y="26"/>
                </a:lnTo>
                <a:lnTo>
                  <a:pt x="1" y="29"/>
                </a:lnTo>
                <a:lnTo>
                  <a:pt x="0" y="33"/>
                </a:lnTo>
                <a:lnTo>
                  <a:pt x="0" y="51"/>
                </a:lnTo>
              </a:path>
            </a:pathLst>
          </a:custGeom>
          <a:noFill/>
          <a:ln w="15874" cap="rnd">
            <a:solidFill>
              <a:srgbClr val="FB72B4"/>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1" name="Rectangle 100"/>
          <p:cNvSpPr/>
          <p:nvPr/>
        </p:nvSpPr>
        <p:spPr>
          <a:xfrm>
            <a:off x="8031064" y="4172134"/>
            <a:ext cx="1473306" cy="1151857"/>
          </a:xfrm>
          <a:prstGeom prst="rect">
            <a:avLst/>
          </a:prstGeom>
          <a:solidFill>
            <a:srgbClr val="0C2530"/>
          </a:solidFill>
          <a:ln w="7937" cap="rnd">
            <a:solidFill>
              <a:srgbClr val="375A6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2" name="Freeform 101"/>
          <p:cNvSpPr/>
          <p:nvPr/>
        </p:nvSpPr>
        <p:spPr>
          <a:xfrm>
            <a:off x="7850249" y="3830595"/>
            <a:ext cx="683078" cy="341539"/>
          </a:xfrm>
          <a:custGeom>
            <a:avLst/>
            <a:gdLst/>
            <a:ahLst/>
            <a:cxnLst/>
            <a:rect l="l" t="t" r="r" b="b"/>
            <a:pathLst>
              <a:path w="102" h="51">
                <a:moveTo>
                  <a:pt x="0" y="0"/>
                </a:moveTo>
                <a:lnTo>
                  <a:pt x="0" y="15"/>
                </a:lnTo>
                <a:lnTo>
                  <a:pt x="1" y="19"/>
                </a:lnTo>
                <a:lnTo>
                  <a:pt x="2" y="22"/>
                </a:lnTo>
                <a:lnTo>
                  <a:pt x="5" y="23"/>
                </a:lnTo>
                <a:lnTo>
                  <a:pt x="9" y="24"/>
                </a:lnTo>
                <a:lnTo>
                  <a:pt x="93" y="24"/>
                </a:lnTo>
                <a:lnTo>
                  <a:pt x="97" y="25"/>
                </a:lnTo>
                <a:lnTo>
                  <a:pt x="100" y="26"/>
                </a:lnTo>
                <a:lnTo>
                  <a:pt x="101" y="29"/>
                </a:lnTo>
                <a:lnTo>
                  <a:pt x="102" y="33"/>
                </a:lnTo>
                <a:lnTo>
                  <a:pt x="102" y="51"/>
                </a:lnTo>
              </a:path>
            </a:pathLst>
          </a:custGeom>
          <a:noFill/>
          <a:ln w="15874" cap="rnd">
            <a:solidFill>
              <a:srgbClr val="FB72B4"/>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Freeform 102"/>
          <p:cNvSpPr/>
          <p:nvPr/>
        </p:nvSpPr>
        <p:spPr>
          <a:xfrm>
            <a:off x="7845068" y="3830595"/>
            <a:ext cx="2230049" cy="341539"/>
          </a:xfrm>
          <a:custGeom>
            <a:avLst/>
            <a:gdLst/>
            <a:ahLst/>
            <a:cxnLst/>
            <a:rect l="l" t="t" r="r" b="b"/>
            <a:pathLst>
              <a:path w="333" h="51">
                <a:moveTo>
                  <a:pt x="0" y="0"/>
                </a:moveTo>
                <a:lnTo>
                  <a:pt x="0" y="15"/>
                </a:lnTo>
                <a:lnTo>
                  <a:pt x="1" y="19"/>
                </a:lnTo>
                <a:lnTo>
                  <a:pt x="2" y="22"/>
                </a:lnTo>
                <a:lnTo>
                  <a:pt x="5" y="23"/>
                </a:lnTo>
                <a:lnTo>
                  <a:pt x="9" y="24"/>
                </a:lnTo>
                <a:lnTo>
                  <a:pt x="324" y="24"/>
                </a:lnTo>
                <a:lnTo>
                  <a:pt x="328" y="25"/>
                </a:lnTo>
                <a:lnTo>
                  <a:pt x="331" y="26"/>
                </a:lnTo>
                <a:lnTo>
                  <a:pt x="332" y="29"/>
                </a:lnTo>
                <a:lnTo>
                  <a:pt x="333" y="33"/>
                </a:lnTo>
                <a:lnTo>
                  <a:pt x="333" y="51"/>
                </a:lnTo>
              </a:path>
            </a:pathLst>
          </a:custGeom>
          <a:noFill/>
          <a:ln w="15874" cap="rnd">
            <a:solidFill>
              <a:srgbClr val="FB72B4"/>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4" name="Rectangle 103"/>
          <p:cNvSpPr/>
          <p:nvPr/>
        </p:nvSpPr>
        <p:spPr>
          <a:xfrm>
            <a:off x="6604636" y="4172134"/>
            <a:ext cx="1366156" cy="1151857"/>
          </a:xfrm>
          <a:prstGeom prst="rect">
            <a:avLst/>
          </a:prstGeom>
          <a:solidFill>
            <a:srgbClr val="0C2530"/>
          </a:solidFill>
          <a:ln w="7937" cap="rnd">
            <a:solidFill>
              <a:srgbClr val="375A6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Rectangle 104"/>
          <p:cNvSpPr/>
          <p:nvPr/>
        </p:nvSpPr>
        <p:spPr>
          <a:xfrm>
            <a:off x="9564642" y="4172134"/>
            <a:ext cx="1480002" cy="1151857"/>
          </a:xfrm>
          <a:prstGeom prst="rect">
            <a:avLst/>
          </a:prstGeom>
          <a:solidFill>
            <a:srgbClr val="061D23"/>
          </a:solidFill>
          <a:ln w="7937" cap="rnd">
            <a:solidFill>
              <a:srgbClr val="375A6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8" name="TextBox 107"/>
          <p:cNvSpPr txBox="1"/>
          <p:nvPr/>
        </p:nvSpPr>
        <p:spPr>
          <a:xfrm>
            <a:off x="7120347" y="4256514"/>
            <a:ext cx="823712" cy="205184"/>
          </a:xfrm>
          <a:prstGeom prst="rect">
            <a:avLst/>
          </a:prstGeom>
          <a:noFill/>
        </p:spPr>
        <p:txBody>
          <a:bodyPr wrap="square" lIns="0" tIns="0" rIns="0" bIns="0" anchor="t">
            <a:spAutoFit/>
          </a:bodyPr>
          <a:lstStyle/>
          <a:p>
            <a:pPr>
              <a:lnSpc>
                <a:spcPts val="753"/>
              </a:lnSpc>
            </a:pPr>
            <a:r>
              <a:rPr sz="759" b="1" dirty="0">
                <a:solidFill>
                  <a:srgbClr val="F6FBFF"/>
                </a:solidFill>
                <a:latin typeface="Arial"/>
              </a:rPr>
              <a:t>SQS Queue</a:t>
            </a:r>
          </a:p>
          <a:p>
            <a:pPr>
              <a:lnSpc>
                <a:spcPts val="753"/>
              </a:lnSpc>
            </a:pPr>
            <a:r>
              <a:rPr sz="759" dirty="0">
                <a:solidFill>
                  <a:srgbClr val="DBEAF1"/>
                </a:solidFill>
                <a:latin typeface="Arial"/>
              </a:rPr>
              <a:t>(Order </a:t>
            </a:r>
            <a:r>
              <a:rPr lang="en-US" sz="759" dirty="0">
                <a:solidFill>
                  <a:srgbClr val="DBEAF1"/>
                </a:solidFill>
                <a:latin typeface="Arial"/>
              </a:rPr>
              <a:t>P</a:t>
            </a:r>
            <a:r>
              <a:rPr sz="759" dirty="0">
                <a:solidFill>
                  <a:srgbClr val="DBEAF1"/>
                </a:solidFill>
                <a:latin typeface="Arial"/>
              </a:rPr>
              <a:t>rocessor)</a:t>
            </a:r>
          </a:p>
        </p:txBody>
      </p:sp>
      <p:cxnSp>
        <p:nvCxnSpPr>
          <p:cNvPr id="109" name="Connector 108"/>
          <p:cNvCxnSpPr/>
          <p:nvPr/>
        </p:nvCxnSpPr>
        <p:spPr>
          <a:xfrm>
            <a:off x="6939573" y="4419772"/>
            <a:ext cx="0" cy="160724"/>
          </a:xfrm>
          <a:prstGeom prst="line">
            <a:avLst/>
          </a:prstGeom>
          <a:ln w="15874" cap="rnd">
            <a:solidFill>
              <a:srgbClr val="FF73B5"/>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10" name="Rounded Rectangle 109"/>
          <p:cNvSpPr/>
          <p:nvPr/>
        </p:nvSpPr>
        <p:spPr>
          <a:xfrm>
            <a:off x="6752061" y="4570450"/>
            <a:ext cx="388417" cy="388417"/>
          </a:xfrm>
          <a:prstGeom prst="roundRect">
            <a:avLst>
              <a:gd name="adj" fmla="val 6896"/>
            </a:avLst>
          </a:prstGeom>
          <a:solidFill>
            <a:srgbClr val="ED750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11" name="Picture 110" descr="pic_111.png"/>
          <p:cNvPicPr>
            <a:picLocks noChangeAspect="1"/>
          </p:cNvPicPr>
          <p:nvPr/>
        </p:nvPicPr>
        <p:blipFill>
          <a:blip r:embed="rId13"/>
          <a:stretch>
            <a:fillRect/>
          </a:stretch>
        </p:blipFill>
        <p:spPr>
          <a:xfrm>
            <a:off x="6790904" y="4613177"/>
            <a:ext cx="310734" cy="302965"/>
          </a:xfrm>
          <a:prstGeom prst="rect">
            <a:avLst/>
          </a:prstGeom>
          <a:effectLst/>
        </p:spPr>
      </p:pic>
      <p:sp>
        <p:nvSpPr>
          <p:cNvPr id="112" name="TextBox 111"/>
          <p:cNvSpPr txBox="1"/>
          <p:nvPr/>
        </p:nvSpPr>
        <p:spPr>
          <a:xfrm>
            <a:off x="6627031" y="4996650"/>
            <a:ext cx="745376" cy="269304"/>
          </a:xfrm>
          <a:prstGeom prst="rect">
            <a:avLst/>
          </a:prstGeom>
          <a:noFill/>
        </p:spPr>
        <p:txBody>
          <a:bodyPr wrap="square" lIns="0" tIns="0" rIns="0" bIns="0" anchor="t">
            <a:spAutoFit/>
          </a:bodyPr>
          <a:lstStyle/>
          <a:p>
            <a:pPr algn="ctr">
              <a:lnSpc>
                <a:spcPts val="660"/>
              </a:lnSpc>
            </a:pPr>
            <a:r>
              <a:rPr sz="759" b="1" dirty="0">
                <a:solidFill>
                  <a:srgbClr val="F3FAFF"/>
                </a:solidFill>
                <a:latin typeface="Arial"/>
              </a:rPr>
              <a:t>Lambda </a:t>
            </a:r>
            <a:endParaRPr lang="en-US" sz="759" b="1" dirty="0">
              <a:solidFill>
                <a:srgbClr val="F3FAFF"/>
              </a:solidFill>
              <a:latin typeface="Arial"/>
            </a:endParaRPr>
          </a:p>
          <a:p>
            <a:pPr algn="ctr">
              <a:lnSpc>
                <a:spcPts val="660"/>
              </a:lnSpc>
            </a:pPr>
            <a:r>
              <a:rPr sz="759" b="1" dirty="0">
                <a:solidFill>
                  <a:srgbClr val="F3FAFF"/>
                </a:solidFill>
                <a:latin typeface="Arial"/>
              </a:rPr>
              <a:t>Consumer</a:t>
            </a:r>
          </a:p>
          <a:p>
            <a:pPr algn="ctr">
              <a:lnSpc>
                <a:spcPts val="660"/>
              </a:lnSpc>
            </a:pPr>
            <a:r>
              <a:rPr sz="759" dirty="0">
                <a:solidFill>
                  <a:srgbClr val="DCECF2"/>
                </a:solidFill>
                <a:latin typeface="Arial"/>
              </a:rPr>
              <a:t>(Order Service)</a:t>
            </a:r>
          </a:p>
        </p:txBody>
      </p:sp>
      <p:sp>
        <p:nvSpPr>
          <p:cNvPr id="116" name="TextBox 115"/>
          <p:cNvSpPr txBox="1"/>
          <p:nvPr/>
        </p:nvSpPr>
        <p:spPr>
          <a:xfrm>
            <a:off x="7446072" y="4930039"/>
            <a:ext cx="518024" cy="179536"/>
          </a:xfrm>
          <a:prstGeom prst="rect">
            <a:avLst/>
          </a:prstGeom>
          <a:noFill/>
        </p:spPr>
        <p:txBody>
          <a:bodyPr wrap="square" lIns="0" tIns="0" rIns="0" bIns="0" anchor="t">
            <a:spAutoFit/>
          </a:bodyPr>
          <a:lstStyle/>
          <a:p>
            <a:pPr algn="ctr">
              <a:lnSpc>
                <a:spcPts val="672"/>
              </a:lnSpc>
            </a:pPr>
            <a:r>
              <a:rPr sz="759" b="1" dirty="0">
                <a:solidFill>
                  <a:srgbClr val="F5FBFF"/>
                </a:solidFill>
                <a:latin typeface="Arial"/>
              </a:rPr>
              <a:t>DLQ</a:t>
            </a:r>
          </a:p>
          <a:p>
            <a:pPr algn="ctr">
              <a:lnSpc>
                <a:spcPts val="672"/>
              </a:lnSpc>
            </a:pPr>
            <a:r>
              <a:rPr sz="759" dirty="0">
                <a:solidFill>
                  <a:srgbClr val="DCEBF2"/>
                </a:solidFill>
                <a:latin typeface="Arial"/>
              </a:rPr>
              <a:t>(on failure)</a:t>
            </a:r>
          </a:p>
        </p:txBody>
      </p:sp>
      <p:sp>
        <p:nvSpPr>
          <p:cNvPr id="119" name="TextBox 118"/>
          <p:cNvSpPr txBox="1"/>
          <p:nvPr/>
        </p:nvSpPr>
        <p:spPr>
          <a:xfrm>
            <a:off x="8580205" y="4227788"/>
            <a:ext cx="833757" cy="205184"/>
          </a:xfrm>
          <a:prstGeom prst="rect">
            <a:avLst/>
          </a:prstGeom>
          <a:noFill/>
        </p:spPr>
        <p:txBody>
          <a:bodyPr wrap="square" lIns="0" tIns="0" rIns="0" bIns="0" anchor="t">
            <a:spAutoFit/>
          </a:bodyPr>
          <a:lstStyle/>
          <a:p>
            <a:pPr>
              <a:lnSpc>
                <a:spcPts val="840"/>
              </a:lnSpc>
            </a:pPr>
            <a:r>
              <a:rPr sz="759" b="1" dirty="0">
                <a:solidFill>
                  <a:srgbClr val="F6FBFF"/>
                </a:solidFill>
                <a:latin typeface="Arial"/>
              </a:rPr>
              <a:t>SQS Queue</a:t>
            </a:r>
          </a:p>
          <a:p>
            <a:pPr>
              <a:lnSpc>
                <a:spcPts val="840"/>
              </a:lnSpc>
            </a:pPr>
            <a:r>
              <a:rPr sz="759" dirty="0">
                <a:solidFill>
                  <a:srgbClr val="DBEAF1"/>
                </a:solidFill>
                <a:latin typeface="Arial"/>
              </a:rPr>
              <a:t>(Inventory Service)</a:t>
            </a:r>
          </a:p>
        </p:txBody>
      </p:sp>
      <p:cxnSp>
        <p:nvCxnSpPr>
          <p:cNvPr id="120" name="Connector 119"/>
          <p:cNvCxnSpPr/>
          <p:nvPr/>
        </p:nvCxnSpPr>
        <p:spPr>
          <a:xfrm>
            <a:off x="8371601" y="4393827"/>
            <a:ext cx="0" cy="160724"/>
          </a:xfrm>
          <a:prstGeom prst="line">
            <a:avLst/>
          </a:prstGeom>
          <a:ln w="15874" cap="rnd">
            <a:solidFill>
              <a:srgbClr val="FF73B5"/>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21" name="Rounded Rectangle 120"/>
          <p:cNvSpPr/>
          <p:nvPr/>
        </p:nvSpPr>
        <p:spPr>
          <a:xfrm>
            <a:off x="8200831" y="4544505"/>
            <a:ext cx="388417" cy="388417"/>
          </a:xfrm>
          <a:prstGeom prst="roundRect">
            <a:avLst>
              <a:gd name="adj" fmla="val 6896"/>
            </a:avLst>
          </a:prstGeom>
          <a:solidFill>
            <a:srgbClr val="E5641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22" name="Picture 121" descr="pic_122.png"/>
          <p:cNvPicPr>
            <a:picLocks noChangeAspect="1"/>
          </p:cNvPicPr>
          <p:nvPr/>
        </p:nvPicPr>
        <p:blipFill>
          <a:blip r:embed="rId14"/>
          <a:stretch>
            <a:fillRect/>
          </a:stretch>
        </p:blipFill>
        <p:spPr>
          <a:xfrm>
            <a:off x="8243557" y="4587232"/>
            <a:ext cx="302965" cy="302965"/>
          </a:xfrm>
          <a:prstGeom prst="rect">
            <a:avLst/>
          </a:prstGeom>
          <a:effectLst/>
        </p:spPr>
      </p:pic>
      <p:sp>
        <p:nvSpPr>
          <p:cNvPr id="123" name="TextBox 122"/>
          <p:cNvSpPr txBox="1"/>
          <p:nvPr/>
        </p:nvSpPr>
        <p:spPr>
          <a:xfrm>
            <a:off x="8063313" y="4965265"/>
            <a:ext cx="844035" cy="230832"/>
          </a:xfrm>
          <a:prstGeom prst="rect">
            <a:avLst/>
          </a:prstGeom>
          <a:noFill/>
        </p:spPr>
        <p:txBody>
          <a:bodyPr wrap="square" lIns="0" tIns="0" rIns="0" bIns="0" anchor="t">
            <a:spAutoFit/>
          </a:bodyPr>
          <a:lstStyle/>
          <a:p>
            <a:pPr algn="ctr">
              <a:lnSpc>
                <a:spcPts val="621"/>
              </a:lnSpc>
            </a:pPr>
            <a:r>
              <a:rPr sz="759" b="1" dirty="0">
                <a:solidFill>
                  <a:srgbClr val="F3FAFF"/>
                </a:solidFill>
                <a:latin typeface="Arial"/>
              </a:rPr>
              <a:t>Lambda Consumer</a:t>
            </a:r>
          </a:p>
          <a:p>
            <a:pPr algn="ctr">
              <a:lnSpc>
                <a:spcPts val="621"/>
              </a:lnSpc>
            </a:pPr>
            <a:r>
              <a:rPr sz="759" dirty="0">
                <a:solidFill>
                  <a:srgbClr val="DCECF2"/>
                </a:solidFill>
                <a:latin typeface="Arial"/>
              </a:rPr>
              <a:t>(Inventory Service)</a:t>
            </a:r>
          </a:p>
        </p:txBody>
      </p:sp>
      <p:cxnSp>
        <p:nvCxnSpPr>
          <p:cNvPr id="124" name="Connector 123"/>
          <p:cNvCxnSpPr/>
          <p:nvPr/>
        </p:nvCxnSpPr>
        <p:spPr>
          <a:xfrm>
            <a:off x="8607245" y="4788243"/>
            <a:ext cx="394980" cy="0"/>
          </a:xfrm>
          <a:prstGeom prst="line">
            <a:avLst/>
          </a:prstGeom>
          <a:ln w="15874" cap="rnd">
            <a:solidFill>
              <a:srgbClr val="F965AE"/>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29" name="TextBox 128"/>
          <p:cNvSpPr txBox="1"/>
          <p:nvPr/>
        </p:nvSpPr>
        <p:spPr>
          <a:xfrm>
            <a:off x="10107085" y="4215829"/>
            <a:ext cx="904075" cy="230832"/>
          </a:xfrm>
          <a:prstGeom prst="rect">
            <a:avLst/>
          </a:prstGeom>
          <a:noFill/>
        </p:spPr>
        <p:txBody>
          <a:bodyPr wrap="square" lIns="0" tIns="0" rIns="0" bIns="0" anchor="t">
            <a:spAutoFit/>
          </a:bodyPr>
          <a:lstStyle/>
          <a:p>
            <a:pPr>
              <a:lnSpc>
                <a:spcPts val="867"/>
              </a:lnSpc>
            </a:pPr>
            <a:r>
              <a:rPr sz="759" b="1" dirty="0">
                <a:solidFill>
                  <a:srgbClr val="F6FBFF"/>
                </a:solidFill>
                <a:latin typeface="Arial"/>
              </a:rPr>
              <a:t>SQS Queue</a:t>
            </a:r>
          </a:p>
          <a:p>
            <a:pPr>
              <a:lnSpc>
                <a:spcPts val="867"/>
              </a:lnSpc>
            </a:pPr>
            <a:r>
              <a:rPr sz="759" dirty="0">
                <a:solidFill>
                  <a:srgbClr val="DBEAF1"/>
                </a:solidFill>
                <a:latin typeface="Arial"/>
              </a:rPr>
              <a:t>(Notification Service)</a:t>
            </a:r>
          </a:p>
        </p:txBody>
      </p:sp>
      <p:sp>
        <p:nvSpPr>
          <p:cNvPr id="131" name="Rounded Rectangle 130"/>
          <p:cNvSpPr/>
          <p:nvPr/>
        </p:nvSpPr>
        <p:spPr>
          <a:xfrm>
            <a:off x="9772436" y="4557036"/>
            <a:ext cx="388417" cy="388417"/>
          </a:xfrm>
          <a:prstGeom prst="roundRect">
            <a:avLst>
              <a:gd name="adj" fmla="val 6896"/>
            </a:avLst>
          </a:prstGeom>
          <a:solidFill>
            <a:srgbClr val="E5651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2" name="Picture 131" descr="pic_132.png"/>
          <p:cNvPicPr>
            <a:picLocks noChangeAspect="1"/>
          </p:cNvPicPr>
          <p:nvPr/>
        </p:nvPicPr>
        <p:blipFill>
          <a:blip r:embed="rId15"/>
          <a:stretch>
            <a:fillRect/>
          </a:stretch>
        </p:blipFill>
        <p:spPr>
          <a:xfrm>
            <a:off x="9811279" y="4599762"/>
            <a:ext cx="310734" cy="302965"/>
          </a:xfrm>
          <a:prstGeom prst="rect">
            <a:avLst/>
          </a:prstGeom>
          <a:effectLst/>
        </p:spPr>
      </p:pic>
      <p:sp>
        <p:nvSpPr>
          <p:cNvPr id="133" name="TextBox 132"/>
          <p:cNvSpPr txBox="1"/>
          <p:nvPr/>
        </p:nvSpPr>
        <p:spPr>
          <a:xfrm>
            <a:off x="9611519" y="4990343"/>
            <a:ext cx="894473" cy="153888"/>
          </a:xfrm>
          <a:prstGeom prst="rect">
            <a:avLst/>
          </a:prstGeom>
          <a:noFill/>
        </p:spPr>
        <p:txBody>
          <a:bodyPr wrap="square" lIns="0" tIns="0" rIns="0" bIns="0" anchor="t">
            <a:spAutoFit/>
          </a:bodyPr>
          <a:lstStyle/>
          <a:p>
            <a:pPr algn="ctr">
              <a:lnSpc>
                <a:spcPts val="597"/>
              </a:lnSpc>
            </a:pPr>
            <a:r>
              <a:rPr sz="759" b="1" dirty="0">
                <a:solidFill>
                  <a:srgbClr val="F3FAFF"/>
                </a:solidFill>
                <a:latin typeface="Arial"/>
              </a:rPr>
              <a:t>Lambda Consumer</a:t>
            </a:r>
          </a:p>
          <a:p>
            <a:pPr algn="ctr">
              <a:lnSpc>
                <a:spcPts val="597"/>
              </a:lnSpc>
            </a:pPr>
            <a:r>
              <a:rPr sz="759" dirty="0">
                <a:solidFill>
                  <a:srgbClr val="DCECF2"/>
                </a:solidFill>
                <a:latin typeface="Arial"/>
              </a:rPr>
              <a:t>(Notification Service)</a:t>
            </a:r>
          </a:p>
        </p:txBody>
      </p:sp>
      <p:sp>
        <p:nvSpPr>
          <p:cNvPr id="137" name="TextBox 136"/>
          <p:cNvSpPr txBox="1"/>
          <p:nvPr/>
        </p:nvSpPr>
        <p:spPr>
          <a:xfrm>
            <a:off x="1219220" y="5534626"/>
            <a:ext cx="3261899" cy="178895"/>
          </a:xfrm>
          <a:prstGeom prst="rect">
            <a:avLst/>
          </a:prstGeom>
          <a:noFill/>
        </p:spPr>
        <p:txBody>
          <a:bodyPr wrap="square" lIns="0" tIns="0" rIns="0" bIns="0" anchor="t">
            <a:spAutoFit/>
          </a:bodyPr>
          <a:lstStyle/>
          <a:p>
            <a:pPr algn="l">
              <a:lnSpc>
                <a:spcPct val="115000"/>
              </a:lnSpc>
            </a:pPr>
            <a:r>
              <a:rPr sz="1011" b="1" dirty="0">
                <a:solidFill>
                  <a:srgbClr val="FFFAF0"/>
                </a:solidFill>
                <a:latin typeface="Arial"/>
              </a:rPr>
              <a:t>Security &amp; Observability</a:t>
            </a:r>
            <a:r>
              <a:rPr sz="1011" b="1" dirty="0">
                <a:solidFill>
                  <a:srgbClr val="FFD66B"/>
                </a:solidFill>
                <a:latin typeface="Arial"/>
              </a:rPr>
              <a:t>  (Cross-Cutting Concerns)</a:t>
            </a:r>
          </a:p>
        </p:txBody>
      </p:sp>
      <p:cxnSp>
        <p:nvCxnSpPr>
          <p:cNvPr id="138" name="Connector 137"/>
          <p:cNvCxnSpPr/>
          <p:nvPr/>
        </p:nvCxnSpPr>
        <p:spPr>
          <a:xfrm>
            <a:off x="2700376" y="5738319"/>
            <a:ext cx="0" cy="751386"/>
          </a:xfrm>
          <a:prstGeom prst="line">
            <a:avLst/>
          </a:prstGeom>
          <a:ln w="7937" cap="rnd">
            <a:solidFill>
              <a:srgbClr val="668090"/>
            </a:solidFill>
            <a:round/>
          </a:ln>
          <a:effectLst/>
        </p:spPr>
        <p:style>
          <a:lnRef idx="2">
            <a:schemeClr val="accent1"/>
          </a:lnRef>
          <a:fillRef idx="0">
            <a:schemeClr val="accent1"/>
          </a:fillRef>
          <a:effectRef idx="0">
            <a:schemeClr val="accent1"/>
          </a:effectRef>
          <a:fontRef idx="minor">
            <a:schemeClr val="tx1"/>
          </a:fontRef>
        </p:style>
      </p:cxnSp>
      <p:cxnSp>
        <p:nvCxnSpPr>
          <p:cNvPr id="139" name="Connector 138"/>
          <p:cNvCxnSpPr/>
          <p:nvPr/>
        </p:nvCxnSpPr>
        <p:spPr>
          <a:xfrm>
            <a:off x="4146894" y="5738319"/>
            <a:ext cx="0" cy="751386"/>
          </a:xfrm>
          <a:prstGeom prst="line">
            <a:avLst/>
          </a:prstGeom>
          <a:ln w="7937" cap="rnd">
            <a:solidFill>
              <a:srgbClr val="668090"/>
            </a:solidFill>
            <a:round/>
          </a:ln>
          <a:effectLst/>
        </p:spPr>
        <p:style>
          <a:lnRef idx="2">
            <a:schemeClr val="accent1"/>
          </a:lnRef>
          <a:fillRef idx="0">
            <a:schemeClr val="accent1"/>
          </a:fillRef>
          <a:effectRef idx="0">
            <a:schemeClr val="accent1"/>
          </a:effectRef>
          <a:fontRef idx="minor">
            <a:schemeClr val="tx1"/>
          </a:fontRef>
        </p:style>
      </p:cxnSp>
      <p:cxnSp>
        <p:nvCxnSpPr>
          <p:cNvPr id="140" name="Connector 139"/>
          <p:cNvCxnSpPr/>
          <p:nvPr/>
        </p:nvCxnSpPr>
        <p:spPr>
          <a:xfrm>
            <a:off x="5479566" y="5731287"/>
            <a:ext cx="0" cy="758752"/>
          </a:xfrm>
          <a:prstGeom prst="line">
            <a:avLst/>
          </a:prstGeom>
          <a:ln w="7937" cap="rnd">
            <a:solidFill>
              <a:srgbClr val="668090"/>
            </a:solidFill>
            <a:round/>
          </a:ln>
          <a:effectLst/>
        </p:spPr>
        <p:style>
          <a:lnRef idx="2">
            <a:schemeClr val="accent1"/>
          </a:lnRef>
          <a:fillRef idx="0">
            <a:schemeClr val="accent1"/>
          </a:fillRef>
          <a:effectRef idx="0">
            <a:schemeClr val="accent1"/>
          </a:effectRef>
          <a:fontRef idx="minor">
            <a:schemeClr val="tx1"/>
          </a:fontRef>
        </p:style>
      </p:cxnSp>
      <p:sp>
        <p:nvSpPr>
          <p:cNvPr id="141" name="Rounded Rectangle 140"/>
          <p:cNvSpPr/>
          <p:nvPr/>
        </p:nvSpPr>
        <p:spPr>
          <a:xfrm>
            <a:off x="1183541" y="5791704"/>
            <a:ext cx="354933" cy="354933"/>
          </a:xfrm>
          <a:prstGeom prst="roundRect">
            <a:avLst>
              <a:gd name="adj" fmla="val 9433"/>
            </a:avLst>
          </a:prstGeom>
          <a:solidFill>
            <a:srgbClr val="E227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2" name="icon contact"/>
          <p:cNvSpPr/>
          <p:nvPr/>
        </p:nvSpPr>
        <p:spPr>
          <a:xfrm>
            <a:off x="1255281" y="5864554"/>
            <a:ext cx="194208" cy="194208"/>
          </a:xfrm>
          <a:custGeom>
            <a:avLst/>
            <a:gdLst/>
            <a:ahLst/>
            <a:cxnLst/>
            <a:rect l="0" t="0" r="0" b="0"/>
            <a:pathLst>
              <a:path w="100000" h="100000" fill="none">
                <a:moveTo>
                  <a:pt x="66667" y="8333"/>
                </a:moveTo>
                <a:lnTo>
                  <a:pt x="66667" y="16667"/>
                </a:lnTo>
                <a:moveTo>
                  <a:pt x="29167" y="91667"/>
                </a:moveTo>
                <a:lnTo>
                  <a:pt x="29167" y="83333"/>
                </a:lnTo>
                <a:cubicBezTo>
                  <a:pt x="29167" y="81871"/>
                  <a:pt x="29552" y="80433"/>
                  <a:pt x="30283" y="79167"/>
                </a:cubicBezTo>
                <a:cubicBezTo>
                  <a:pt x="31014" y="77900"/>
                  <a:pt x="32067" y="76848"/>
                  <a:pt x="33333" y="76116"/>
                </a:cubicBezTo>
                <a:cubicBezTo>
                  <a:pt x="34600" y="75385"/>
                  <a:pt x="36037" y="75000"/>
                  <a:pt x="37500" y="75000"/>
                </a:cubicBezTo>
                <a:lnTo>
                  <a:pt x="62500" y="75000"/>
                </a:lnTo>
                <a:cubicBezTo>
                  <a:pt x="63963" y="75000"/>
                  <a:pt x="65400" y="75385"/>
                  <a:pt x="66667" y="76116"/>
                </a:cubicBezTo>
                <a:cubicBezTo>
                  <a:pt x="67933" y="76848"/>
                  <a:pt x="68986" y="77900"/>
                  <a:pt x="69717" y="79167"/>
                </a:cubicBezTo>
                <a:cubicBezTo>
                  <a:pt x="70448" y="80433"/>
                  <a:pt x="70833" y="81871"/>
                  <a:pt x="70833" y="83333"/>
                </a:cubicBezTo>
                <a:lnTo>
                  <a:pt x="70833" y="91667"/>
                </a:lnTo>
                <a:moveTo>
                  <a:pt x="33333" y="8333"/>
                </a:moveTo>
                <a:lnTo>
                  <a:pt x="33333" y="16667"/>
                </a:lnTo>
                <a:moveTo>
                  <a:pt x="62500" y="45833"/>
                </a:moveTo>
                <a:cubicBezTo>
                  <a:pt x="62500" y="48027"/>
                  <a:pt x="61922" y="50183"/>
                  <a:pt x="60825" y="52083"/>
                </a:cubicBezTo>
                <a:cubicBezTo>
                  <a:pt x="59728" y="53983"/>
                  <a:pt x="58150" y="55562"/>
                  <a:pt x="56250" y="56659"/>
                </a:cubicBezTo>
                <a:cubicBezTo>
                  <a:pt x="54350" y="57756"/>
                  <a:pt x="52194" y="58333"/>
                  <a:pt x="50000" y="58333"/>
                </a:cubicBezTo>
                <a:cubicBezTo>
                  <a:pt x="47806" y="58333"/>
                  <a:pt x="45650" y="57756"/>
                  <a:pt x="43750" y="56659"/>
                </a:cubicBezTo>
                <a:cubicBezTo>
                  <a:pt x="41850" y="55562"/>
                  <a:pt x="40272" y="53983"/>
                  <a:pt x="39175" y="52083"/>
                </a:cubicBezTo>
                <a:cubicBezTo>
                  <a:pt x="38078" y="50183"/>
                  <a:pt x="37500" y="48027"/>
                  <a:pt x="37500" y="45833"/>
                </a:cubicBezTo>
                <a:cubicBezTo>
                  <a:pt x="37500" y="43639"/>
                  <a:pt x="38078" y="41483"/>
                  <a:pt x="39175" y="39583"/>
                </a:cubicBezTo>
                <a:cubicBezTo>
                  <a:pt x="40272" y="37683"/>
                  <a:pt x="41850" y="36105"/>
                  <a:pt x="43750" y="35008"/>
                </a:cubicBezTo>
                <a:cubicBezTo>
                  <a:pt x="45650" y="33911"/>
                  <a:pt x="47806" y="33333"/>
                  <a:pt x="50000" y="33333"/>
                </a:cubicBezTo>
                <a:cubicBezTo>
                  <a:pt x="52194" y="33333"/>
                  <a:pt x="54350" y="33911"/>
                  <a:pt x="56250" y="35008"/>
                </a:cubicBezTo>
                <a:cubicBezTo>
                  <a:pt x="58150" y="36105"/>
                  <a:pt x="59728" y="37683"/>
                  <a:pt x="60825" y="39583"/>
                </a:cubicBezTo>
                <a:cubicBezTo>
                  <a:pt x="61922" y="41483"/>
                  <a:pt x="62500" y="43639"/>
                  <a:pt x="62500" y="45833"/>
                </a:cubicBezTo>
                <a:close/>
                <a:moveTo>
                  <a:pt x="20833" y="16667"/>
                </a:moveTo>
                <a:lnTo>
                  <a:pt x="79167" y="16667"/>
                </a:lnTo>
                <a:cubicBezTo>
                  <a:pt x="80629" y="16667"/>
                  <a:pt x="82067" y="17052"/>
                  <a:pt x="83333" y="17783"/>
                </a:cubicBezTo>
                <a:cubicBezTo>
                  <a:pt x="84600" y="18514"/>
                  <a:pt x="85652" y="19567"/>
                  <a:pt x="86384" y="20833"/>
                </a:cubicBezTo>
                <a:cubicBezTo>
                  <a:pt x="87115" y="22100"/>
                  <a:pt x="87500" y="23537"/>
                  <a:pt x="87500" y="25000"/>
                </a:cubicBezTo>
                <a:lnTo>
                  <a:pt x="87500" y="83333"/>
                </a:lnTo>
                <a:cubicBezTo>
                  <a:pt x="87500" y="84796"/>
                  <a:pt x="87115" y="86233"/>
                  <a:pt x="86384" y="87500"/>
                </a:cubicBezTo>
                <a:cubicBezTo>
                  <a:pt x="85652" y="88767"/>
                  <a:pt x="84600" y="89819"/>
                  <a:pt x="83333" y="90550"/>
                </a:cubicBezTo>
                <a:cubicBezTo>
                  <a:pt x="82067" y="91282"/>
                  <a:pt x="80629" y="91667"/>
                  <a:pt x="79167" y="91667"/>
                </a:cubicBezTo>
                <a:lnTo>
                  <a:pt x="20833" y="91667"/>
                </a:lnTo>
                <a:cubicBezTo>
                  <a:pt x="19371" y="91667"/>
                  <a:pt x="17933" y="91282"/>
                  <a:pt x="16667" y="90550"/>
                </a:cubicBezTo>
                <a:cubicBezTo>
                  <a:pt x="15400" y="89819"/>
                  <a:pt x="14348" y="88767"/>
                  <a:pt x="13616" y="87500"/>
                </a:cubicBezTo>
                <a:cubicBezTo>
                  <a:pt x="12885" y="86233"/>
                  <a:pt x="12500" y="84796"/>
                  <a:pt x="12500" y="83333"/>
                </a:cubicBezTo>
                <a:lnTo>
                  <a:pt x="12500" y="25000"/>
                </a:lnTo>
                <a:cubicBezTo>
                  <a:pt x="12500" y="23537"/>
                  <a:pt x="12885" y="22100"/>
                  <a:pt x="13616" y="20833"/>
                </a:cubicBezTo>
                <a:cubicBezTo>
                  <a:pt x="14348" y="19567"/>
                  <a:pt x="15400" y="18514"/>
                  <a:pt x="16667" y="17783"/>
                </a:cubicBezTo>
                <a:cubicBezTo>
                  <a:pt x="17933" y="17052"/>
                  <a:pt x="19371" y="16667"/>
                  <a:pt x="20833" y="16667"/>
                </a:cubicBezTo>
                <a:close/>
              </a:path>
            </a:pathLst>
          </a:custGeom>
          <a:noFill/>
          <a:ln w="11866" cap="rnd">
            <a:solidFill>
              <a:srgbClr val="FFFFFF"/>
            </a:solidFill>
            <a:round/>
          </a:ln>
        </p:spPr>
        <p:txBody>
          <a:bodyPr/>
          <a:lstStyle/>
          <a:p>
            <a:endParaRPr/>
          </a:p>
        </p:txBody>
      </p:sp>
      <p:sp>
        <p:nvSpPr>
          <p:cNvPr id="143" name="TextBox 142"/>
          <p:cNvSpPr txBox="1"/>
          <p:nvPr/>
        </p:nvSpPr>
        <p:spPr>
          <a:xfrm>
            <a:off x="1590864" y="5824294"/>
            <a:ext cx="1120227" cy="577081"/>
          </a:xfrm>
          <a:prstGeom prst="rect">
            <a:avLst/>
          </a:prstGeom>
          <a:noFill/>
        </p:spPr>
        <p:txBody>
          <a:bodyPr wrap="square" lIns="0" tIns="0" rIns="0" bIns="0" anchor="t">
            <a:spAutoFit/>
          </a:bodyPr>
          <a:lstStyle/>
          <a:p>
            <a:pPr>
              <a:lnSpc>
                <a:spcPts val="886"/>
              </a:lnSpc>
            </a:pPr>
            <a:r>
              <a:rPr sz="759" b="1" dirty="0">
                <a:solidFill>
                  <a:srgbClr val="FFFFFF"/>
                </a:solidFill>
                <a:latin typeface="Arial"/>
              </a:rPr>
              <a:t>AWS IAM</a:t>
            </a:r>
          </a:p>
          <a:p>
            <a:pPr>
              <a:lnSpc>
                <a:spcPts val="886"/>
              </a:lnSpc>
            </a:pPr>
            <a:r>
              <a:rPr sz="759" dirty="0">
                <a:solidFill>
                  <a:srgbClr val="DAE4ED"/>
                </a:solidFill>
                <a:latin typeface="Arial"/>
              </a:rPr>
              <a:t>Least-privilege roles</a:t>
            </a:r>
          </a:p>
          <a:p>
            <a:pPr>
              <a:lnSpc>
                <a:spcPts val="886"/>
              </a:lnSpc>
            </a:pPr>
            <a:r>
              <a:rPr sz="759" dirty="0">
                <a:solidFill>
                  <a:srgbClr val="DAE4ED"/>
                </a:solidFill>
                <a:latin typeface="Arial"/>
              </a:rPr>
              <a:t>for </a:t>
            </a:r>
            <a:r>
              <a:rPr sz="759" dirty="0" err="1">
                <a:solidFill>
                  <a:srgbClr val="DAE4ED"/>
                </a:solidFill>
                <a:latin typeface="Arial"/>
              </a:rPr>
              <a:t>AppSync</a:t>
            </a:r>
            <a:r>
              <a:rPr sz="759" dirty="0">
                <a:solidFill>
                  <a:srgbClr val="DAE4ED"/>
                </a:solidFill>
                <a:latin typeface="Arial"/>
              </a:rPr>
              <a:t>, Lambda,</a:t>
            </a:r>
          </a:p>
          <a:p>
            <a:pPr>
              <a:lnSpc>
                <a:spcPts val="886"/>
              </a:lnSpc>
            </a:pPr>
            <a:r>
              <a:rPr sz="759" dirty="0" err="1">
                <a:solidFill>
                  <a:srgbClr val="DAE4ED"/>
                </a:solidFill>
                <a:latin typeface="Arial"/>
              </a:rPr>
              <a:t>DynamoDB</a:t>
            </a:r>
            <a:r>
              <a:rPr sz="759" dirty="0">
                <a:solidFill>
                  <a:srgbClr val="DAE4ED"/>
                </a:solidFill>
                <a:latin typeface="Arial"/>
              </a:rPr>
              <a:t>, SNS, SQS, etc.</a:t>
            </a:r>
          </a:p>
        </p:txBody>
      </p:sp>
      <p:sp>
        <p:nvSpPr>
          <p:cNvPr id="145" name="icon lock"/>
          <p:cNvSpPr/>
          <p:nvPr/>
        </p:nvSpPr>
        <p:spPr>
          <a:xfrm>
            <a:off x="2737505" y="5770072"/>
            <a:ext cx="332533" cy="332533"/>
          </a:xfrm>
          <a:custGeom>
            <a:avLst/>
            <a:gdLst/>
            <a:ahLst/>
            <a:cxnLst/>
            <a:rect l="0" t="0" r="0" b="0"/>
            <a:pathLst>
              <a:path w="100000" h="100000" fill="none">
                <a:moveTo>
                  <a:pt x="20833" y="45833"/>
                </a:moveTo>
                <a:lnTo>
                  <a:pt x="79167" y="45833"/>
                </a:lnTo>
                <a:cubicBezTo>
                  <a:pt x="80629" y="45833"/>
                  <a:pt x="82067" y="46218"/>
                  <a:pt x="83333" y="46950"/>
                </a:cubicBezTo>
                <a:cubicBezTo>
                  <a:pt x="84600" y="47681"/>
                  <a:pt x="85652" y="48733"/>
                  <a:pt x="86384" y="50000"/>
                </a:cubicBezTo>
                <a:cubicBezTo>
                  <a:pt x="87115" y="51267"/>
                  <a:pt x="87500" y="52704"/>
                  <a:pt x="87500" y="54167"/>
                </a:cubicBezTo>
                <a:lnTo>
                  <a:pt x="87500" y="83333"/>
                </a:lnTo>
                <a:cubicBezTo>
                  <a:pt x="87500" y="84796"/>
                  <a:pt x="87115" y="86233"/>
                  <a:pt x="86384" y="87500"/>
                </a:cubicBezTo>
                <a:cubicBezTo>
                  <a:pt x="85652" y="88767"/>
                  <a:pt x="84600" y="89819"/>
                  <a:pt x="83333" y="90550"/>
                </a:cubicBezTo>
                <a:cubicBezTo>
                  <a:pt x="82067" y="91282"/>
                  <a:pt x="80629" y="91667"/>
                  <a:pt x="79167" y="91667"/>
                </a:cubicBezTo>
                <a:lnTo>
                  <a:pt x="20833" y="91667"/>
                </a:lnTo>
                <a:cubicBezTo>
                  <a:pt x="19371" y="91667"/>
                  <a:pt x="17933" y="91282"/>
                  <a:pt x="16667" y="90550"/>
                </a:cubicBezTo>
                <a:cubicBezTo>
                  <a:pt x="15400" y="89819"/>
                  <a:pt x="14348" y="88767"/>
                  <a:pt x="13616" y="87500"/>
                </a:cubicBezTo>
                <a:cubicBezTo>
                  <a:pt x="12885" y="86233"/>
                  <a:pt x="12500" y="84796"/>
                  <a:pt x="12500" y="83333"/>
                </a:cubicBezTo>
                <a:lnTo>
                  <a:pt x="12500" y="54167"/>
                </a:lnTo>
                <a:cubicBezTo>
                  <a:pt x="12500" y="52704"/>
                  <a:pt x="12885" y="51267"/>
                  <a:pt x="13616" y="50000"/>
                </a:cubicBezTo>
                <a:cubicBezTo>
                  <a:pt x="14348" y="48733"/>
                  <a:pt x="15400" y="47681"/>
                  <a:pt x="16667" y="46950"/>
                </a:cubicBezTo>
                <a:cubicBezTo>
                  <a:pt x="17933" y="46218"/>
                  <a:pt x="19371" y="45833"/>
                  <a:pt x="20833" y="45833"/>
                </a:cubicBezTo>
                <a:close/>
                <a:moveTo>
                  <a:pt x="29167" y="45833"/>
                </a:moveTo>
                <a:lnTo>
                  <a:pt x="29167" y="29167"/>
                </a:lnTo>
                <a:cubicBezTo>
                  <a:pt x="29167" y="25510"/>
                  <a:pt x="30129" y="21917"/>
                  <a:pt x="31958" y="18750"/>
                </a:cubicBezTo>
                <a:cubicBezTo>
                  <a:pt x="33786" y="15583"/>
                  <a:pt x="36417" y="12953"/>
                  <a:pt x="39583" y="11124"/>
                </a:cubicBezTo>
                <a:cubicBezTo>
                  <a:pt x="42750" y="9296"/>
                  <a:pt x="46343" y="8333"/>
                  <a:pt x="50000" y="8333"/>
                </a:cubicBezTo>
                <a:cubicBezTo>
                  <a:pt x="53657" y="8333"/>
                  <a:pt x="57250" y="9296"/>
                  <a:pt x="60417" y="11124"/>
                </a:cubicBezTo>
                <a:cubicBezTo>
                  <a:pt x="63583" y="12953"/>
                  <a:pt x="66214" y="15583"/>
                  <a:pt x="68042" y="18750"/>
                </a:cubicBezTo>
                <a:cubicBezTo>
                  <a:pt x="69871" y="21917"/>
                  <a:pt x="70833" y="25510"/>
                  <a:pt x="70833" y="29167"/>
                </a:cubicBezTo>
                <a:lnTo>
                  <a:pt x="70833" y="45833"/>
                </a:lnTo>
              </a:path>
            </a:pathLst>
          </a:custGeom>
          <a:noFill/>
          <a:ln w="17564" cap="rnd">
            <a:solidFill>
              <a:srgbClr val="FFFFFF"/>
            </a:solidFill>
            <a:round/>
          </a:ln>
        </p:spPr>
        <p:txBody>
          <a:bodyPr/>
          <a:lstStyle/>
          <a:p>
            <a:endParaRPr/>
          </a:p>
        </p:txBody>
      </p:sp>
      <p:sp>
        <p:nvSpPr>
          <p:cNvPr id="146" name="TextBox 145"/>
          <p:cNvSpPr txBox="1"/>
          <p:nvPr/>
        </p:nvSpPr>
        <p:spPr>
          <a:xfrm>
            <a:off x="3095782" y="5833408"/>
            <a:ext cx="1046046" cy="410369"/>
          </a:xfrm>
          <a:prstGeom prst="rect">
            <a:avLst/>
          </a:prstGeom>
          <a:noFill/>
        </p:spPr>
        <p:txBody>
          <a:bodyPr wrap="square" lIns="0" tIns="0" rIns="0" bIns="0" anchor="t">
            <a:spAutoFit/>
          </a:bodyPr>
          <a:lstStyle/>
          <a:p>
            <a:pPr>
              <a:lnSpc>
                <a:spcPts val="840"/>
              </a:lnSpc>
            </a:pPr>
            <a:r>
              <a:rPr sz="759" b="1" dirty="0">
                <a:solidFill>
                  <a:srgbClr val="FFFFFF"/>
                </a:solidFill>
                <a:latin typeface="Arial"/>
              </a:rPr>
              <a:t>AWS KMS</a:t>
            </a:r>
          </a:p>
          <a:p>
            <a:pPr>
              <a:lnSpc>
                <a:spcPts val="840"/>
              </a:lnSpc>
            </a:pPr>
            <a:r>
              <a:rPr sz="759" dirty="0">
                <a:solidFill>
                  <a:srgbClr val="DAE4ED"/>
                </a:solidFill>
                <a:latin typeface="Arial"/>
              </a:rPr>
              <a:t>Encryption at rest</a:t>
            </a:r>
          </a:p>
          <a:p>
            <a:pPr>
              <a:lnSpc>
                <a:spcPts val="840"/>
              </a:lnSpc>
            </a:pPr>
            <a:r>
              <a:rPr sz="759" dirty="0">
                <a:solidFill>
                  <a:srgbClr val="DAE4ED"/>
                </a:solidFill>
                <a:latin typeface="Arial"/>
              </a:rPr>
              <a:t>(</a:t>
            </a:r>
            <a:r>
              <a:rPr sz="759" dirty="0" err="1">
                <a:solidFill>
                  <a:srgbClr val="DAE4ED"/>
                </a:solidFill>
                <a:latin typeface="Arial"/>
              </a:rPr>
              <a:t>DynamoDB</a:t>
            </a:r>
            <a:r>
              <a:rPr sz="759" dirty="0">
                <a:solidFill>
                  <a:srgbClr val="DAE4ED"/>
                </a:solidFill>
                <a:latin typeface="Arial"/>
              </a:rPr>
              <a:t>, SQS, etc.)</a:t>
            </a:r>
            <a:r>
              <a:rPr lang="en-US" sz="759" dirty="0">
                <a:solidFill>
                  <a:srgbClr val="DAE4ED"/>
                </a:solidFill>
                <a:latin typeface="Arial"/>
              </a:rPr>
              <a:t> </a:t>
            </a:r>
            <a:r>
              <a:rPr sz="759" dirty="0">
                <a:solidFill>
                  <a:srgbClr val="DAE4ED"/>
                </a:solidFill>
                <a:latin typeface="Arial"/>
              </a:rPr>
              <a:t>and in transit (TLS)</a:t>
            </a:r>
          </a:p>
        </p:txBody>
      </p:sp>
      <p:sp>
        <p:nvSpPr>
          <p:cNvPr id="147" name="Rounded Rectangle 146"/>
          <p:cNvSpPr/>
          <p:nvPr/>
        </p:nvSpPr>
        <p:spPr>
          <a:xfrm>
            <a:off x="4191076" y="5789008"/>
            <a:ext cx="354933" cy="354933"/>
          </a:xfrm>
          <a:prstGeom prst="roundRect">
            <a:avLst>
              <a:gd name="adj" fmla="val 9433"/>
            </a:avLst>
          </a:prstGeom>
          <a:solidFill>
            <a:srgbClr val="ED36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8" name="icon cloud-fill"/>
          <p:cNvSpPr/>
          <p:nvPr/>
        </p:nvSpPr>
        <p:spPr>
          <a:xfrm>
            <a:off x="4227909" y="5834049"/>
            <a:ext cx="281267" cy="281267"/>
          </a:xfrm>
          <a:custGeom>
            <a:avLst/>
            <a:gdLst/>
            <a:ahLst/>
            <a:cxnLst/>
            <a:rect l="0" t="0" r="0" b="0"/>
            <a:pathLst>
              <a:path w="100000" h="100000">
                <a:moveTo>
                  <a:pt x="27537" y="20888"/>
                </a:moveTo>
                <a:cubicBezTo>
                  <a:pt x="30636" y="18215"/>
                  <a:pt x="34185" y="16115"/>
                  <a:pt x="38018" y="14683"/>
                </a:cubicBezTo>
                <a:cubicBezTo>
                  <a:pt x="41851" y="13252"/>
                  <a:pt x="45908" y="12513"/>
                  <a:pt x="50000" y="12500"/>
                </a:cubicBezTo>
                <a:cubicBezTo>
                  <a:pt x="66812" y="12500"/>
                  <a:pt x="80769" y="25000"/>
                  <a:pt x="82288" y="41119"/>
                </a:cubicBezTo>
                <a:cubicBezTo>
                  <a:pt x="92238" y="42525"/>
                  <a:pt x="100000" y="50856"/>
                  <a:pt x="100000" y="61081"/>
                </a:cubicBezTo>
                <a:cubicBezTo>
                  <a:pt x="100000" y="72306"/>
                  <a:pt x="90638" y="81250"/>
                  <a:pt x="79294" y="81250"/>
                </a:cubicBezTo>
                <a:lnTo>
                  <a:pt x="23631" y="81250"/>
                </a:lnTo>
                <a:cubicBezTo>
                  <a:pt x="10675" y="81250"/>
                  <a:pt x="0" y="71038"/>
                  <a:pt x="0" y="58238"/>
                </a:cubicBezTo>
                <a:cubicBezTo>
                  <a:pt x="0" y="47219"/>
                  <a:pt x="7912" y="38094"/>
                  <a:pt x="18388" y="35781"/>
                </a:cubicBezTo>
                <a:cubicBezTo>
                  <a:pt x="19281" y="30388"/>
                  <a:pt x="22750" y="25012"/>
                  <a:pt x="27538" y="20887"/>
                </a:cubicBezTo>
              </a:path>
            </a:pathLst>
          </a:custGeom>
          <a:solidFill>
            <a:srgbClr val="FFFFFF"/>
          </a:solidFill>
          <a:ln>
            <a:noFill/>
          </a:ln>
        </p:spPr>
        <p:txBody>
          <a:bodyPr/>
          <a:lstStyle/>
          <a:p>
            <a:endParaRPr/>
          </a:p>
        </p:txBody>
      </p:sp>
      <p:sp>
        <p:nvSpPr>
          <p:cNvPr id="149" name="TextBox 148"/>
          <p:cNvSpPr txBox="1"/>
          <p:nvPr/>
        </p:nvSpPr>
        <p:spPr>
          <a:xfrm>
            <a:off x="4598398" y="5828797"/>
            <a:ext cx="932491" cy="461665"/>
          </a:xfrm>
          <a:prstGeom prst="rect">
            <a:avLst/>
          </a:prstGeom>
          <a:noFill/>
        </p:spPr>
        <p:txBody>
          <a:bodyPr wrap="square" lIns="0" tIns="0" rIns="0" bIns="0" anchor="t">
            <a:spAutoFit/>
          </a:bodyPr>
          <a:lstStyle/>
          <a:p>
            <a:pPr>
              <a:lnSpc>
                <a:spcPts val="948"/>
              </a:lnSpc>
            </a:pPr>
            <a:r>
              <a:rPr sz="759" b="1" dirty="0">
                <a:solidFill>
                  <a:srgbClr val="FFFFFF"/>
                </a:solidFill>
                <a:latin typeface="Arial"/>
              </a:rPr>
              <a:t>Amazon </a:t>
            </a:r>
            <a:r>
              <a:rPr sz="759" b="1" dirty="0" err="1">
                <a:solidFill>
                  <a:srgbClr val="FFFFFF"/>
                </a:solidFill>
                <a:latin typeface="Arial"/>
              </a:rPr>
              <a:t>CloudWatch</a:t>
            </a:r>
            <a:endParaRPr sz="759" b="1" dirty="0">
              <a:solidFill>
                <a:srgbClr val="FFFFFF"/>
              </a:solidFill>
              <a:latin typeface="Arial"/>
            </a:endParaRPr>
          </a:p>
          <a:p>
            <a:pPr>
              <a:lnSpc>
                <a:spcPts val="948"/>
              </a:lnSpc>
            </a:pPr>
            <a:r>
              <a:rPr sz="759" dirty="0">
                <a:solidFill>
                  <a:srgbClr val="DAE4ED"/>
                </a:solidFill>
                <a:latin typeface="Arial"/>
              </a:rPr>
              <a:t>Logs, Metrics, Alarms,</a:t>
            </a:r>
            <a:r>
              <a:rPr lang="en-US" sz="759" dirty="0">
                <a:solidFill>
                  <a:srgbClr val="DAE4ED"/>
                </a:solidFill>
                <a:latin typeface="Arial"/>
              </a:rPr>
              <a:t> </a:t>
            </a:r>
            <a:r>
              <a:rPr sz="759" dirty="0">
                <a:solidFill>
                  <a:srgbClr val="DAE4ED"/>
                </a:solidFill>
                <a:latin typeface="Arial"/>
              </a:rPr>
              <a:t>Dashboards</a:t>
            </a:r>
          </a:p>
        </p:txBody>
      </p:sp>
      <p:sp>
        <p:nvSpPr>
          <p:cNvPr id="150" name="Rounded Rectangle 149"/>
          <p:cNvSpPr/>
          <p:nvPr/>
        </p:nvSpPr>
        <p:spPr>
          <a:xfrm>
            <a:off x="5538120" y="5762220"/>
            <a:ext cx="354933" cy="354933"/>
          </a:xfrm>
          <a:prstGeom prst="roundRect">
            <a:avLst>
              <a:gd name="adj" fmla="val 9433"/>
            </a:avLst>
          </a:prstGeom>
          <a:solidFill>
            <a:srgbClr val="783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1" name="icon cloudy"/>
          <p:cNvSpPr/>
          <p:nvPr/>
        </p:nvSpPr>
        <p:spPr>
          <a:xfrm>
            <a:off x="5621831" y="5854139"/>
            <a:ext cx="187512" cy="187512"/>
          </a:xfrm>
          <a:custGeom>
            <a:avLst/>
            <a:gdLst/>
            <a:ahLst/>
            <a:cxnLst/>
            <a:rect l="0" t="0" r="0" b="0"/>
            <a:pathLst>
              <a:path w="100000" h="100000" fill="none">
                <a:moveTo>
                  <a:pt x="72917" y="50000"/>
                </a:moveTo>
                <a:cubicBezTo>
                  <a:pt x="76208" y="50000"/>
                  <a:pt x="79442" y="50866"/>
                  <a:pt x="82292" y="52512"/>
                </a:cubicBezTo>
                <a:cubicBezTo>
                  <a:pt x="85142" y="54158"/>
                  <a:pt x="87509" y="56525"/>
                  <a:pt x="89155" y="59375"/>
                </a:cubicBezTo>
                <a:cubicBezTo>
                  <a:pt x="90800" y="62225"/>
                  <a:pt x="91667" y="65459"/>
                  <a:pt x="91667" y="68750"/>
                </a:cubicBezTo>
                <a:cubicBezTo>
                  <a:pt x="91667" y="72041"/>
                  <a:pt x="90800" y="75275"/>
                  <a:pt x="89155" y="78125"/>
                </a:cubicBezTo>
                <a:cubicBezTo>
                  <a:pt x="87509" y="80975"/>
                  <a:pt x="85142" y="83342"/>
                  <a:pt x="82292" y="84988"/>
                </a:cubicBezTo>
                <a:cubicBezTo>
                  <a:pt x="79442" y="86634"/>
                  <a:pt x="76208" y="87500"/>
                  <a:pt x="72917" y="87500"/>
                </a:cubicBezTo>
                <a:lnTo>
                  <a:pt x="37525" y="87500"/>
                </a:lnTo>
                <a:cubicBezTo>
                  <a:pt x="32723" y="87504"/>
                  <a:pt x="27993" y="86322"/>
                  <a:pt x="23757" y="84060"/>
                </a:cubicBezTo>
                <a:cubicBezTo>
                  <a:pt x="19521" y="81797"/>
                  <a:pt x="15909" y="78523"/>
                  <a:pt x="13242" y="74528"/>
                </a:cubicBezTo>
                <a:cubicBezTo>
                  <a:pt x="10575" y="70534"/>
                  <a:pt x="8936" y="65943"/>
                  <a:pt x="8470" y="61163"/>
                </a:cubicBezTo>
                <a:cubicBezTo>
                  <a:pt x="8004" y="56383"/>
                  <a:pt x="8726" y="51562"/>
                  <a:pt x="10571" y="47128"/>
                </a:cubicBezTo>
                <a:cubicBezTo>
                  <a:pt x="12416" y="42694"/>
                  <a:pt x="15328" y="38784"/>
                  <a:pt x="19047" y="35745"/>
                </a:cubicBezTo>
                <a:cubicBezTo>
                  <a:pt x="22766" y="32707"/>
                  <a:pt x="27179" y="30634"/>
                  <a:pt x="31892" y="29711"/>
                </a:cubicBezTo>
                <a:cubicBezTo>
                  <a:pt x="36604" y="28787"/>
                  <a:pt x="41473" y="29042"/>
                  <a:pt x="46064" y="30453"/>
                </a:cubicBezTo>
                <a:cubicBezTo>
                  <a:pt x="50655" y="31863"/>
                  <a:pt x="54827" y="34385"/>
                  <a:pt x="58208" y="37795"/>
                </a:cubicBezTo>
                <a:cubicBezTo>
                  <a:pt x="61590" y="41205"/>
                  <a:pt x="64078" y="45398"/>
                  <a:pt x="65450" y="50000"/>
                </a:cubicBezTo>
                <a:close/>
                <a:moveTo>
                  <a:pt x="90967" y="37500"/>
                </a:moveTo>
                <a:cubicBezTo>
                  <a:pt x="90394" y="35881"/>
                  <a:pt x="89494" y="34397"/>
                  <a:pt x="88323" y="33141"/>
                </a:cubicBezTo>
                <a:cubicBezTo>
                  <a:pt x="87152" y="31885"/>
                  <a:pt x="85734" y="30884"/>
                  <a:pt x="84159" y="30200"/>
                </a:cubicBezTo>
                <a:cubicBezTo>
                  <a:pt x="82583" y="29516"/>
                  <a:pt x="80884" y="29165"/>
                  <a:pt x="79167" y="29167"/>
                </a:cubicBezTo>
                <a:lnTo>
                  <a:pt x="69971" y="29167"/>
                </a:lnTo>
                <a:cubicBezTo>
                  <a:pt x="69029" y="25841"/>
                  <a:pt x="67348" y="22770"/>
                  <a:pt x="65052" y="20186"/>
                </a:cubicBezTo>
                <a:cubicBezTo>
                  <a:pt x="62756" y="17602"/>
                  <a:pt x="59905" y="15571"/>
                  <a:pt x="56713" y="14245"/>
                </a:cubicBezTo>
                <a:cubicBezTo>
                  <a:pt x="53521" y="12918"/>
                  <a:pt x="50069" y="12331"/>
                  <a:pt x="46618" y="12528"/>
                </a:cubicBezTo>
                <a:cubicBezTo>
                  <a:pt x="43167" y="12724"/>
                  <a:pt x="39805" y="13699"/>
                  <a:pt x="36784" y="15379"/>
                </a:cubicBezTo>
                <a:cubicBezTo>
                  <a:pt x="33763" y="17058"/>
                  <a:pt x="31161" y="19400"/>
                  <a:pt x="29173" y="22228"/>
                </a:cubicBezTo>
                <a:cubicBezTo>
                  <a:pt x="27185" y="25056"/>
                  <a:pt x="25862" y="28297"/>
                  <a:pt x="25304" y="31708"/>
                </a:cubicBezTo>
              </a:path>
            </a:pathLst>
          </a:custGeom>
          <a:noFill/>
          <a:ln w="11457" cap="rnd">
            <a:solidFill>
              <a:srgbClr val="FFFFFF"/>
            </a:solidFill>
            <a:round/>
          </a:ln>
        </p:spPr>
        <p:txBody>
          <a:bodyPr/>
          <a:lstStyle/>
          <a:p>
            <a:endParaRPr/>
          </a:p>
        </p:txBody>
      </p:sp>
      <p:sp>
        <p:nvSpPr>
          <p:cNvPr id="152" name="TextBox 151"/>
          <p:cNvSpPr txBox="1"/>
          <p:nvPr/>
        </p:nvSpPr>
        <p:spPr>
          <a:xfrm>
            <a:off x="5960022" y="5842745"/>
            <a:ext cx="975165" cy="461665"/>
          </a:xfrm>
          <a:prstGeom prst="rect">
            <a:avLst/>
          </a:prstGeom>
          <a:noFill/>
        </p:spPr>
        <p:txBody>
          <a:bodyPr wrap="square" lIns="0" tIns="0" rIns="0" bIns="0" anchor="t">
            <a:spAutoFit/>
          </a:bodyPr>
          <a:lstStyle/>
          <a:p>
            <a:pPr>
              <a:lnSpc>
                <a:spcPts val="886"/>
              </a:lnSpc>
            </a:pPr>
            <a:r>
              <a:rPr sz="759" b="1" dirty="0">
                <a:solidFill>
                  <a:srgbClr val="FFFFFF"/>
                </a:solidFill>
                <a:latin typeface="Arial"/>
              </a:rPr>
              <a:t>AWS X-Ray</a:t>
            </a:r>
          </a:p>
          <a:p>
            <a:pPr>
              <a:lnSpc>
                <a:spcPts val="886"/>
              </a:lnSpc>
            </a:pPr>
            <a:r>
              <a:rPr sz="759" dirty="0">
                <a:solidFill>
                  <a:srgbClr val="DAE4ED"/>
                </a:solidFill>
                <a:latin typeface="Arial"/>
              </a:rPr>
              <a:t>Distributed tracing</a:t>
            </a:r>
          </a:p>
          <a:p>
            <a:pPr>
              <a:lnSpc>
                <a:spcPts val="886"/>
              </a:lnSpc>
            </a:pPr>
            <a:r>
              <a:rPr sz="759" dirty="0">
                <a:solidFill>
                  <a:srgbClr val="DAE4ED"/>
                </a:solidFill>
                <a:latin typeface="Arial"/>
              </a:rPr>
              <a:t>(across </a:t>
            </a:r>
            <a:r>
              <a:rPr sz="759" dirty="0" err="1">
                <a:solidFill>
                  <a:srgbClr val="DAE4ED"/>
                </a:solidFill>
                <a:latin typeface="Arial"/>
              </a:rPr>
              <a:t>AppSync</a:t>
            </a:r>
            <a:r>
              <a:rPr sz="759" dirty="0">
                <a:solidFill>
                  <a:srgbClr val="DAE4ED"/>
                </a:solidFill>
                <a:latin typeface="Arial"/>
              </a:rPr>
              <a:t>,</a:t>
            </a:r>
            <a:r>
              <a:rPr lang="en-US" sz="759" dirty="0">
                <a:solidFill>
                  <a:srgbClr val="DAE4ED"/>
                </a:solidFill>
                <a:latin typeface="Arial"/>
              </a:rPr>
              <a:t> </a:t>
            </a:r>
            <a:r>
              <a:rPr sz="759" dirty="0">
                <a:solidFill>
                  <a:srgbClr val="DAE4ED"/>
                </a:solidFill>
                <a:latin typeface="Arial"/>
              </a:rPr>
              <a:t>Lambda, etc.)</a:t>
            </a:r>
          </a:p>
        </p:txBody>
      </p:sp>
      <p:sp>
        <p:nvSpPr>
          <p:cNvPr id="153" name="Rounded Rectangle 152"/>
          <p:cNvSpPr/>
          <p:nvPr/>
        </p:nvSpPr>
        <p:spPr>
          <a:xfrm>
            <a:off x="6920075" y="5755193"/>
            <a:ext cx="435295" cy="435295"/>
          </a:xfrm>
          <a:prstGeom prst="roundRect">
            <a:avLst>
              <a:gd name="adj" fmla="val 22776"/>
            </a:avLst>
          </a:prstGeom>
          <a:solidFill>
            <a:srgbClr val="141D23"/>
          </a:solidFill>
          <a:ln w="7937" cap="rnd">
            <a:solidFill>
              <a:srgbClr val="9AB4C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4" name="icon refresh-cw"/>
          <p:cNvSpPr/>
          <p:nvPr/>
        </p:nvSpPr>
        <p:spPr>
          <a:xfrm>
            <a:off x="7008116" y="5828805"/>
            <a:ext cx="267324" cy="298424"/>
          </a:xfrm>
          <a:custGeom>
            <a:avLst/>
            <a:gdLst/>
            <a:ahLst/>
            <a:cxnLst/>
            <a:rect l="0" t="0" r="0" b="0"/>
            <a:pathLst>
              <a:path w="100000" h="100000" fill="none">
                <a:moveTo>
                  <a:pt x="12500" y="50000"/>
                </a:moveTo>
                <a:cubicBezTo>
                  <a:pt x="12500" y="43418"/>
                  <a:pt x="14233" y="36950"/>
                  <a:pt x="17524" y="31250"/>
                </a:cubicBezTo>
                <a:cubicBezTo>
                  <a:pt x="20815" y="25550"/>
                  <a:pt x="25550" y="20815"/>
                  <a:pt x="31250" y="17524"/>
                </a:cubicBezTo>
                <a:cubicBezTo>
                  <a:pt x="36950" y="14233"/>
                  <a:pt x="43418" y="12500"/>
                  <a:pt x="50000" y="12500"/>
                </a:cubicBezTo>
                <a:cubicBezTo>
                  <a:pt x="55193" y="12520"/>
                  <a:pt x="60335" y="13535"/>
                  <a:pt x="65146" y="15491"/>
                </a:cubicBezTo>
                <a:cubicBezTo>
                  <a:pt x="69958" y="17447"/>
                  <a:pt x="74349" y="20307"/>
                  <a:pt x="78083" y="23917"/>
                </a:cubicBezTo>
                <a:lnTo>
                  <a:pt x="87500" y="33333"/>
                </a:lnTo>
                <a:moveTo>
                  <a:pt x="87500" y="12500"/>
                </a:moveTo>
                <a:lnTo>
                  <a:pt x="87500" y="33333"/>
                </a:lnTo>
                <a:lnTo>
                  <a:pt x="66667" y="33333"/>
                </a:lnTo>
                <a:moveTo>
                  <a:pt x="87500" y="50000"/>
                </a:moveTo>
                <a:cubicBezTo>
                  <a:pt x="87500" y="56582"/>
                  <a:pt x="85767" y="63050"/>
                  <a:pt x="82476" y="68750"/>
                </a:cubicBezTo>
                <a:cubicBezTo>
                  <a:pt x="79185" y="74450"/>
                  <a:pt x="74450" y="79185"/>
                  <a:pt x="68750" y="82476"/>
                </a:cubicBezTo>
                <a:cubicBezTo>
                  <a:pt x="63050" y="85767"/>
                  <a:pt x="56582" y="87500"/>
                  <a:pt x="50000" y="87500"/>
                </a:cubicBezTo>
                <a:cubicBezTo>
                  <a:pt x="44807" y="87480"/>
                  <a:pt x="39665" y="86465"/>
                  <a:pt x="34854" y="84509"/>
                </a:cubicBezTo>
                <a:cubicBezTo>
                  <a:pt x="30042" y="82553"/>
                  <a:pt x="25651" y="79693"/>
                  <a:pt x="21917" y="76083"/>
                </a:cubicBezTo>
                <a:lnTo>
                  <a:pt x="12500" y="66667"/>
                </a:lnTo>
                <a:moveTo>
                  <a:pt x="33333" y="66667"/>
                </a:moveTo>
                <a:lnTo>
                  <a:pt x="12500" y="66667"/>
                </a:lnTo>
                <a:lnTo>
                  <a:pt x="12500" y="87500"/>
                </a:lnTo>
              </a:path>
            </a:pathLst>
          </a:custGeom>
          <a:noFill/>
          <a:ln w="21439" cap="rnd">
            <a:solidFill>
              <a:srgbClr val="FFFFFF"/>
            </a:solidFill>
            <a:round/>
          </a:ln>
        </p:spPr>
        <p:txBody>
          <a:bodyPr/>
          <a:lstStyle/>
          <a:p>
            <a:endParaRPr/>
          </a:p>
        </p:txBody>
      </p:sp>
      <p:sp>
        <p:nvSpPr>
          <p:cNvPr id="155" name="TextBox 154"/>
          <p:cNvSpPr txBox="1"/>
          <p:nvPr/>
        </p:nvSpPr>
        <p:spPr>
          <a:xfrm>
            <a:off x="7400495" y="5780543"/>
            <a:ext cx="1211228" cy="410369"/>
          </a:xfrm>
          <a:prstGeom prst="rect">
            <a:avLst/>
          </a:prstGeom>
          <a:noFill/>
        </p:spPr>
        <p:txBody>
          <a:bodyPr wrap="square" lIns="0" tIns="0" rIns="0" bIns="0" anchor="t">
            <a:spAutoFit/>
          </a:bodyPr>
          <a:lstStyle/>
          <a:p>
            <a:pPr>
              <a:lnSpc>
                <a:spcPts val="770"/>
              </a:lnSpc>
            </a:pPr>
            <a:r>
              <a:rPr sz="759" b="1" dirty="0">
                <a:solidFill>
                  <a:srgbClr val="FFFFFF"/>
                </a:solidFill>
                <a:latin typeface="Arial"/>
              </a:rPr>
              <a:t>Reliability</a:t>
            </a:r>
          </a:p>
          <a:p>
            <a:pPr>
              <a:lnSpc>
                <a:spcPts val="770"/>
              </a:lnSpc>
            </a:pPr>
            <a:r>
              <a:rPr sz="759" dirty="0">
                <a:solidFill>
                  <a:srgbClr val="DAE4ED"/>
                </a:solidFill>
                <a:latin typeface="Arial"/>
              </a:rPr>
              <a:t>Retry policies</a:t>
            </a:r>
            <a:r>
              <a:rPr lang="en-US" sz="759" dirty="0">
                <a:solidFill>
                  <a:srgbClr val="DAE4ED"/>
                </a:solidFill>
                <a:latin typeface="Arial"/>
              </a:rPr>
              <a:t> </a:t>
            </a:r>
            <a:r>
              <a:rPr sz="759" dirty="0" err="1">
                <a:solidFill>
                  <a:srgbClr val="DAE4ED"/>
                </a:solidFill>
                <a:latin typeface="Arial"/>
              </a:rPr>
              <a:t>Idempotency</a:t>
            </a:r>
            <a:endParaRPr sz="759" dirty="0">
              <a:solidFill>
                <a:srgbClr val="DAE4ED"/>
              </a:solidFill>
              <a:latin typeface="Arial"/>
            </a:endParaRPr>
          </a:p>
          <a:p>
            <a:pPr>
              <a:lnSpc>
                <a:spcPts val="770"/>
              </a:lnSpc>
            </a:pPr>
            <a:r>
              <a:rPr sz="759" dirty="0">
                <a:solidFill>
                  <a:srgbClr val="DAE4ED"/>
                </a:solidFill>
                <a:latin typeface="Arial"/>
              </a:rPr>
              <a:t>Dead-letter queues (DLQs)</a:t>
            </a:r>
          </a:p>
          <a:p>
            <a:pPr>
              <a:lnSpc>
                <a:spcPts val="770"/>
              </a:lnSpc>
            </a:pPr>
            <a:r>
              <a:rPr sz="759" dirty="0">
                <a:solidFill>
                  <a:srgbClr val="DAE4ED"/>
                </a:solidFill>
                <a:latin typeface="Arial"/>
              </a:rPr>
              <a:t>Error handling</a:t>
            </a:r>
          </a:p>
        </p:txBody>
      </p:sp>
      <p:sp>
        <p:nvSpPr>
          <p:cNvPr id="156" name="TextBox 155"/>
          <p:cNvSpPr txBox="1"/>
          <p:nvPr/>
        </p:nvSpPr>
        <p:spPr>
          <a:xfrm>
            <a:off x="8881563" y="5495899"/>
            <a:ext cx="388417" cy="145874"/>
          </a:xfrm>
          <a:prstGeom prst="rect">
            <a:avLst/>
          </a:prstGeom>
          <a:noFill/>
        </p:spPr>
        <p:txBody>
          <a:bodyPr wrap="square" lIns="0" tIns="0" rIns="0" bIns="0" anchor="t">
            <a:spAutoFit/>
          </a:bodyPr>
          <a:lstStyle/>
          <a:p>
            <a:pPr algn="l">
              <a:lnSpc>
                <a:spcPct val="115000"/>
              </a:lnSpc>
            </a:pPr>
            <a:r>
              <a:rPr sz="824" b="1">
                <a:solidFill>
                  <a:srgbClr val="ACD0F4"/>
                </a:solidFill>
                <a:latin typeface="Arial"/>
              </a:rPr>
              <a:t>Legend</a:t>
            </a:r>
          </a:p>
        </p:txBody>
      </p:sp>
      <p:cxnSp>
        <p:nvCxnSpPr>
          <p:cNvPr id="157" name="Connector 156"/>
          <p:cNvCxnSpPr/>
          <p:nvPr/>
        </p:nvCxnSpPr>
        <p:spPr>
          <a:xfrm>
            <a:off x="8841382" y="5725411"/>
            <a:ext cx="394578" cy="5876"/>
          </a:xfrm>
          <a:prstGeom prst="line">
            <a:avLst/>
          </a:prstGeom>
          <a:ln w="15874" cap="rnd">
            <a:solidFill>
              <a:srgbClr val="8DBDFF"/>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8" name="TextBox 157"/>
          <p:cNvSpPr txBox="1"/>
          <p:nvPr/>
        </p:nvSpPr>
        <p:spPr>
          <a:xfrm>
            <a:off x="9346860" y="5648073"/>
            <a:ext cx="1766895" cy="153888"/>
          </a:xfrm>
          <a:prstGeom prst="rect">
            <a:avLst/>
          </a:prstGeom>
          <a:noFill/>
        </p:spPr>
        <p:txBody>
          <a:bodyPr wrap="square" lIns="0" tIns="0" rIns="0" bIns="0" anchor="t">
            <a:spAutoFit/>
          </a:bodyPr>
          <a:lstStyle/>
          <a:p>
            <a:pPr>
              <a:lnSpc>
                <a:spcPts val="602"/>
              </a:lnSpc>
            </a:pPr>
            <a:r>
              <a:rPr sz="759" dirty="0">
                <a:solidFill>
                  <a:srgbClr val="C7D6E8"/>
                </a:solidFill>
                <a:latin typeface="Arial"/>
              </a:rPr>
              <a:t>Synchronous </a:t>
            </a:r>
            <a:r>
              <a:rPr sz="759" dirty="0" err="1">
                <a:solidFill>
                  <a:srgbClr val="C7D6E8"/>
                </a:solidFill>
                <a:latin typeface="Arial"/>
              </a:rPr>
              <a:t>GraphQL</a:t>
            </a:r>
            <a:r>
              <a:rPr sz="759" dirty="0">
                <a:solidFill>
                  <a:srgbClr val="C7D6E8"/>
                </a:solidFill>
                <a:latin typeface="Arial"/>
              </a:rPr>
              <a:t> </a:t>
            </a:r>
            <a:r>
              <a:rPr lang="en-US" sz="759" dirty="0">
                <a:solidFill>
                  <a:srgbClr val="C7D6E8"/>
                </a:solidFill>
                <a:latin typeface="Arial"/>
              </a:rPr>
              <a:t> </a:t>
            </a:r>
            <a:r>
              <a:rPr sz="759" dirty="0" err="1">
                <a:solidFill>
                  <a:srgbClr val="C7D6E8"/>
                </a:solidFill>
                <a:latin typeface="Arial"/>
              </a:rPr>
              <a:t>equest</a:t>
            </a:r>
            <a:r>
              <a:rPr sz="759" dirty="0">
                <a:solidFill>
                  <a:srgbClr val="C7D6E8"/>
                </a:solidFill>
                <a:latin typeface="Arial"/>
              </a:rPr>
              <a:t>/response</a:t>
            </a:r>
            <a:r>
              <a:rPr lang="en-US" sz="759" dirty="0">
                <a:solidFill>
                  <a:srgbClr val="C7D6E8"/>
                </a:solidFill>
                <a:latin typeface="Arial"/>
              </a:rPr>
              <a:t> </a:t>
            </a:r>
            <a:r>
              <a:rPr sz="759" dirty="0">
                <a:solidFill>
                  <a:srgbClr val="C7D6E8"/>
                </a:solidFill>
                <a:latin typeface="Arial"/>
              </a:rPr>
              <a:t>(HTTPS)</a:t>
            </a:r>
          </a:p>
        </p:txBody>
      </p:sp>
      <p:cxnSp>
        <p:nvCxnSpPr>
          <p:cNvPr id="159" name="Connector 158"/>
          <p:cNvCxnSpPr/>
          <p:nvPr/>
        </p:nvCxnSpPr>
        <p:spPr>
          <a:xfrm>
            <a:off x="8858794" y="5961658"/>
            <a:ext cx="377166" cy="0"/>
          </a:xfrm>
          <a:prstGeom prst="line">
            <a:avLst/>
          </a:prstGeom>
          <a:ln w="15874" cap="rnd">
            <a:solidFill>
              <a:srgbClr val="92F6A8"/>
            </a:solidFill>
            <a:prstDash val="dash"/>
            <a:round/>
            <a:headEnd type="triangle" w="med" len="med"/>
            <a:tailEnd type="none" w="med" len="med"/>
          </a:ln>
          <a:effectLst/>
        </p:spPr>
        <p:style>
          <a:lnRef idx="2">
            <a:schemeClr val="accent1"/>
          </a:lnRef>
          <a:fillRef idx="0">
            <a:schemeClr val="accent1"/>
          </a:fillRef>
          <a:effectRef idx="0">
            <a:schemeClr val="accent1"/>
          </a:effectRef>
          <a:fontRef idx="minor">
            <a:schemeClr val="tx1"/>
          </a:fontRef>
        </p:style>
      </p:cxnSp>
      <p:sp>
        <p:nvSpPr>
          <p:cNvPr id="160" name="TextBox 159"/>
          <p:cNvSpPr txBox="1"/>
          <p:nvPr/>
        </p:nvSpPr>
        <p:spPr>
          <a:xfrm>
            <a:off x="9323555" y="5885970"/>
            <a:ext cx="1687605" cy="205184"/>
          </a:xfrm>
          <a:prstGeom prst="rect">
            <a:avLst/>
          </a:prstGeom>
          <a:noFill/>
        </p:spPr>
        <p:txBody>
          <a:bodyPr wrap="square" lIns="0" tIns="0" rIns="0" bIns="0" anchor="t">
            <a:spAutoFit/>
          </a:bodyPr>
          <a:lstStyle/>
          <a:p>
            <a:pPr>
              <a:lnSpc>
                <a:spcPts val="793"/>
              </a:lnSpc>
            </a:pPr>
            <a:r>
              <a:rPr sz="759" dirty="0">
                <a:solidFill>
                  <a:srgbClr val="C7D6E8"/>
                </a:solidFill>
                <a:latin typeface="Arial"/>
              </a:rPr>
              <a:t>Real-time subscription flow</a:t>
            </a:r>
          </a:p>
          <a:p>
            <a:pPr>
              <a:lnSpc>
                <a:spcPts val="793"/>
              </a:lnSpc>
            </a:pPr>
            <a:r>
              <a:rPr sz="759" dirty="0">
                <a:solidFill>
                  <a:srgbClr val="C7D6E8"/>
                </a:solidFill>
                <a:latin typeface="Arial"/>
              </a:rPr>
              <a:t>(</a:t>
            </a:r>
            <a:r>
              <a:rPr sz="759" dirty="0" err="1">
                <a:solidFill>
                  <a:srgbClr val="C7D6E8"/>
                </a:solidFill>
                <a:latin typeface="Arial"/>
              </a:rPr>
              <a:t>WebSockets</a:t>
            </a:r>
            <a:r>
              <a:rPr sz="759" dirty="0">
                <a:solidFill>
                  <a:srgbClr val="C7D6E8"/>
                </a:solidFill>
                <a:latin typeface="Arial"/>
              </a:rPr>
              <a:t>)</a:t>
            </a:r>
          </a:p>
        </p:txBody>
      </p:sp>
      <p:cxnSp>
        <p:nvCxnSpPr>
          <p:cNvPr id="161" name="Connector 160"/>
          <p:cNvCxnSpPr/>
          <p:nvPr/>
        </p:nvCxnSpPr>
        <p:spPr>
          <a:xfrm>
            <a:off x="8861338" y="6235920"/>
            <a:ext cx="408642" cy="0"/>
          </a:xfrm>
          <a:prstGeom prst="line">
            <a:avLst/>
          </a:prstGeom>
          <a:ln w="15874" cap="rnd">
            <a:solidFill>
              <a:srgbClr val="F260B0"/>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2" name="TextBox 161"/>
          <p:cNvSpPr txBox="1"/>
          <p:nvPr/>
        </p:nvSpPr>
        <p:spPr>
          <a:xfrm>
            <a:off x="9360627" y="6149358"/>
            <a:ext cx="1723931" cy="179536"/>
          </a:xfrm>
          <a:prstGeom prst="rect">
            <a:avLst/>
          </a:prstGeom>
          <a:noFill/>
        </p:spPr>
        <p:txBody>
          <a:bodyPr wrap="square" lIns="0" tIns="0" rIns="0" bIns="0" anchor="t">
            <a:spAutoFit/>
          </a:bodyPr>
          <a:lstStyle/>
          <a:p>
            <a:pPr>
              <a:lnSpc>
                <a:spcPts val="653"/>
              </a:lnSpc>
            </a:pPr>
            <a:r>
              <a:rPr sz="759" dirty="0">
                <a:solidFill>
                  <a:srgbClr val="97B6D6"/>
                </a:solidFill>
                <a:latin typeface="Arial"/>
              </a:rPr>
              <a:t>Asynchronous event flow</a:t>
            </a:r>
            <a:r>
              <a:rPr lang="en-US" sz="759" dirty="0">
                <a:solidFill>
                  <a:srgbClr val="97B6D6"/>
                </a:solidFill>
                <a:latin typeface="Arial"/>
              </a:rPr>
              <a:t> </a:t>
            </a:r>
            <a:r>
              <a:rPr sz="759" dirty="0">
                <a:solidFill>
                  <a:srgbClr val="97B6D6"/>
                </a:solidFill>
                <a:latin typeface="Arial"/>
              </a:rPr>
              <a:t>(SNS/SQS/</a:t>
            </a:r>
            <a:r>
              <a:rPr sz="759" dirty="0" err="1">
                <a:solidFill>
                  <a:srgbClr val="97B6D6"/>
                </a:solidFill>
                <a:latin typeface="Arial"/>
              </a:rPr>
              <a:t>EventBridge</a:t>
            </a:r>
            <a:r>
              <a:rPr sz="759" dirty="0">
                <a:solidFill>
                  <a:srgbClr val="97B6D6"/>
                </a:solidFill>
                <a:latin typeface="Arial"/>
              </a:rPr>
              <a:t>)</a:t>
            </a:r>
          </a:p>
        </p:txBody>
      </p:sp>
      <p:cxnSp>
        <p:nvCxnSpPr>
          <p:cNvPr id="163" name="Connector 162"/>
          <p:cNvCxnSpPr/>
          <p:nvPr/>
        </p:nvCxnSpPr>
        <p:spPr>
          <a:xfrm>
            <a:off x="8876740" y="6472421"/>
            <a:ext cx="364844" cy="7029"/>
          </a:xfrm>
          <a:prstGeom prst="line">
            <a:avLst/>
          </a:prstGeom>
          <a:ln w="7937" cap="rnd">
            <a:solidFill>
              <a:srgbClr val="B9D3E9"/>
            </a:solidFill>
            <a:prstDash val="dash"/>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4" name="TextBox 163"/>
          <p:cNvSpPr txBox="1"/>
          <p:nvPr/>
        </p:nvSpPr>
        <p:spPr>
          <a:xfrm>
            <a:off x="9366010" y="6421060"/>
            <a:ext cx="948541" cy="128497"/>
          </a:xfrm>
          <a:prstGeom prst="rect">
            <a:avLst/>
          </a:prstGeom>
          <a:noFill/>
        </p:spPr>
        <p:txBody>
          <a:bodyPr wrap="square" lIns="0" tIns="0" rIns="0" bIns="0" anchor="t">
            <a:spAutoFit/>
          </a:bodyPr>
          <a:lstStyle/>
          <a:p>
            <a:pPr algn="l">
              <a:lnSpc>
                <a:spcPct val="110000"/>
              </a:lnSpc>
            </a:pPr>
            <a:r>
              <a:rPr sz="759" dirty="0">
                <a:solidFill>
                  <a:srgbClr val="C6D8E8"/>
                </a:solidFill>
                <a:latin typeface="Arial"/>
              </a:rPr>
              <a:t>Optional flow</a:t>
            </a:r>
          </a:p>
        </p:txBody>
      </p:sp>
      <p:cxnSp>
        <p:nvCxnSpPr>
          <p:cNvPr id="165" name="Connector 164"/>
          <p:cNvCxnSpPr>
            <a:endCxn id="167" idx="1"/>
          </p:cNvCxnSpPr>
          <p:nvPr/>
        </p:nvCxnSpPr>
        <p:spPr>
          <a:xfrm>
            <a:off x="1933914" y="1205432"/>
            <a:ext cx="148747" cy="16776"/>
          </a:xfrm>
          <a:prstGeom prst="line">
            <a:avLst/>
          </a:prstGeom>
          <a:ln w="11906" cap="rnd">
            <a:solidFill>
              <a:srgbClr val="888888"/>
            </a:solidFill>
            <a:prstDash val="dash"/>
            <a:round/>
            <a:headEnd type="none" w="med" len="med"/>
            <a:tailEnd type="triangle" w="med" len="med"/>
          </a:ln>
          <a:effectLst/>
        </p:spPr>
        <p:style>
          <a:lnRef idx="2">
            <a:schemeClr val="accent1"/>
          </a:lnRef>
          <a:fillRef idx="0">
            <a:schemeClr val="accent1"/>
          </a:fillRef>
          <a:effectRef idx="0">
            <a:schemeClr val="accent1"/>
          </a:effectRef>
          <a:fontRef idx="minor">
            <a:schemeClr val="tx1"/>
          </a:fontRef>
        </p:style>
      </p:cxnSp>
      <p:pic>
        <p:nvPicPr>
          <p:cNvPr id="167" name="Graphic 17">
            <a:extLst>
              <a:ext uri="{FF2B5EF4-FFF2-40B4-BE49-F238E27FC236}">
                <a16:creationId xmlns:a16="http://schemas.microsoft.com/office/drawing/2014/main" xmlns="" id="{29A4B8A3-9C63-104B-986C-E2796ED6BACB}"/>
              </a:ext>
            </a:extLst>
          </p:cNvPr>
          <p:cNvPicPr>
            <a:picLocks noChangeAspect="1" noChangeArrowheads="1"/>
          </p:cNvPicPr>
          <p:nvPr/>
        </p:nvPicPr>
        <p:blipFill>
          <a:blip r:embed="rId16">
            <a:extLst>
              <a:ext uri="{96DAC541-7B7A-43D3-8B79-37D633B846F1}">
                <asvg:svgBlip xmlns:asvg="http://schemas.microsoft.com/office/drawing/2016/SVG/main" xmlns="" r:embed="rId61"/>
              </a:ext>
            </a:extLst>
          </a:blip>
          <a:srcRect/>
          <a:stretch/>
        </p:blipFill>
        <p:spPr bwMode="auto">
          <a:xfrm>
            <a:off x="2082661" y="987719"/>
            <a:ext cx="468978" cy="468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 name="TextBox 167"/>
          <p:cNvSpPr txBox="1"/>
          <p:nvPr/>
        </p:nvSpPr>
        <p:spPr>
          <a:xfrm>
            <a:off x="1857781" y="1472490"/>
            <a:ext cx="802817" cy="346249"/>
          </a:xfrm>
          <a:prstGeom prst="rect">
            <a:avLst/>
          </a:prstGeom>
          <a:noFill/>
        </p:spPr>
        <p:txBody>
          <a:bodyPr wrap="square" lIns="0" tIns="0" rIns="0" bIns="0" anchor="t">
            <a:spAutoFit/>
          </a:bodyPr>
          <a:lstStyle/>
          <a:p>
            <a:pPr algn="ctr">
              <a:lnSpc>
                <a:spcPts val="860"/>
              </a:lnSpc>
            </a:pPr>
            <a:r>
              <a:rPr sz="758" b="1" dirty="0">
                <a:solidFill>
                  <a:srgbClr val="F6F5FF"/>
                </a:solidFill>
                <a:latin typeface="Arial"/>
              </a:rPr>
              <a:t>Amazon</a:t>
            </a:r>
            <a:endParaRPr lang="en-US" sz="758" b="1" dirty="0">
              <a:solidFill>
                <a:srgbClr val="F6F5FF"/>
              </a:solidFill>
              <a:latin typeface="Arial"/>
            </a:endParaRPr>
          </a:p>
          <a:p>
            <a:pPr algn="ctr">
              <a:lnSpc>
                <a:spcPts val="860"/>
              </a:lnSpc>
            </a:pPr>
            <a:r>
              <a:rPr sz="758" b="1" dirty="0">
                <a:solidFill>
                  <a:srgbClr val="F6F5FF"/>
                </a:solidFill>
                <a:latin typeface="Arial"/>
              </a:rPr>
              <a:t> </a:t>
            </a:r>
            <a:r>
              <a:rPr sz="758" b="1" dirty="0" err="1">
                <a:solidFill>
                  <a:srgbClr val="F6F5FF"/>
                </a:solidFill>
                <a:latin typeface="Arial"/>
              </a:rPr>
              <a:t>Cognito</a:t>
            </a:r>
            <a:endParaRPr sz="758" b="1" dirty="0">
              <a:solidFill>
                <a:srgbClr val="F6F5FF"/>
              </a:solidFill>
              <a:latin typeface="Arial"/>
            </a:endParaRPr>
          </a:p>
          <a:p>
            <a:pPr algn="ctr">
              <a:lnSpc>
                <a:spcPts val="860"/>
              </a:lnSpc>
            </a:pPr>
            <a:r>
              <a:rPr sz="758" b="1" dirty="0">
                <a:solidFill>
                  <a:srgbClr val="F6F5FF"/>
                </a:solidFill>
                <a:latin typeface="Arial"/>
              </a:rPr>
              <a:t>(User Pool)</a:t>
            </a:r>
          </a:p>
        </p:txBody>
      </p:sp>
      <p:pic>
        <p:nvPicPr>
          <p:cNvPr id="169" name="Graphic 23">
            <a:extLst>
              <a:ext uri="{FF2B5EF4-FFF2-40B4-BE49-F238E27FC236}">
                <a16:creationId xmlns:a16="http://schemas.microsoft.com/office/drawing/2014/main" xmlns="" id="{5FEADC81-49E1-C5C5-CA9F-21E7F7C9EDE2}"/>
              </a:ext>
            </a:extLst>
          </p:cNvPr>
          <p:cNvPicPr>
            <a:picLocks noChangeAspect="1" noChangeArrowheads="1"/>
          </p:cNvPicPr>
          <p:nvPr/>
        </p:nvPicPr>
        <p:blipFill>
          <a:blip r:embed="rId62">
            <a:extLst>
              <a:ext uri="{96DAC541-7B7A-43D3-8B79-37D633B846F1}">
                <asvg:svgBlip xmlns:asvg="http://schemas.microsoft.com/office/drawing/2016/SVG/main" xmlns="" r:embed="rId63"/>
              </a:ext>
            </a:extLst>
          </a:blip>
          <a:srcRect/>
          <a:stretch/>
        </p:blipFill>
        <p:spPr bwMode="auto">
          <a:xfrm flipH="1">
            <a:off x="1371432" y="1134973"/>
            <a:ext cx="396478" cy="396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2" name="Connector 78"/>
          <p:cNvCxnSpPr/>
          <p:nvPr/>
        </p:nvCxnSpPr>
        <p:spPr>
          <a:xfrm>
            <a:off x="4588887" y="3018879"/>
            <a:ext cx="273784" cy="0"/>
          </a:xfrm>
          <a:prstGeom prst="line">
            <a:avLst/>
          </a:prstGeom>
          <a:ln w="7937" cap="rnd">
            <a:solidFill>
              <a:srgbClr val="B5D7FF"/>
            </a:solidFill>
            <a:prstDash val="dash"/>
            <a:round/>
            <a:headEnd type="triangle" w="med" len="me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5" name="TextBox 15">
            <a:extLst>
              <a:ext uri="{FF2B5EF4-FFF2-40B4-BE49-F238E27FC236}">
                <a16:creationId xmlns:a16="http://schemas.microsoft.com/office/drawing/2014/main" xmlns="" id="{F7D962A4-0C55-B74F-8359-63743FFB158D}"/>
              </a:ext>
            </a:extLst>
          </p:cNvPr>
          <p:cNvSpPr txBox="1">
            <a:spLocks noChangeArrowheads="1"/>
          </p:cNvSpPr>
          <p:nvPr/>
        </p:nvSpPr>
        <p:spPr bwMode="auto">
          <a:xfrm>
            <a:off x="3610298" y="2547913"/>
            <a:ext cx="883983" cy="3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59" b="1" dirty="0">
                <a:solidFill>
                  <a:schemeClr val="bg1"/>
                </a:solidFill>
                <a:latin typeface="Arial" panose="020B0604020202020204" pitchFamily="34" charset="0"/>
                <a:ea typeface="Amazon Ember" panose="020B0603020204020204" pitchFamily="34" charset="0"/>
                <a:cs typeface="Arial" panose="020B0604020202020204" pitchFamily="34" charset="0"/>
              </a:rPr>
              <a:t>AWS </a:t>
            </a:r>
            <a:r>
              <a:rPr lang="en-US" altLang="en-US" sz="759" b="1" dirty="0" err="1">
                <a:solidFill>
                  <a:schemeClr val="bg1"/>
                </a:solidFill>
                <a:latin typeface="Arial" panose="020B0604020202020204" pitchFamily="34" charset="0"/>
                <a:ea typeface="Amazon Ember" panose="020B0603020204020204" pitchFamily="34" charset="0"/>
                <a:cs typeface="Arial" panose="020B0604020202020204" pitchFamily="34" charset="0"/>
              </a:rPr>
              <a:t>AppSync</a:t>
            </a:r>
            <a:r>
              <a:rPr lang="en-US" altLang="en-US" sz="759" b="1" dirty="0">
                <a:solidFill>
                  <a:schemeClr val="bg1"/>
                </a:solidFill>
                <a:latin typeface="Arial" panose="020B0604020202020204" pitchFamily="34" charset="0"/>
                <a:ea typeface="Amazon Ember" panose="020B0603020204020204" pitchFamily="34" charset="0"/>
                <a:cs typeface="Arial" panose="020B0604020202020204" pitchFamily="34" charset="0"/>
              </a:rPr>
              <a:t> </a:t>
            </a:r>
          </a:p>
          <a:p>
            <a:pPr algn="ctr" eaLnBrk="1" hangingPunct="1"/>
            <a:r>
              <a:rPr lang="en-US" altLang="en-US" sz="759" b="1" dirty="0" err="1">
                <a:solidFill>
                  <a:schemeClr val="bg1"/>
                </a:solidFill>
                <a:latin typeface="Arial" panose="020B0604020202020204" pitchFamily="34" charset="0"/>
                <a:ea typeface="Amazon Ember" panose="020B0603020204020204" pitchFamily="34" charset="0"/>
                <a:cs typeface="Arial" panose="020B0604020202020204" pitchFamily="34" charset="0"/>
              </a:rPr>
              <a:t>GraphQL</a:t>
            </a:r>
            <a:r>
              <a:rPr lang="en-US" altLang="en-US" sz="759" b="1" dirty="0">
                <a:solidFill>
                  <a:schemeClr val="bg1"/>
                </a:solidFill>
                <a:latin typeface="Arial" panose="020B0604020202020204" pitchFamily="34" charset="0"/>
                <a:ea typeface="Amazon Ember" panose="020B0603020204020204" pitchFamily="34" charset="0"/>
                <a:cs typeface="Arial" panose="020B0604020202020204" pitchFamily="34" charset="0"/>
              </a:rPr>
              <a:t> API</a:t>
            </a:r>
          </a:p>
        </p:txBody>
      </p:sp>
      <p:cxnSp>
        <p:nvCxnSpPr>
          <p:cNvPr id="196" name="Connector 87"/>
          <p:cNvCxnSpPr/>
          <p:nvPr/>
        </p:nvCxnSpPr>
        <p:spPr>
          <a:xfrm flipH="1">
            <a:off x="2271780" y="2960005"/>
            <a:ext cx="1290882" cy="0"/>
          </a:xfrm>
          <a:prstGeom prst="line">
            <a:avLst/>
          </a:prstGeom>
          <a:ln w="15874" cap="rnd">
            <a:solidFill>
              <a:srgbClr val="8AF5A8"/>
            </a:solidFill>
            <a:prstDash val="dash"/>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9" name="TextBox 198"/>
          <p:cNvSpPr txBox="1"/>
          <p:nvPr/>
        </p:nvSpPr>
        <p:spPr>
          <a:xfrm>
            <a:off x="2385624" y="3020035"/>
            <a:ext cx="990865" cy="461665"/>
          </a:xfrm>
          <a:prstGeom prst="rect">
            <a:avLst/>
          </a:prstGeom>
          <a:noFill/>
        </p:spPr>
        <p:txBody>
          <a:bodyPr wrap="square" lIns="0" tIns="0" rIns="0" bIns="0" anchor="t">
            <a:spAutoFit/>
          </a:bodyPr>
          <a:lstStyle/>
          <a:p>
            <a:pPr algn="ctr">
              <a:lnSpc>
                <a:spcPts val="862"/>
              </a:lnSpc>
            </a:pPr>
            <a:r>
              <a:rPr sz="759" b="1" dirty="0" err="1">
                <a:solidFill>
                  <a:srgbClr val="A8E9C5"/>
                </a:solidFill>
                <a:latin typeface="Arial"/>
              </a:rPr>
              <a:t>GraphQL</a:t>
            </a:r>
            <a:r>
              <a:rPr sz="759" b="1" dirty="0">
                <a:solidFill>
                  <a:srgbClr val="A8E9C5"/>
                </a:solidFill>
                <a:latin typeface="Arial"/>
              </a:rPr>
              <a:t> Subscriptions</a:t>
            </a:r>
          </a:p>
          <a:p>
            <a:pPr algn="ctr">
              <a:lnSpc>
                <a:spcPts val="862"/>
              </a:lnSpc>
            </a:pPr>
            <a:r>
              <a:rPr sz="759" dirty="0">
                <a:solidFill>
                  <a:srgbClr val="A8E9C5"/>
                </a:solidFill>
                <a:latin typeface="Arial"/>
              </a:rPr>
              <a:t>(Real-time updates</a:t>
            </a:r>
          </a:p>
          <a:p>
            <a:pPr algn="ctr">
              <a:lnSpc>
                <a:spcPts val="862"/>
              </a:lnSpc>
            </a:pPr>
            <a:r>
              <a:rPr sz="759" dirty="0">
                <a:solidFill>
                  <a:srgbClr val="A8E9C5"/>
                </a:solidFill>
                <a:latin typeface="Arial"/>
              </a:rPr>
              <a:t>to connected clients)</a:t>
            </a:r>
          </a:p>
        </p:txBody>
      </p:sp>
      <p:cxnSp>
        <p:nvCxnSpPr>
          <p:cNvPr id="204" name="Connector 139"/>
          <p:cNvCxnSpPr/>
          <p:nvPr/>
        </p:nvCxnSpPr>
        <p:spPr>
          <a:xfrm>
            <a:off x="6850080" y="5737331"/>
            <a:ext cx="0" cy="758752"/>
          </a:xfrm>
          <a:prstGeom prst="line">
            <a:avLst/>
          </a:prstGeom>
          <a:ln w="7937" cap="rnd">
            <a:solidFill>
              <a:srgbClr val="668090"/>
            </a:solidFill>
            <a:round/>
          </a:ln>
          <a:effectLst/>
        </p:spPr>
        <p:style>
          <a:lnRef idx="2">
            <a:schemeClr val="accent1"/>
          </a:lnRef>
          <a:fillRef idx="0">
            <a:schemeClr val="accent1"/>
          </a:fillRef>
          <a:effectRef idx="0">
            <a:schemeClr val="accent1"/>
          </a:effectRef>
          <a:fontRef idx="minor">
            <a:schemeClr val="tx1"/>
          </a:fontRef>
        </p:style>
      </p:cxnSp>
      <p:sp>
        <p:nvSpPr>
          <p:cNvPr id="224" name="Rounded Rectangle 223"/>
          <p:cNvSpPr/>
          <p:nvPr/>
        </p:nvSpPr>
        <p:spPr>
          <a:xfrm>
            <a:off x="7672443" y="2346501"/>
            <a:ext cx="432951" cy="426254"/>
          </a:xfrm>
          <a:prstGeom prst="roundRect">
            <a:avLst>
              <a:gd name="adj" fmla="val 8113"/>
            </a:avLst>
          </a:prstGeom>
          <a:solidFill>
            <a:srgbClr val="EC65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225" name="Picture 224" descr="pic_48.png"/>
          <p:cNvPicPr>
            <a:picLocks noChangeAspect="1"/>
          </p:cNvPicPr>
          <p:nvPr/>
        </p:nvPicPr>
        <p:blipFill>
          <a:blip r:embed="rId4"/>
          <a:stretch>
            <a:fillRect/>
          </a:stretch>
        </p:blipFill>
        <p:spPr>
          <a:xfrm>
            <a:off x="7729040" y="2379516"/>
            <a:ext cx="336174" cy="346361"/>
          </a:xfrm>
          <a:prstGeom prst="rect">
            <a:avLst/>
          </a:prstGeom>
          <a:effectLst/>
        </p:spPr>
      </p:pic>
      <p:pic>
        <p:nvPicPr>
          <p:cNvPr id="234" name="Graphic 17">
            <a:extLst>
              <a:ext uri="{FF2B5EF4-FFF2-40B4-BE49-F238E27FC236}">
                <a16:creationId xmlns:a16="http://schemas.microsoft.com/office/drawing/2014/main" xmlns="" id="{8CE83EE0-3025-B5A3-A6CA-4EAF8ED56CAC}"/>
              </a:ext>
            </a:extLst>
          </p:cNvPr>
          <p:cNvPicPr>
            <a:picLocks noChangeAspect="1"/>
          </p:cNvPicPr>
          <p:nvPr/>
        </p:nvPicPr>
        <p:blipFill>
          <a:blip r:embed="rId64">
            <a:extLst>
              <a:ext uri="{96DAC541-7B7A-43D3-8B79-37D633B846F1}">
                <asvg:svgBlip xmlns:asvg="http://schemas.microsoft.com/office/drawing/2016/SVG/main" xmlns="" r:embed="rId82"/>
              </a:ext>
            </a:extLst>
          </a:blip>
          <a:stretch>
            <a:fillRect/>
          </a:stretch>
        </p:blipFill>
        <p:spPr>
          <a:xfrm>
            <a:off x="6790903" y="4192616"/>
            <a:ext cx="291300" cy="291300"/>
          </a:xfrm>
          <a:prstGeom prst="rect">
            <a:avLst/>
          </a:prstGeom>
        </p:spPr>
      </p:pic>
      <p:cxnSp>
        <p:nvCxnSpPr>
          <p:cNvPr id="235" name="Connector 123"/>
          <p:cNvCxnSpPr/>
          <p:nvPr/>
        </p:nvCxnSpPr>
        <p:spPr>
          <a:xfrm>
            <a:off x="7166678" y="4788243"/>
            <a:ext cx="348729" cy="0"/>
          </a:xfrm>
          <a:prstGeom prst="line">
            <a:avLst/>
          </a:prstGeom>
          <a:ln w="15874" cap="rnd">
            <a:solidFill>
              <a:srgbClr val="F965AE"/>
            </a:solidFill>
            <a:round/>
            <a:tailEnd type="triangle" w="med" len="med"/>
          </a:ln>
          <a:effectLst/>
        </p:spPr>
        <p:style>
          <a:lnRef idx="2">
            <a:schemeClr val="accent1"/>
          </a:lnRef>
          <a:fillRef idx="0">
            <a:schemeClr val="accent1"/>
          </a:fillRef>
          <a:effectRef idx="0">
            <a:schemeClr val="accent1"/>
          </a:effectRef>
          <a:fontRef idx="minor">
            <a:schemeClr val="tx1"/>
          </a:fontRef>
        </p:style>
      </p:cxnSp>
      <p:pic>
        <p:nvPicPr>
          <p:cNvPr id="239" name="Graphic 17">
            <a:extLst>
              <a:ext uri="{FF2B5EF4-FFF2-40B4-BE49-F238E27FC236}">
                <a16:creationId xmlns:a16="http://schemas.microsoft.com/office/drawing/2014/main" xmlns="" id="{8CE83EE0-3025-B5A3-A6CA-4EAF8ED56CAC}"/>
              </a:ext>
            </a:extLst>
          </p:cNvPr>
          <p:cNvPicPr>
            <a:picLocks noChangeAspect="1"/>
          </p:cNvPicPr>
          <p:nvPr/>
        </p:nvPicPr>
        <p:blipFill>
          <a:blip r:embed="rId64">
            <a:extLst>
              <a:ext uri="{96DAC541-7B7A-43D3-8B79-37D633B846F1}">
                <asvg:svgBlip xmlns:asvg="http://schemas.microsoft.com/office/drawing/2016/SVG/main" xmlns="" r:embed="rId82"/>
              </a:ext>
            </a:extLst>
          </a:blip>
          <a:stretch>
            <a:fillRect/>
          </a:stretch>
        </p:blipFill>
        <p:spPr>
          <a:xfrm>
            <a:off x="8226953" y="4146224"/>
            <a:ext cx="291300" cy="291300"/>
          </a:xfrm>
          <a:prstGeom prst="rect">
            <a:avLst/>
          </a:prstGeom>
        </p:spPr>
      </p:pic>
      <p:pic>
        <p:nvPicPr>
          <p:cNvPr id="240" name="Graphic 17">
            <a:extLst>
              <a:ext uri="{FF2B5EF4-FFF2-40B4-BE49-F238E27FC236}">
                <a16:creationId xmlns:a16="http://schemas.microsoft.com/office/drawing/2014/main" xmlns="" id="{8CE83EE0-3025-B5A3-A6CA-4EAF8ED56CAC}"/>
              </a:ext>
            </a:extLst>
          </p:cNvPr>
          <p:cNvPicPr>
            <a:picLocks noChangeAspect="1"/>
          </p:cNvPicPr>
          <p:nvPr/>
        </p:nvPicPr>
        <p:blipFill>
          <a:blip r:embed="rId64">
            <a:extLst>
              <a:ext uri="{96DAC541-7B7A-43D3-8B79-37D633B846F1}">
                <asvg:svgBlip xmlns:asvg="http://schemas.microsoft.com/office/drawing/2016/SVG/main" xmlns="" r:embed="rId82"/>
              </a:ext>
            </a:extLst>
          </a:blip>
          <a:stretch>
            <a:fillRect/>
          </a:stretch>
        </p:blipFill>
        <p:spPr>
          <a:xfrm>
            <a:off x="9777684" y="4160697"/>
            <a:ext cx="291300" cy="291300"/>
          </a:xfrm>
          <a:prstGeom prst="rect">
            <a:avLst/>
          </a:prstGeom>
        </p:spPr>
      </p:pic>
      <p:cxnSp>
        <p:nvCxnSpPr>
          <p:cNvPr id="241" name="Connector 119"/>
          <p:cNvCxnSpPr/>
          <p:nvPr/>
        </p:nvCxnSpPr>
        <p:spPr>
          <a:xfrm>
            <a:off x="9939742" y="4403018"/>
            <a:ext cx="0" cy="160724"/>
          </a:xfrm>
          <a:prstGeom prst="line">
            <a:avLst/>
          </a:prstGeom>
          <a:ln w="15874" cap="rnd">
            <a:solidFill>
              <a:srgbClr val="FF73B5"/>
            </a:solidFill>
            <a:round/>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42" name="Connector 123"/>
          <p:cNvCxnSpPr/>
          <p:nvPr/>
        </p:nvCxnSpPr>
        <p:spPr>
          <a:xfrm>
            <a:off x="10170132" y="4788243"/>
            <a:ext cx="394980" cy="0"/>
          </a:xfrm>
          <a:prstGeom prst="line">
            <a:avLst/>
          </a:prstGeom>
          <a:ln w="15874" cap="rnd">
            <a:solidFill>
              <a:srgbClr val="F965AE"/>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243" name="TextBox 242"/>
          <p:cNvSpPr txBox="1"/>
          <p:nvPr/>
        </p:nvSpPr>
        <p:spPr>
          <a:xfrm>
            <a:off x="8923150" y="4931159"/>
            <a:ext cx="518024" cy="179536"/>
          </a:xfrm>
          <a:prstGeom prst="rect">
            <a:avLst/>
          </a:prstGeom>
          <a:noFill/>
        </p:spPr>
        <p:txBody>
          <a:bodyPr wrap="square" lIns="0" tIns="0" rIns="0" bIns="0" anchor="t">
            <a:spAutoFit/>
          </a:bodyPr>
          <a:lstStyle/>
          <a:p>
            <a:pPr algn="ctr">
              <a:lnSpc>
                <a:spcPts val="672"/>
              </a:lnSpc>
            </a:pPr>
            <a:r>
              <a:rPr sz="759" b="1" dirty="0">
                <a:solidFill>
                  <a:srgbClr val="F5FBFF"/>
                </a:solidFill>
                <a:latin typeface="Arial"/>
              </a:rPr>
              <a:t>DLQ</a:t>
            </a:r>
          </a:p>
          <a:p>
            <a:pPr algn="ctr">
              <a:lnSpc>
                <a:spcPts val="672"/>
              </a:lnSpc>
            </a:pPr>
            <a:r>
              <a:rPr sz="759" dirty="0">
                <a:solidFill>
                  <a:srgbClr val="DCEBF2"/>
                </a:solidFill>
                <a:latin typeface="Arial"/>
              </a:rPr>
              <a:t>(on failure)</a:t>
            </a:r>
          </a:p>
        </p:txBody>
      </p:sp>
      <p:sp>
        <p:nvSpPr>
          <p:cNvPr id="244" name="TextBox 243"/>
          <p:cNvSpPr txBox="1"/>
          <p:nvPr/>
        </p:nvSpPr>
        <p:spPr>
          <a:xfrm>
            <a:off x="10534409" y="4932280"/>
            <a:ext cx="518024" cy="179536"/>
          </a:xfrm>
          <a:prstGeom prst="rect">
            <a:avLst/>
          </a:prstGeom>
          <a:noFill/>
        </p:spPr>
        <p:txBody>
          <a:bodyPr wrap="square" lIns="0" tIns="0" rIns="0" bIns="0" anchor="t">
            <a:spAutoFit/>
          </a:bodyPr>
          <a:lstStyle/>
          <a:p>
            <a:pPr algn="ctr">
              <a:lnSpc>
                <a:spcPts val="672"/>
              </a:lnSpc>
            </a:pPr>
            <a:r>
              <a:rPr sz="759" b="1" dirty="0">
                <a:solidFill>
                  <a:srgbClr val="F5FBFF"/>
                </a:solidFill>
                <a:latin typeface="Arial"/>
              </a:rPr>
              <a:t>DLQ</a:t>
            </a:r>
          </a:p>
          <a:p>
            <a:pPr algn="ctr">
              <a:lnSpc>
                <a:spcPts val="672"/>
              </a:lnSpc>
            </a:pPr>
            <a:r>
              <a:rPr sz="759" dirty="0">
                <a:solidFill>
                  <a:srgbClr val="DCEBF2"/>
                </a:solidFill>
                <a:latin typeface="Arial"/>
              </a:rPr>
              <a:t>(on failure)</a:t>
            </a:r>
          </a:p>
        </p:txBody>
      </p:sp>
      <p:pic>
        <p:nvPicPr>
          <p:cNvPr id="245" name="Graphic 16">
            <a:extLst>
              <a:ext uri="{FF2B5EF4-FFF2-40B4-BE49-F238E27FC236}">
                <a16:creationId xmlns="" xmlns:a16="http://schemas.microsoft.com/office/drawing/2014/main" id="{434C0D7A-0CD2-1BB5-6981-1454BF4BB5A2}"/>
              </a:ext>
            </a:extLst>
          </p:cNvPr>
          <p:cNvPicPr>
            <a:picLocks noChangeAspect="1"/>
          </p:cNvPicPr>
          <p:nvPr/>
        </p:nvPicPr>
        <p:blipFill>
          <a:blip r:embed="rId83">
            <a:extLst>
              <a:ext uri="{96DAC541-7B7A-43D3-8B79-37D633B846F1}">
                <asvg:svgBlip xmlns="" xmlns:asvg="http://schemas.microsoft.com/office/drawing/2016/SVG/main" r:embed="rId84"/>
              </a:ext>
            </a:extLst>
          </a:blip>
          <a:stretch>
            <a:fillRect/>
          </a:stretch>
        </p:blipFill>
        <p:spPr>
          <a:xfrm>
            <a:off x="7541607" y="4638093"/>
            <a:ext cx="284228" cy="284228"/>
          </a:xfrm>
          <a:prstGeom prst="rect">
            <a:avLst/>
          </a:prstGeom>
        </p:spPr>
      </p:pic>
      <p:pic>
        <p:nvPicPr>
          <p:cNvPr id="246" name="Graphic 16">
            <a:extLst>
              <a:ext uri="{FF2B5EF4-FFF2-40B4-BE49-F238E27FC236}">
                <a16:creationId xmlns="" xmlns:a16="http://schemas.microsoft.com/office/drawing/2014/main" id="{434C0D7A-0CD2-1BB5-6981-1454BF4BB5A2}"/>
              </a:ext>
            </a:extLst>
          </p:cNvPr>
          <p:cNvPicPr>
            <a:picLocks noChangeAspect="1"/>
          </p:cNvPicPr>
          <p:nvPr/>
        </p:nvPicPr>
        <p:blipFill>
          <a:blip r:embed="rId83">
            <a:extLst>
              <a:ext uri="{96DAC541-7B7A-43D3-8B79-37D633B846F1}">
                <asvg:svgBlip xmlns="" xmlns:asvg="http://schemas.microsoft.com/office/drawing/2016/SVG/main" r:embed="rId84"/>
              </a:ext>
            </a:extLst>
          </a:blip>
          <a:stretch>
            <a:fillRect/>
          </a:stretch>
        </p:blipFill>
        <p:spPr>
          <a:xfrm>
            <a:off x="9025910" y="4645812"/>
            <a:ext cx="284228" cy="284228"/>
          </a:xfrm>
          <a:prstGeom prst="rect">
            <a:avLst/>
          </a:prstGeom>
        </p:spPr>
      </p:pic>
      <p:pic>
        <p:nvPicPr>
          <p:cNvPr id="247" name="Graphic 16">
            <a:extLst>
              <a:ext uri="{FF2B5EF4-FFF2-40B4-BE49-F238E27FC236}">
                <a16:creationId xmlns="" xmlns:a16="http://schemas.microsoft.com/office/drawing/2014/main" id="{434C0D7A-0CD2-1BB5-6981-1454BF4BB5A2}"/>
              </a:ext>
            </a:extLst>
          </p:cNvPr>
          <p:cNvPicPr>
            <a:picLocks noChangeAspect="1"/>
          </p:cNvPicPr>
          <p:nvPr/>
        </p:nvPicPr>
        <p:blipFill>
          <a:blip r:embed="rId83">
            <a:extLst>
              <a:ext uri="{96DAC541-7B7A-43D3-8B79-37D633B846F1}">
                <asvg:svgBlip xmlns="" xmlns:asvg="http://schemas.microsoft.com/office/drawing/2016/SVG/main" r:embed="rId84"/>
              </a:ext>
            </a:extLst>
          </a:blip>
          <a:stretch>
            <a:fillRect/>
          </a:stretch>
        </p:blipFill>
        <p:spPr>
          <a:xfrm>
            <a:off x="10625490" y="4646932"/>
            <a:ext cx="284228" cy="284228"/>
          </a:xfrm>
          <a:prstGeom prst="rect">
            <a:avLst/>
          </a:prstGeom>
        </p:spPr>
      </p:pic>
      <p:pic>
        <p:nvPicPr>
          <p:cNvPr id="166" name="Graphic 37">
            <a:extLst>
              <a:ext uri="{FF2B5EF4-FFF2-40B4-BE49-F238E27FC236}">
                <a16:creationId xmlns="" xmlns:a16="http://schemas.microsoft.com/office/drawing/2014/main" id="{165854FB-D6C2-5339-13A7-45F91BDECAE0}"/>
              </a:ext>
            </a:extLst>
          </p:cNvPr>
          <p:cNvPicPr>
            <a:picLocks noChangeAspect="1"/>
          </p:cNvPicPr>
          <p:nvPr/>
        </p:nvPicPr>
        <p:blipFill>
          <a:blip r:embed="rId85">
            <a:extLst>
              <a:ext uri="{96DAC541-7B7A-43D3-8B79-37D633B846F1}">
                <asvg:svgBlip xmlns="" xmlns:asvg="http://schemas.microsoft.com/office/drawing/2016/SVG/main" r:embed="rId86"/>
              </a:ext>
            </a:extLst>
          </a:blip>
          <a:stretch>
            <a:fillRect/>
          </a:stretch>
        </p:blipFill>
        <p:spPr>
          <a:xfrm>
            <a:off x="7260818" y="1416491"/>
            <a:ext cx="247079" cy="247079"/>
          </a:xfrm>
          <a:prstGeom prst="rect">
            <a:avLst/>
          </a:prstGeom>
        </p:spPr>
      </p:pic>
      <p:pic>
        <p:nvPicPr>
          <p:cNvPr id="170" name="Graphic 38">
            <a:extLst>
              <a:ext uri="{FF2B5EF4-FFF2-40B4-BE49-F238E27FC236}">
                <a16:creationId xmlns="" xmlns:a16="http://schemas.microsoft.com/office/drawing/2014/main" id="{66F0C245-BAD6-3207-FA9A-5F56D27DD82E}"/>
              </a:ext>
            </a:extLst>
          </p:cNvPr>
          <p:cNvPicPr>
            <a:picLocks noChangeAspect="1"/>
          </p:cNvPicPr>
          <p:nvPr/>
        </p:nvPicPr>
        <p:blipFill>
          <a:blip r:embed="rId87">
            <a:extLst>
              <a:ext uri="{96DAC541-7B7A-43D3-8B79-37D633B846F1}">
                <asvg:svgBlip xmlns="" xmlns:asvg="http://schemas.microsoft.com/office/drawing/2016/SVG/main" r:embed="rId88"/>
              </a:ext>
            </a:extLst>
          </a:blip>
          <a:stretch>
            <a:fillRect/>
          </a:stretch>
        </p:blipFill>
        <p:spPr>
          <a:xfrm>
            <a:off x="7729228" y="1918285"/>
            <a:ext cx="305940" cy="305940"/>
          </a:xfrm>
          <a:prstGeom prst="rect">
            <a:avLst/>
          </a:prstGeom>
        </p:spPr>
      </p:pic>
      <p:cxnSp>
        <p:nvCxnSpPr>
          <p:cNvPr id="171" name="Connector 79"/>
          <p:cNvCxnSpPr>
            <a:endCxn id="224" idx="0"/>
          </p:cNvCxnSpPr>
          <p:nvPr/>
        </p:nvCxnSpPr>
        <p:spPr>
          <a:xfrm>
            <a:off x="7880997" y="2224467"/>
            <a:ext cx="7922" cy="122034"/>
          </a:xfrm>
          <a:prstGeom prst="line">
            <a:avLst/>
          </a:prstGeom>
          <a:ln w="15874" cap="rnd">
            <a:solidFill>
              <a:srgbClr val="9EE6CF"/>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73" name="TextBox 172"/>
          <p:cNvSpPr txBox="1"/>
          <p:nvPr/>
        </p:nvSpPr>
        <p:spPr>
          <a:xfrm>
            <a:off x="7015638" y="2021012"/>
            <a:ext cx="844806" cy="179536"/>
          </a:xfrm>
          <a:prstGeom prst="rect">
            <a:avLst/>
          </a:prstGeom>
          <a:noFill/>
        </p:spPr>
        <p:txBody>
          <a:bodyPr wrap="square" lIns="0" tIns="0" rIns="0" bIns="0" anchor="t">
            <a:spAutoFit/>
          </a:bodyPr>
          <a:lstStyle/>
          <a:p>
            <a:pPr algn="ctr">
              <a:lnSpc>
                <a:spcPts val="713"/>
              </a:lnSpc>
            </a:pPr>
            <a:r>
              <a:rPr sz="759" b="1" dirty="0" err="1">
                <a:solidFill>
                  <a:srgbClr val="E7FFF4"/>
                </a:solidFill>
                <a:latin typeface="Arial"/>
              </a:rPr>
              <a:t>DynamoDB</a:t>
            </a:r>
            <a:r>
              <a:rPr sz="759" b="1" dirty="0">
                <a:solidFill>
                  <a:srgbClr val="E7FFF4"/>
                </a:solidFill>
                <a:latin typeface="Arial"/>
              </a:rPr>
              <a:t> Streams</a:t>
            </a:r>
          </a:p>
        </p:txBody>
      </p:sp>
    </p:spTree>
    <p:extLst>
      <p:ext uri="{BB962C8B-B14F-4D97-AF65-F5344CB8AC3E}">
        <p14:creationId xmlns:p14="http://schemas.microsoft.com/office/powerpoint/2010/main" val="28919553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871179" y="1708095"/>
            <a:ext cx="8910877" cy="2708093"/>
            <a:chOff x="871179" y="1708095"/>
            <a:chExt cx="8910877" cy="2708093"/>
          </a:xfrm>
        </p:grpSpPr>
        <p:grpSp>
          <p:nvGrpSpPr>
            <p:cNvPr id="14" name="Group 13"/>
            <p:cNvGrpSpPr/>
            <p:nvPr/>
          </p:nvGrpSpPr>
          <p:grpSpPr>
            <a:xfrm>
              <a:off x="871179" y="1708095"/>
              <a:ext cx="6011128" cy="1669535"/>
              <a:chOff x="871179" y="1708095"/>
              <a:chExt cx="6011128" cy="1669535"/>
            </a:xfrm>
          </p:grpSpPr>
          <p:grpSp>
            <p:nvGrpSpPr>
              <p:cNvPr id="10" name="Group 9"/>
              <p:cNvGrpSpPr/>
              <p:nvPr/>
            </p:nvGrpSpPr>
            <p:grpSpPr>
              <a:xfrm>
                <a:off x="871179" y="1708095"/>
                <a:ext cx="5423478" cy="1287256"/>
                <a:chOff x="1434521" y="2603788"/>
                <a:chExt cx="5423478" cy="1287256"/>
              </a:xfrm>
            </p:grpSpPr>
            <p:sp>
              <p:nvSpPr>
                <p:cNvPr id="2" name="Rectangle 1"/>
                <p:cNvSpPr/>
                <p:nvPr/>
              </p:nvSpPr>
              <p:spPr>
                <a:xfrm>
                  <a:off x="4927254" y="2828148"/>
                  <a:ext cx="1930745" cy="553998"/>
                </a:xfrm>
                <a:prstGeom prst="rect">
                  <a:avLst/>
                </a:prstGeom>
              </p:spPr>
              <p:txBody>
                <a:bodyPr wrap="square">
                  <a:spAutoFit/>
                </a:bodyPr>
                <a:lstStyle/>
                <a:p>
                  <a:pPr algn="ctr"/>
                  <a:r>
                    <a:rPr lang="en-US" sz="3000" b="1" dirty="0" err="1" smtClean="0">
                      <a:solidFill>
                        <a:srgbClr val="E7157B"/>
                      </a:solidFill>
                      <a:latin typeface="+mn-lt"/>
                    </a:rPr>
                    <a:t>GraphQL</a:t>
                  </a:r>
                  <a:endParaRPr lang="en-US" sz="3000" dirty="0">
                    <a:solidFill>
                      <a:srgbClr val="E7157B"/>
                    </a:solidFill>
                    <a:latin typeface="+mn-lt"/>
                  </a:endParaRPr>
                </a:p>
              </p:txBody>
            </p:sp>
            <p:pic>
              <p:nvPicPr>
                <p:cNvPr id="3" name="Picture 2"/>
                <p:cNvPicPr>
                  <a:picLocks noChangeAspect="1"/>
                </p:cNvPicPr>
                <p:nvPr/>
              </p:nvPicPr>
              <p:blipFill>
                <a:blip r:embed="rId2"/>
                <a:stretch>
                  <a:fillRect/>
                </a:stretch>
              </p:blipFill>
              <p:spPr>
                <a:xfrm>
                  <a:off x="1843705" y="3123938"/>
                  <a:ext cx="679336" cy="767106"/>
                </a:xfrm>
                <a:prstGeom prst="rect">
                  <a:avLst/>
                </a:prstGeom>
              </p:spPr>
            </p:pic>
            <p:grpSp>
              <p:nvGrpSpPr>
                <p:cNvPr id="7" name="Group 6"/>
                <p:cNvGrpSpPr/>
                <p:nvPr/>
              </p:nvGrpSpPr>
              <p:grpSpPr>
                <a:xfrm>
                  <a:off x="1434521" y="2603788"/>
                  <a:ext cx="3627336" cy="766371"/>
                  <a:chOff x="634377" y="1444562"/>
                  <a:chExt cx="3627336" cy="766371"/>
                </a:xfrm>
              </p:grpSpPr>
              <p:sp>
                <p:nvSpPr>
                  <p:cNvPr id="4" name="Rectangle 3"/>
                  <p:cNvSpPr/>
                  <p:nvPr/>
                </p:nvSpPr>
                <p:spPr>
                  <a:xfrm>
                    <a:off x="1383229" y="1656935"/>
                    <a:ext cx="2878484" cy="553998"/>
                  </a:xfrm>
                  <a:prstGeom prst="rect">
                    <a:avLst/>
                  </a:prstGeom>
                </p:spPr>
                <p:txBody>
                  <a:bodyPr wrap="square">
                    <a:spAutoFit/>
                  </a:bodyPr>
                  <a:lstStyle/>
                  <a:p>
                    <a:pPr algn="ctr"/>
                    <a:r>
                      <a:rPr lang="en-US" sz="3000" b="1" dirty="0">
                        <a:solidFill>
                          <a:srgbClr val="E7157B"/>
                        </a:solidFill>
                        <a:latin typeface="+mn-lt"/>
                      </a:rPr>
                      <a:t>AWS </a:t>
                    </a:r>
                    <a:r>
                      <a:rPr lang="en-US" sz="3000" b="1" dirty="0" err="1" smtClean="0">
                        <a:solidFill>
                          <a:srgbClr val="E7157B"/>
                        </a:solidFill>
                        <a:latin typeface="+mn-lt"/>
                      </a:rPr>
                      <a:t>AppSync</a:t>
                    </a:r>
                    <a:endParaRPr lang="en-US" sz="3000" b="0" i="0" dirty="0">
                      <a:solidFill>
                        <a:schemeClr val="bg1"/>
                      </a:solidFill>
                      <a:effectLst/>
                      <a:latin typeface="+mn-lt"/>
                    </a:endParaRPr>
                  </a:p>
                </p:txBody>
              </p:sp>
              <p:pic>
                <p:nvPicPr>
                  <p:cNvPr id="5" name="Graphic 32">
                    <a:extLst>
                      <a:ext uri="{FF2B5EF4-FFF2-40B4-BE49-F238E27FC236}">
                        <a16:creationId xmlns:a16="http://schemas.microsoft.com/office/drawing/2014/main" xmlns="" id="{E3741765-A017-3D47-93D5-DA978D7C5D48}"/>
                      </a:ext>
                    </a:extLst>
                  </p:cNvPr>
                  <p:cNvPicPr>
                    <a:picLocks noChangeAspect="1" noChangeArrowheads="1"/>
                  </p:cNvPicPr>
                  <p:nvPr/>
                </p:nvPicPr>
                <p:blipFill>
                  <a:blip r:embed="rId3">
                    <a:extLst>
                      <a:ext uri="{96DAC541-7B7A-43D3-8B79-37D633B846F1}">
                        <asvg:svgBlip xmlns:asvg="http://schemas.microsoft.com/office/drawing/2016/SVG/main" xmlns="" r:embed="rId4"/>
                      </a:ext>
                    </a:extLst>
                  </a:blip>
                  <a:srcRect/>
                  <a:stretch/>
                </p:blipFill>
                <p:spPr bwMode="auto">
                  <a:xfrm>
                    <a:off x="634377" y="1444562"/>
                    <a:ext cx="732524" cy="732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1" name="Rectangle 10"/>
              <p:cNvSpPr/>
              <p:nvPr/>
            </p:nvSpPr>
            <p:spPr>
              <a:xfrm>
                <a:off x="6188337" y="2823632"/>
                <a:ext cx="693970" cy="553998"/>
              </a:xfrm>
              <a:prstGeom prst="rect">
                <a:avLst/>
              </a:prstGeom>
            </p:spPr>
            <p:txBody>
              <a:bodyPr wrap="square">
                <a:spAutoFit/>
              </a:bodyPr>
              <a:lstStyle/>
              <a:p>
                <a:r>
                  <a:rPr lang="en-US" sz="3000" b="1" dirty="0" smtClean="0">
                    <a:solidFill>
                      <a:schemeClr val="bg1"/>
                    </a:solidFill>
                    <a:latin typeface="+mn-lt"/>
                  </a:rPr>
                  <a:t>vs</a:t>
                </a:r>
                <a:endParaRPr lang="en-US" sz="3000" dirty="0" smtClean="0">
                  <a:solidFill>
                    <a:schemeClr val="bg1"/>
                  </a:solidFill>
                  <a:latin typeface="+mn-lt"/>
                </a:endParaRPr>
              </a:p>
            </p:txBody>
          </p:sp>
        </p:grpSp>
        <p:grpSp>
          <p:nvGrpSpPr>
            <p:cNvPr id="12" name="Group 11"/>
            <p:cNvGrpSpPr/>
            <p:nvPr/>
          </p:nvGrpSpPr>
          <p:grpSpPr>
            <a:xfrm>
              <a:off x="6621220" y="3545980"/>
              <a:ext cx="3160836" cy="870208"/>
              <a:chOff x="7315195" y="2725748"/>
              <a:chExt cx="3160836" cy="870208"/>
            </a:xfrm>
          </p:grpSpPr>
          <p:sp>
            <p:nvSpPr>
              <p:cNvPr id="9" name="Rectangle 8"/>
              <p:cNvSpPr/>
              <p:nvPr/>
            </p:nvSpPr>
            <p:spPr>
              <a:xfrm>
                <a:off x="7315195" y="2914631"/>
                <a:ext cx="2490112" cy="553998"/>
              </a:xfrm>
              <a:prstGeom prst="rect">
                <a:avLst/>
              </a:prstGeom>
            </p:spPr>
            <p:txBody>
              <a:bodyPr wrap="square">
                <a:spAutoFit/>
              </a:bodyPr>
              <a:lstStyle/>
              <a:p>
                <a:r>
                  <a:rPr lang="en-US" sz="3000" b="1" dirty="0" err="1" smtClean="0">
                    <a:solidFill>
                      <a:srgbClr val="FFC000"/>
                    </a:solidFill>
                    <a:latin typeface="+mn-lt"/>
                  </a:rPr>
                  <a:t>RESTful</a:t>
                </a:r>
                <a:r>
                  <a:rPr lang="en-US" sz="3000" b="1" dirty="0" smtClean="0">
                    <a:solidFill>
                      <a:srgbClr val="FFC000"/>
                    </a:solidFill>
                    <a:latin typeface="+mn-lt"/>
                  </a:rPr>
                  <a:t> API</a:t>
                </a:r>
                <a:endParaRPr lang="en-US" sz="3000" dirty="0" smtClean="0">
                  <a:solidFill>
                    <a:schemeClr val="bg1"/>
                  </a:solidFill>
                  <a:latin typeface="+mn-lt"/>
                </a:endParaRPr>
              </a:p>
            </p:txBody>
          </p:sp>
          <p:pic>
            <p:nvPicPr>
              <p:cNvPr id="1026" name="Picture 2" descr="REST API"/>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05823" y="2725748"/>
                <a:ext cx="870208" cy="870208"/>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4593676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REST AP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403" y="358912"/>
            <a:ext cx="870208" cy="87020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18403" y="585436"/>
            <a:ext cx="11021790" cy="600164"/>
          </a:xfrm>
          <a:prstGeom prst="rect">
            <a:avLst/>
          </a:prstGeom>
        </p:spPr>
        <p:txBody>
          <a:bodyPr wrap="square">
            <a:spAutoFit/>
          </a:bodyPr>
          <a:lstStyle/>
          <a:p>
            <a:r>
              <a:rPr lang="en-US" sz="1600" b="1" dirty="0" smtClean="0">
                <a:solidFill>
                  <a:srgbClr val="FFC000"/>
                </a:solidFill>
                <a:latin typeface="+mn-lt"/>
              </a:rPr>
              <a:t>             </a:t>
            </a:r>
            <a:r>
              <a:rPr lang="en-US" sz="1600" b="1" dirty="0" err="1" smtClean="0">
                <a:solidFill>
                  <a:srgbClr val="FFC000"/>
                </a:solidFill>
                <a:latin typeface="+mn-lt"/>
              </a:rPr>
              <a:t>RESTful</a:t>
            </a:r>
            <a:r>
              <a:rPr lang="en-US" sz="1600" b="1" dirty="0" smtClean="0">
                <a:solidFill>
                  <a:srgbClr val="FFC000"/>
                </a:solidFill>
                <a:latin typeface="+mn-lt"/>
              </a:rPr>
              <a:t> API </a:t>
            </a:r>
            <a:r>
              <a:rPr lang="en-US" sz="1400" b="1" dirty="0" smtClean="0">
                <a:solidFill>
                  <a:srgbClr val="FFC000"/>
                </a:solidFill>
                <a:latin typeface="+mn-lt"/>
              </a:rPr>
              <a:t>(Representational </a:t>
            </a:r>
            <a:r>
              <a:rPr lang="en-US" sz="1400" b="1" dirty="0">
                <a:solidFill>
                  <a:srgbClr val="FFC000"/>
                </a:solidFill>
                <a:latin typeface="+mn-lt"/>
              </a:rPr>
              <a:t>State Transfer Application Programming </a:t>
            </a:r>
            <a:r>
              <a:rPr lang="en-US" sz="1400" b="1" dirty="0" smtClean="0">
                <a:solidFill>
                  <a:srgbClr val="FFC000"/>
                </a:solidFill>
                <a:latin typeface="+mn-lt"/>
              </a:rPr>
              <a:t>Interface)</a:t>
            </a:r>
          </a:p>
          <a:p>
            <a:endParaRPr lang="en-US" sz="500" b="1" dirty="0" smtClean="0">
              <a:solidFill>
                <a:srgbClr val="FFC000"/>
              </a:solidFill>
              <a:latin typeface="+mn-lt"/>
            </a:endParaRPr>
          </a:p>
          <a:p>
            <a:r>
              <a:rPr lang="en-US" sz="1200" dirty="0" smtClean="0">
                <a:solidFill>
                  <a:schemeClr val="bg1"/>
                </a:solidFill>
                <a:latin typeface="+mn-lt"/>
              </a:rPr>
              <a:t>                    When </a:t>
            </a:r>
            <a:r>
              <a:rPr lang="en-US" sz="1200" dirty="0">
                <a:solidFill>
                  <a:schemeClr val="bg1"/>
                </a:solidFill>
                <a:latin typeface="+mn-lt"/>
              </a:rPr>
              <a:t>a </a:t>
            </a:r>
            <a:r>
              <a:rPr lang="en-US" sz="1200" dirty="0" err="1">
                <a:solidFill>
                  <a:schemeClr val="bg1"/>
                </a:solidFill>
                <a:latin typeface="+mn-lt"/>
              </a:rPr>
              <a:t>RESTful</a:t>
            </a:r>
            <a:r>
              <a:rPr lang="en-US" sz="1200" dirty="0">
                <a:solidFill>
                  <a:schemeClr val="bg1"/>
                </a:solidFill>
                <a:latin typeface="+mn-lt"/>
              </a:rPr>
              <a:t> API is called, the server will transfer a representation of the requested resource's state to the client </a:t>
            </a:r>
            <a:r>
              <a:rPr lang="en-US" sz="1200" dirty="0" smtClean="0">
                <a:solidFill>
                  <a:schemeClr val="bg1"/>
                </a:solidFill>
                <a:latin typeface="+mn-lt"/>
              </a:rPr>
              <a:t>system</a:t>
            </a:r>
          </a:p>
        </p:txBody>
      </p:sp>
      <p:sp>
        <p:nvSpPr>
          <p:cNvPr id="6" name="Rectangle 5"/>
          <p:cNvSpPr/>
          <p:nvPr/>
        </p:nvSpPr>
        <p:spPr>
          <a:xfrm>
            <a:off x="3984306" y="1407594"/>
            <a:ext cx="3465117" cy="1754326"/>
          </a:xfrm>
          <a:prstGeom prst="rect">
            <a:avLst/>
          </a:prstGeom>
        </p:spPr>
        <p:txBody>
          <a:bodyPr wrap="square">
            <a:spAutoFit/>
          </a:bodyPr>
          <a:lstStyle/>
          <a:p>
            <a:r>
              <a:rPr lang="en-US" sz="1300" dirty="0" err="1" smtClean="0">
                <a:solidFill>
                  <a:srgbClr val="FFC000"/>
                </a:solidFill>
                <a:latin typeface="+mn-lt"/>
              </a:rPr>
              <a:t>RESTful</a:t>
            </a:r>
            <a:r>
              <a:rPr lang="en-US" sz="1300" dirty="0" smtClean="0">
                <a:solidFill>
                  <a:srgbClr val="FFC000"/>
                </a:solidFill>
                <a:latin typeface="+mn-lt"/>
              </a:rPr>
              <a:t> API is entity based components</a:t>
            </a:r>
          </a:p>
          <a:p>
            <a:endParaRPr lang="en-US" sz="1400" dirty="0" smtClean="0">
              <a:solidFill>
                <a:srgbClr val="FFC000"/>
              </a:solidFill>
              <a:latin typeface="+mn-lt"/>
            </a:endParaRPr>
          </a:p>
          <a:p>
            <a:r>
              <a:rPr lang="en-US" sz="1000" dirty="0" smtClean="0">
                <a:solidFill>
                  <a:srgbClr val="FFC000"/>
                </a:solidFill>
                <a:latin typeface="+mn-lt"/>
              </a:rPr>
              <a:t>GET </a:t>
            </a:r>
            <a:r>
              <a:rPr lang="en-US" sz="1000" dirty="0" smtClean="0">
                <a:solidFill>
                  <a:schemeClr val="bg1"/>
                </a:solidFill>
                <a:latin typeface="+mn-lt"/>
              </a:rPr>
              <a:t>https://dell.ut.com/api/customers</a:t>
            </a:r>
          </a:p>
          <a:p>
            <a:r>
              <a:rPr lang="en-US" sz="1000" dirty="0">
                <a:solidFill>
                  <a:srgbClr val="FFC000"/>
                </a:solidFill>
                <a:latin typeface="+mn-lt"/>
              </a:rPr>
              <a:t>GET </a:t>
            </a:r>
            <a:r>
              <a:rPr lang="en-US" sz="1000" dirty="0" smtClean="0">
                <a:solidFill>
                  <a:schemeClr val="bg1"/>
                </a:solidFill>
                <a:latin typeface="+mn-lt"/>
              </a:rPr>
              <a:t>https</a:t>
            </a:r>
            <a:r>
              <a:rPr lang="en-US" sz="1000" dirty="0">
                <a:solidFill>
                  <a:schemeClr val="bg1"/>
                </a:solidFill>
                <a:latin typeface="+mn-lt"/>
              </a:rPr>
              <a:t>://</a:t>
            </a:r>
            <a:r>
              <a:rPr lang="en-US" sz="1000" dirty="0" smtClean="0">
                <a:solidFill>
                  <a:schemeClr val="bg1"/>
                </a:solidFill>
                <a:latin typeface="+mn-lt"/>
              </a:rPr>
              <a:t>dell.ut.com/api/customers/1</a:t>
            </a:r>
          </a:p>
          <a:p>
            <a:endParaRPr lang="en-US" sz="1000" dirty="0" smtClean="0">
              <a:solidFill>
                <a:schemeClr val="bg1"/>
              </a:solidFill>
              <a:latin typeface="+mn-lt"/>
            </a:endParaRPr>
          </a:p>
          <a:p>
            <a:r>
              <a:rPr lang="en-US" sz="1000" dirty="0" smtClean="0">
                <a:solidFill>
                  <a:srgbClr val="FFC000"/>
                </a:solidFill>
                <a:latin typeface="+mn-lt"/>
              </a:rPr>
              <a:t>POST </a:t>
            </a:r>
            <a:r>
              <a:rPr lang="en-US" sz="1000" dirty="0" smtClean="0">
                <a:solidFill>
                  <a:schemeClr val="bg1"/>
                </a:solidFill>
                <a:latin typeface="+mn-lt"/>
              </a:rPr>
              <a:t>https</a:t>
            </a:r>
            <a:r>
              <a:rPr lang="en-US" sz="1000" dirty="0">
                <a:solidFill>
                  <a:schemeClr val="bg1"/>
                </a:solidFill>
                <a:latin typeface="+mn-lt"/>
              </a:rPr>
              <a:t>://</a:t>
            </a:r>
            <a:r>
              <a:rPr lang="en-US" sz="1000" dirty="0" smtClean="0">
                <a:solidFill>
                  <a:schemeClr val="bg1"/>
                </a:solidFill>
                <a:latin typeface="+mn-lt"/>
              </a:rPr>
              <a:t>dell.ut.com/api/customers</a:t>
            </a:r>
          </a:p>
          <a:p>
            <a:endParaRPr lang="en-US" sz="1000" dirty="0" smtClean="0">
              <a:solidFill>
                <a:schemeClr val="bg1"/>
              </a:solidFill>
              <a:latin typeface="+mn-lt"/>
            </a:endParaRPr>
          </a:p>
          <a:p>
            <a:r>
              <a:rPr lang="en-US" sz="1000" dirty="0" smtClean="0">
                <a:solidFill>
                  <a:srgbClr val="FFC000"/>
                </a:solidFill>
                <a:latin typeface="+mn-lt"/>
              </a:rPr>
              <a:t>PUT </a:t>
            </a:r>
            <a:r>
              <a:rPr lang="en-US" sz="1000" dirty="0" smtClean="0">
                <a:solidFill>
                  <a:schemeClr val="bg1"/>
                </a:solidFill>
                <a:latin typeface="+mn-lt"/>
              </a:rPr>
              <a:t>https</a:t>
            </a:r>
            <a:r>
              <a:rPr lang="en-US" sz="1000" dirty="0">
                <a:solidFill>
                  <a:schemeClr val="bg1"/>
                </a:solidFill>
                <a:latin typeface="+mn-lt"/>
              </a:rPr>
              <a:t>://</a:t>
            </a:r>
            <a:r>
              <a:rPr lang="en-US" sz="1000" dirty="0" smtClean="0">
                <a:solidFill>
                  <a:schemeClr val="bg1"/>
                </a:solidFill>
                <a:latin typeface="+mn-lt"/>
              </a:rPr>
              <a:t>dell.ut.com/api/customers/1</a:t>
            </a:r>
          </a:p>
          <a:p>
            <a:endParaRPr lang="en-US" sz="1000" dirty="0" smtClean="0">
              <a:solidFill>
                <a:schemeClr val="bg1"/>
              </a:solidFill>
              <a:latin typeface="+mn-lt"/>
            </a:endParaRPr>
          </a:p>
          <a:p>
            <a:r>
              <a:rPr lang="en-US" sz="1000" dirty="0" smtClean="0">
                <a:solidFill>
                  <a:srgbClr val="FFC000"/>
                </a:solidFill>
                <a:latin typeface="+mn-lt"/>
              </a:rPr>
              <a:t>DELETE</a:t>
            </a:r>
            <a:r>
              <a:rPr lang="en-US" sz="1000" b="1" dirty="0" smtClean="0">
                <a:solidFill>
                  <a:srgbClr val="FFC000"/>
                </a:solidFill>
                <a:latin typeface="+mn-lt"/>
              </a:rPr>
              <a:t> </a:t>
            </a:r>
            <a:r>
              <a:rPr lang="en-US" sz="1000" dirty="0" smtClean="0">
                <a:solidFill>
                  <a:schemeClr val="bg1"/>
                </a:solidFill>
                <a:latin typeface="+mn-lt"/>
              </a:rPr>
              <a:t>https</a:t>
            </a:r>
            <a:r>
              <a:rPr lang="en-US" sz="1000" dirty="0">
                <a:solidFill>
                  <a:schemeClr val="bg1"/>
                </a:solidFill>
                <a:latin typeface="+mn-lt"/>
              </a:rPr>
              <a:t>://</a:t>
            </a:r>
            <a:r>
              <a:rPr lang="en-US" sz="1000" dirty="0" smtClean="0">
                <a:solidFill>
                  <a:schemeClr val="bg1"/>
                </a:solidFill>
                <a:latin typeface="+mn-lt"/>
              </a:rPr>
              <a:t>dell.ut.com/api/customers/12</a:t>
            </a:r>
            <a:endParaRPr lang="en-US" sz="1000" b="1" dirty="0" smtClean="0">
              <a:solidFill>
                <a:schemeClr val="bg1"/>
              </a:solidFill>
              <a:latin typeface="+mn-lt"/>
            </a:endParaRPr>
          </a:p>
        </p:txBody>
      </p:sp>
      <p:sp>
        <p:nvSpPr>
          <p:cNvPr id="4" name="Rectangle 3"/>
          <p:cNvSpPr/>
          <p:nvPr/>
        </p:nvSpPr>
        <p:spPr>
          <a:xfrm>
            <a:off x="553295" y="3669584"/>
            <a:ext cx="11199681" cy="2308324"/>
          </a:xfrm>
          <a:prstGeom prst="rect">
            <a:avLst/>
          </a:prstGeom>
        </p:spPr>
        <p:txBody>
          <a:bodyPr wrap="square">
            <a:spAutoFit/>
          </a:bodyPr>
          <a:lstStyle/>
          <a:p>
            <a:r>
              <a:rPr lang="en-US" sz="1200" b="1" dirty="0">
                <a:solidFill>
                  <a:srgbClr val="FFC000"/>
                </a:solidFill>
                <a:latin typeface="+mn-lt"/>
              </a:rPr>
              <a:t>HTTP headers</a:t>
            </a:r>
          </a:p>
          <a:p>
            <a:r>
              <a:rPr lang="en-US" sz="1100" dirty="0">
                <a:solidFill>
                  <a:schemeClr val="bg1"/>
                </a:solidFill>
                <a:latin typeface="+mn-lt"/>
              </a:rPr>
              <a:t>Request headers are the metadata exchanged between the client and server. For instance, the request header indicates the format of the request and response, provides information about request status, and so </a:t>
            </a:r>
            <a:r>
              <a:rPr lang="en-US" sz="1100" dirty="0" smtClean="0">
                <a:solidFill>
                  <a:schemeClr val="bg1"/>
                </a:solidFill>
                <a:latin typeface="+mn-lt"/>
              </a:rPr>
              <a:t>on</a:t>
            </a:r>
          </a:p>
          <a:p>
            <a:endParaRPr lang="en-US" sz="1100" dirty="0">
              <a:solidFill>
                <a:schemeClr val="bg1"/>
              </a:solidFill>
              <a:latin typeface="+mn-lt"/>
            </a:endParaRPr>
          </a:p>
          <a:p>
            <a:r>
              <a:rPr lang="en-US" sz="1100" b="1" i="1" dirty="0" smtClean="0">
                <a:solidFill>
                  <a:srgbClr val="FFC000"/>
                </a:solidFill>
                <a:latin typeface="+mn-lt"/>
              </a:rPr>
              <a:t>Data (Jason body)</a:t>
            </a:r>
            <a:endParaRPr lang="en-US" sz="1100" b="1" dirty="0" smtClean="0">
              <a:solidFill>
                <a:srgbClr val="FFC000"/>
              </a:solidFill>
              <a:latin typeface="+mn-lt"/>
            </a:endParaRPr>
          </a:p>
          <a:p>
            <a:r>
              <a:rPr lang="en-US" sz="1100" dirty="0" smtClean="0">
                <a:solidFill>
                  <a:schemeClr val="bg1"/>
                </a:solidFill>
                <a:latin typeface="+mn-lt"/>
              </a:rPr>
              <a:t>REST </a:t>
            </a:r>
            <a:r>
              <a:rPr lang="en-US" sz="1100" dirty="0">
                <a:solidFill>
                  <a:schemeClr val="bg1"/>
                </a:solidFill>
                <a:latin typeface="+mn-lt"/>
              </a:rPr>
              <a:t>API requests might include data for the POST, PUT, and other HTTP methods to work </a:t>
            </a:r>
            <a:r>
              <a:rPr lang="en-US" sz="1100" dirty="0" smtClean="0">
                <a:solidFill>
                  <a:schemeClr val="bg1"/>
                </a:solidFill>
                <a:latin typeface="+mn-lt"/>
              </a:rPr>
              <a:t>successfully</a:t>
            </a:r>
          </a:p>
          <a:p>
            <a:endParaRPr lang="en-US" sz="1100" dirty="0">
              <a:solidFill>
                <a:schemeClr val="bg1"/>
              </a:solidFill>
              <a:latin typeface="+mn-lt"/>
            </a:endParaRPr>
          </a:p>
          <a:p>
            <a:r>
              <a:rPr lang="en-US" sz="1100" b="1" i="1" dirty="0" smtClean="0">
                <a:solidFill>
                  <a:srgbClr val="FFC000"/>
                </a:solidFill>
                <a:latin typeface="+mn-lt"/>
              </a:rPr>
              <a:t>Parameters (</a:t>
            </a:r>
            <a:r>
              <a:rPr lang="en-US" sz="1100" b="1" i="1" dirty="0">
                <a:solidFill>
                  <a:srgbClr val="FFC000"/>
                </a:solidFill>
                <a:latin typeface="+mn-lt"/>
              </a:rPr>
              <a:t>Jason </a:t>
            </a:r>
            <a:r>
              <a:rPr lang="en-US" sz="1100" b="1" i="1" dirty="0" smtClean="0">
                <a:solidFill>
                  <a:srgbClr val="FFC000"/>
                </a:solidFill>
                <a:latin typeface="+mn-lt"/>
              </a:rPr>
              <a:t>body)</a:t>
            </a:r>
            <a:endParaRPr lang="en-US" sz="1100" b="1" dirty="0">
              <a:solidFill>
                <a:srgbClr val="FFC000"/>
              </a:solidFill>
              <a:latin typeface="+mn-lt"/>
            </a:endParaRPr>
          </a:p>
          <a:p>
            <a:r>
              <a:rPr lang="en-US" sz="1100" dirty="0" err="1">
                <a:solidFill>
                  <a:schemeClr val="bg1"/>
                </a:solidFill>
                <a:latin typeface="+mn-lt"/>
              </a:rPr>
              <a:t>RESTful</a:t>
            </a:r>
            <a:r>
              <a:rPr lang="en-US" sz="1100" dirty="0">
                <a:solidFill>
                  <a:schemeClr val="bg1"/>
                </a:solidFill>
                <a:latin typeface="+mn-lt"/>
              </a:rPr>
              <a:t> API requests can include parameters that give the server more details about what needs to be done. The following are some different types of parameters</a:t>
            </a:r>
            <a:r>
              <a:rPr lang="en-US" sz="1100" dirty="0" smtClean="0">
                <a:solidFill>
                  <a:schemeClr val="bg1"/>
                </a:solidFill>
                <a:latin typeface="+mn-lt"/>
              </a:rPr>
              <a:t>:</a:t>
            </a:r>
          </a:p>
          <a:p>
            <a:pPr marL="171450" indent="-171450">
              <a:buFont typeface="Arial" panose="020B0604020202020204" pitchFamily="34" charset="0"/>
              <a:buChar char="•"/>
            </a:pPr>
            <a:endParaRPr lang="en-US" sz="1100" dirty="0">
              <a:solidFill>
                <a:schemeClr val="bg1"/>
              </a:solidFill>
              <a:latin typeface="+mn-lt"/>
            </a:endParaRPr>
          </a:p>
          <a:p>
            <a:pPr marL="628650" lvl="1" indent="-171450">
              <a:buFont typeface="Arial" panose="020B0604020202020204" pitchFamily="34" charset="0"/>
              <a:buChar char="•"/>
            </a:pPr>
            <a:r>
              <a:rPr lang="en-US" sz="1100" dirty="0" smtClean="0">
                <a:solidFill>
                  <a:schemeClr val="bg1"/>
                </a:solidFill>
                <a:latin typeface="+mn-lt"/>
              </a:rPr>
              <a:t>Path </a:t>
            </a:r>
            <a:r>
              <a:rPr lang="en-US" sz="1100" dirty="0">
                <a:solidFill>
                  <a:schemeClr val="bg1"/>
                </a:solidFill>
                <a:latin typeface="+mn-lt"/>
              </a:rPr>
              <a:t>parameters that specify URL details.</a:t>
            </a:r>
          </a:p>
          <a:p>
            <a:pPr marL="628650" lvl="1" indent="-171450">
              <a:buFont typeface="Arial" panose="020B0604020202020204" pitchFamily="34" charset="0"/>
              <a:buChar char="•"/>
            </a:pPr>
            <a:r>
              <a:rPr lang="en-US" sz="1100" dirty="0">
                <a:solidFill>
                  <a:schemeClr val="bg1"/>
                </a:solidFill>
                <a:latin typeface="+mn-lt"/>
              </a:rPr>
              <a:t>Query parameters that request more information about the resource.</a:t>
            </a:r>
          </a:p>
          <a:p>
            <a:pPr marL="628650" lvl="1" indent="-171450">
              <a:buFont typeface="Arial" panose="020B0604020202020204" pitchFamily="34" charset="0"/>
              <a:buChar char="•"/>
            </a:pPr>
            <a:r>
              <a:rPr lang="en-US" sz="1100" dirty="0">
                <a:solidFill>
                  <a:schemeClr val="bg1"/>
                </a:solidFill>
                <a:latin typeface="+mn-lt"/>
              </a:rPr>
              <a:t>Cookie parameters that authenticate clients quickly.</a:t>
            </a:r>
            <a:endParaRPr lang="en-US" sz="1100" b="0" i="0" dirty="0">
              <a:solidFill>
                <a:schemeClr val="bg1"/>
              </a:solidFill>
              <a:effectLst/>
              <a:latin typeface="+mn-lt"/>
            </a:endParaRPr>
          </a:p>
        </p:txBody>
      </p:sp>
      <p:sp>
        <p:nvSpPr>
          <p:cNvPr id="8" name="Rectangle 7"/>
          <p:cNvSpPr/>
          <p:nvPr/>
        </p:nvSpPr>
        <p:spPr>
          <a:xfrm>
            <a:off x="7813920" y="1288066"/>
            <a:ext cx="3225992" cy="1954381"/>
          </a:xfrm>
          <a:prstGeom prst="rect">
            <a:avLst/>
          </a:prstGeom>
        </p:spPr>
        <p:txBody>
          <a:bodyPr wrap="square">
            <a:spAutoFit/>
          </a:bodyPr>
          <a:lstStyle/>
          <a:p>
            <a:r>
              <a:rPr lang="en-US" sz="1100" dirty="0">
                <a:solidFill>
                  <a:srgbClr val="82AAFF"/>
                </a:solidFill>
                <a:latin typeface="Consolas" panose="020B0609020204030204" pitchFamily="49" charset="0"/>
              </a:rPr>
              <a:t>POST</a:t>
            </a:r>
            <a:r>
              <a:rPr lang="en-US" sz="1100" dirty="0">
                <a:solidFill>
                  <a:srgbClr val="D6DEEB"/>
                </a:solidFill>
                <a:latin typeface="Consolas" panose="020B0609020204030204" pitchFamily="49" charset="0"/>
              </a:rPr>
              <a:t> </a:t>
            </a:r>
            <a:r>
              <a:rPr lang="en-US" sz="1100" dirty="0">
                <a:solidFill>
                  <a:srgbClr val="C792EA"/>
                </a:solidFill>
                <a:latin typeface="Consolas" panose="020B0609020204030204" pitchFamily="49" charset="0"/>
              </a:rPr>
              <a:t>/</a:t>
            </a:r>
            <a:r>
              <a:rPr lang="en-US" sz="1100" dirty="0">
                <a:solidFill>
                  <a:srgbClr val="D6DEEB"/>
                </a:solidFill>
                <a:latin typeface="Consolas" panose="020B0609020204030204" pitchFamily="49" charset="0"/>
              </a:rPr>
              <a:t>echo</a:t>
            </a:r>
            <a:r>
              <a:rPr lang="en-US" sz="1100" dirty="0">
                <a:solidFill>
                  <a:srgbClr val="C792EA"/>
                </a:solidFill>
                <a:latin typeface="Consolas" panose="020B0609020204030204" pitchFamily="49" charset="0"/>
              </a:rPr>
              <a:t>/</a:t>
            </a:r>
            <a:r>
              <a:rPr lang="en-US" sz="1100" dirty="0">
                <a:solidFill>
                  <a:srgbClr val="D6DEEB"/>
                </a:solidFill>
                <a:latin typeface="Consolas" panose="020B0609020204030204" pitchFamily="49" charset="0"/>
              </a:rPr>
              <a:t>post</a:t>
            </a:r>
            <a:r>
              <a:rPr lang="en-US" sz="1100" dirty="0">
                <a:solidFill>
                  <a:srgbClr val="C792EA"/>
                </a:solidFill>
                <a:latin typeface="Consolas" panose="020B0609020204030204" pitchFamily="49" charset="0"/>
              </a:rPr>
              <a:t>/</a:t>
            </a:r>
            <a:r>
              <a:rPr lang="en-US" sz="1100" dirty="0" err="1">
                <a:solidFill>
                  <a:srgbClr val="D6DEEB"/>
                </a:solidFill>
                <a:latin typeface="Consolas" panose="020B0609020204030204" pitchFamily="49" charset="0"/>
              </a:rPr>
              <a:t>json</a:t>
            </a:r>
            <a:r>
              <a:rPr lang="en-US" sz="1100" dirty="0">
                <a:solidFill>
                  <a:srgbClr val="D6DEEB"/>
                </a:solidFill>
                <a:latin typeface="Consolas" panose="020B0609020204030204" pitchFamily="49" charset="0"/>
              </a:rPr>
              <a:t> </a:t>
            </a:r>
            <a:r>
              <a:rPr lang="en-US" sz="1100" dirty="0">
                <a:solidFill>
                  <a:srgbClr val="82AAFF"/>
                </a:solidFill>
                <a:latin typeface="Consolas" panose="020B0609020204030204" pitchFamily="49" charset="0"/>
              </a:rPr>
              <a:t>HTTP</a:t>
            </a:r>
            <a:r>
              <a:rPr lang="en-US" sz="1100" dirty="0">
                <a:solidFill>
                  <a:srgbClr val="C792EA"/>
                </a:solidFill>
                <a:latin typeface="Consolas" panose="020B0609020204030204" pitchFamily="49" charset="0"/>
              </a:rPr>
              <a:t>/</a:t>
            </a:r>
            <a:r>
              <a:rPr lang="en-US" sz="1100" dirty="0">
                <a:solidFill>
                  <a:srgbClr val="F78C6C"/>
                </a:solidFill>
                <a:latin typeface="Consolas" panose="020B0609020204030204" pitchFamily="49" charset="0"/>
              </a:rPr>
              <a:t>1.1</a:t>
            </a:r>
            <a:r>
              <a:rPr lang="en-US" sz="1100" dirty="0">
                <a:solidFill>
                  <a:srgbClr val="D6DEEB"/>
                </a:solidFill>
                <a:latin typeface="Consolas" panose="020B0609020204030204" pitchFamily="49" charset="0"/>
              </a:rPr>
              <a:t> </a:t>
            </a:r>
          </a:p>
          <a:p>
            <a:r>
              <a:rPr lang="en-US" sz="1100" dirty="0">
                <a:solidFill>
                  <a:srgbClr val="D6DEEB"/>
                </a:solidFill>
                <a:latin typeface="Consolas" panose="020B0609020204030204" pitchFamily="49" charset="0"/>
              </a:rPr>
              <a:t>Host: reqbin</a:t>
            </a:r>
            <a:r>
              <a:rPr lang="en-US" sz="1100" i="1" dirty="0">
                <a:solidFill>
                  <a:srgbClr val="C792EA"/>
                </a:solidFill>
                <a:latin typeface="Consolas" panose="020B0609020204030204" pitchFamily="49" charset="0"/>
              </a:rPr>
              <a:t>.</a:t>
            </a:r>
            <a:r>
              <a:rPr lang="en-US" sz="1100" dirty="0">
                <a:solidFill>
                  <a:srgbClr val="BAEBE2"/>
                </a:solidFill>
                <a:latin typeface="Consolas" panose="020B0609020204030204" pitchFamily="49" charset="0"/>
              </a:rPr>
              <a:t>com</a:t>
            </a:r>
            <a:r>
              <a:rPr lang="en-US" sz="1100" dirty="0">
                <a:solidFill>
                  <a:srgbClr val="D6DEEB"/>
                </a:solidFill>
                <a:latin typeface="Consolas" panose="020B0609020204030204" pitchFamily="49" charset="0"/>
              </a:rPr>
              <a:t> </a:t>
            </a:r>
          </a:p>
          <a:p>
            <a:r>
              <a:rPr lang="en-US" sz="1100" dirty="0">
                <a:solidFill>
                  <a:srgbClr val="D6DEEB"/>
                </a:solidFill>
                <a:latin typeface="Consolas" panose="020B0609020204030204" pitchFamily="49" charset="0"/>
              </a:rPr>
              <a:t>Accept: application</a:t>
            </a:r>
            <a:r>
              <a:rPr lang="en-US" sz="1100" dirty="0">
                <a:solidFill>
                  <a:srgbClr val="C792EA"/>
                </a:solidFill>
                <a:latin typeface="Consolas" panose="020B0609020204030204" pitchFamily="49" charset="0"/>
              </a:rPr>
              <a:t>/</a:t>
            </a:r>
            <a:r>
              <a:rPr lang="en-US" sz="1100" dirty="0" err="1">
                <a:solidFill>
                  <a:srgbClr val="D6DEEB"/>
                </a:solidFill>
                <a:latin typeface="Consolas" panose="020B0609020204030204" pitchFamily="49" charset="0"/>
              </a:rPr>
              <a:t>json</a:t>
            </a:r>
            <a:r>
              <a:rPr lang="en-US" sz="1100" dirty="0">
                <a:solidFill>
                  <a:srgbClr val="D6DEEB"/>
                </a:solidFill>
                <a:latin typeface="Consolas" panose="020B0609020204030204" pitchFamily="49" charset="0"/>
              </a:rPr>
              <a:t> </a:t>
            </a:r>
          </a:p>
          <a:p>
            <a:r>
              <a:rPr lang="en-US" sz="1100" dirty="0">
                <a:solidFill>
                  <a:srgbClr val="D6DEEB"/>
                </a:solidFill>
                <a:latin typeface="Consolas" panose="020B0609020204030204" pitchFamily="49" charset="0"/>
              </a:rPr>
              <a:t>Content</a:t>
            </a:r>
            <a:r>
              <a:rPr lang="en-US" sz="1100" dirty="0">
                <a:solidFill>
                  <a:srgbClr val="C792EA"/>
                </a:solidFill>
                <a:latin typeface="Consolas" panose="020B0609020204030204" pitchFamily="49" charset="0"/>
              </a:rPr>
              <a:t>-</a:t>
            </a:r>
            <a:r>
              <a:rPr lang="en-US" sz="1100" dirty="0">
                <a:solidFill>
                  <a:srgbClr val="D6DEEB"/>
                </a:solidFill>
                <a:latin typeface="Consolas" panose="020B0609020204030204" pitchFamily="49" charset="0"/>
              </a:rPr>
              <a:t>Type: application</a:t>
            </a:r>
            <a:r>
              <a:rPr lang="en-US" sz="1100" dirty="0">
                <a:solidFill>
                  <a:srgbClr val="C792EA"/>
                </a:solidFill>
                <a:latin typeface="Consolas" panose="020B0609020204030204" pitchFamily="49" charset="0"/>
              </a:rPr>
              <a:t>/</a:t>
            </a:r>
            <a:r>
              <a:rPr lang="en-US" sz="1100" dirty="0" err="1">
                <a:solidFill>
                  <a:srgbClr val="D6DEEB"/>
                </a:solidFill>
                <a:latin typeface="Consolas" panose="020B0609020204030204" pitchFamily="49" charset="0"/>
              </a:rPr>
              <a:t>json</a:t>
            </a:r>
            <a:r>
              <a:rPr lang="en-US" sz="1100" dirty="0">
                <a:solidFill>
                  <a:srgbClr val="D6DEEB"/>
                </a:solidFill>
                <a:latin typeface="Consolas" panose="020B0609020204030204" pitchFamily="49" charset="0"/>
              </a:rPr>
              <a:t> </a:t>
            </a:r>
          </a:p>
          <a:p>
            <a:r>
              <a:rPr lang="en-US" sz="1100" dirty="0">
                <a:solidFill>
                  <a:srgbClr val="D6DEEB"/>
                </a:solidFill>
                <a:latin typeface="Consolas" panose="020B0609020204030204" pitchFamily="49" charset="0"/>
              </a:rPr>
              <a:t>Content</a:t>
            </a:r>
            <a:r>
              <a:rPr lang="en-US" sz="1100" dirty="0">
                <a:solidFill>
                  <a:srgbClr val="C792EA"/>
                </a:solidFill>
                <a:latin typeface="Consolas" panose="020B0609020204030204" pitchFamily="49" charset="0"/>
              </a:rPr>
              <a:t>-</a:t>
            </a:r>
            <a:r>
              <a:rPr lang="en-US" sz="1100" dirty="0">
                <a:solidFill>
                  <a:srgbClr val="D6DEEB"/>
                </a:solidFill>
                <a:latin typeface="Consolas" panose="020B0609020204030204" pitchFamily="49" charset="0"/>
              </a:rPr>
              <a:t>Length: </a:t>
            </a:r>
            <a:r>
              <a:rPr lang="en-US" sz="1100" dirty="0">
                <a:solidFill>
                  <a:srgbClr val="F78C6C"/>
                </a:solidFill>
                <a:latin typeface="Consolas" panose="020B0609020204030204" pitchFamily="49" charset="0"/>
              </a:rPr>
              <a:t>81</a:t>
            </a:r>
            <a:r>
              <a:rPr lang="en-US" sz="1100" dirty="0">
                <a:solidFill>
                  <a:srgbClr val="D6DEEB"/>
                </a:solidFill>
                <a:latin typeface="Consolas" panose="020B0609020204030204" pitchFamily="49" charset="0"/>
              </a:rPr>
              <a:t> </a:t>
            </a:r>
          </a:p>
          <a:p>
            <a:r>
              <a:rPr lang="en-US" sz="1100" dirty="0">
                <a:solidFill>
                  <a:srgbClr val="D6DEEB"/>
                </a:solidFill>
                <a:latin typeface="Consolas" panose="020B0609020204030204" pitchFamily="49" charset="0"/>
              </a:rPr>
              <a:t>{    </a:t>
            </a:r>
          </a:p>
          <a:p>
            <a:r>
              <a:rPr lang="en-US" sz="1100" dirty="0">
                <a:solidFill>
                  <a:srgbClr val="D6DEEB"/>
                </a:solidFill>
                <a:latin typeface="Consolas" panose="020B0609020204030204" pitchFamily="49" charset="0"/>
              </a:rPr>
              <a:t>     </a:t>
            </a:r>
            <a:r>
              <a:rPr lang="en-US" sz="1100" dirty="0">
                <a:solidFill>
                  <a:srgbClr val="D9F5DD"/>
                </a:solidFill>
                <a:latin typeface="Consolas" panose="020B0609020204030204" pitchFamily="49" charset="0"/>
              </a:rPr>
              <a:t>"</a:t>
            </a:r>
            <a:r>
              <a:rPr lang="en-US" sz="1100" dirty="0">
                <a:solidFill>
                  <a:srgbClr val="ECC48D"/>
                </a:solidFill>
                <a:latin typeface="Consolas" panose="020B0609020204030204" pitchFamily="49" charset="0"/>
              </a:rPr>
              <a:t>Id</a:t>
            </a:r>
            <a:r>
              <a:rPr lang="en-US" sz="1100" dirty="0">
                <a:solidFill>
                  <a:srgbClr val="D9F5DD"/>
                </a:solidFill>
                <a:latin typeface="Consolas" panose="020B0609020204030204" pitchFamily="49" charset="0"/>
              </a:rPr>
              <a:t>"</a:t>
            </a:r>
            <a:r>
              <a:rPr lang="en-US" sz="1100" dirty="0">
                <a:solidFill>
                  <a:srgbClr val="D6DEEB"/>
                </a:solidFill>
                <a:latin typeface="Consolas" panose="020B0609020204030204" pitchFamily="49" charset="0"/>
              </a:rPr>
              <a:t>: </a:t>
            </a:r>
            <a:r>
              <a:rPr lang="en-US" sz="1100" dirty="0">
                <a:solidFill>
                  <a:srgbClr val="F78C6C"/>
                </a:solidFill>
                <a:latin typeface="Consolas" panose="020B0609020204030204" pitchFamily="49" charset="0"/>
              </a:rPr>
              <a:t>78912</a:t>
            </a:r>
            <a:r>
              <a:rPr lang="en-US" sz="1100" dirty="0">
                <a:solidFill>
                  <a:srgbClr val="D6DEEB"/>
                </a:solidFill>
                <a:latin typeface="Consolas" panose="020B0609020204030204" pitchFamily="49" charset="0"/>
              </a:rPr>
              <a:t>, </a:t>
            </a:r>
          </a:p>
          <a:p>
            <a:r>
              <a:rPr lang="en-US" sz="1100" dirty="0">
                <a:solidFill>
                  <a:srgbClr val="D6DEEB"/>
                </a:solidFill>
                <a:latin typeface="Consolas" panose="020B0609020204030204" pitchFamily="49" charset="0"/>
              </a:rPr>
              <a:t>     </a:t>
            </a:r>
            <a:r>
              <a:rPr lang="en-US" sz="1100" dirty="0">
                <a:solidFill>
                  <a:srgbClr val="D9F5DD"/>
                </a:solidFill>
                <a:latin typeface="Consolas" panose="020B0609020204030204" pitchFamily="49" charset="0"/>
              </a:rPr>
              <a:t>"</a:t>
            </a:r>
            <a:r>
              <a:rPr lang="en-US" sz="1100" dirty="0">
                <a:solidFill>
                  <a:srgbClr val="ECC48D"/>
                </a:solidFill>
                <a:latin typeface="Consolas" panose="020B0609020204030204" pitchFamily="49" charset="0"/>
              </a:rPr>
              <a:t>Customer</a:t>
            </a:r>
            <a:r>
              <a:rPr lang="en-US" sz="1100" dirty="0">
                <a:solidFill>
                  <a:srgbClr val="D9F5DD"/>
                </a:solidFill>
                <a:latin typeface="Consolas" panose="020B0609020204030204" pitchFamily="49" charset="0"/>
              </a:rPr>
              <a:t>"</a:t>
            </a:r>
            <a:r>
              <a:rPr lang="en-US" sz="1100" dirty="0">
                <a:solidFill>
                  <a:srgbClr val="D6DEEB"/>
                </a:solidFill>
                <a:latin typeface="Consolas" panose="020B0609020204030204" pitchFamily="49" charset="0"/>
              </a:rPr>
              <a:t>: </a:t>
            </a:r>
            <a:r>
              <a:rPr lang="en-US" sz="1100" dirty="0">
                <a:solidFill>
                  <a:srgbClr val="D9F5DD"/>
                </a:solidFill>
                <a:latin typeface="Consolas" panose="020B0609020204030204" pitchFamily="49" charset="0"/>
              </a:rPr>
              <a:t>"</a:t>
            </a:r>
            <a:r>
              <a:rPr lang="en-US" sz="1100" dirty="0">
                <a:solidFill>
                  <a:srgbClr val="ECC48D"/>
                </a:solidFill>
                <a:latin typeface="Consolas" panose="020B0609020204030204" pitchFamily="49" charset="0"/>
              </a:rPr>
              <a:t>Jason Sweet</a:t>
            </a:r>
            <a:r>
              <a:rPr lang="en-US" sz="1100" dirty="0">
                <a:solidFill>
                  <a:srgbClr val="D9F5DD"/>
                </a:solidFill>
                <a:latin typeface="Consolas" panose="020B0609020204030204" pitchFamily="49" charset="0"/>
              </a:rPr>
              <a:t>"</a:t>
            </a:r>
            <a:r>
              <a:rPr lang="en-US" sz="1100" dirty="0">
                <a:solidFill>
                  <a:srgbClr val="D6DEEB"/>
                </a:solidFill>
                <a:latin typeface="Consolas" panose="020B0609020204030204" pitchFamily="49" charset="0"/>
              </a:rPr>
              <a:t>, </a:t>
            </a:r>
          </a:p>
          <a:p>
            <a:r>
              <a:rPr lang="en-US" sz="1100" dirty="0">
                <a:solidFill>
                  <a:srgbClr val="D6DEEB"/>
                </a:solidFill>
                <a:latin typeface="Consolas" panose="020B0609020204030204" pitchFamily="49" charset="0"/>
              </a:rPr>
              <a:t>     </a:t>
            </a:r>
            <a:r>
              <a:rPr lang="en-US" sz="1100" dirty="0">
                <a:solidFill>
                  <a:srgbClr val="D9F5DD"/>
                </a:solidFill>
                <a:latin typeface="Consolas" panose="020B0609020204030204" pitchFamily="49" charset="0"/>
              </a:rPr>
              <a:t>"</a:t>
            </a:r>
            <a:r>
              <a:rPr lang="en-US" sz="1100" dirty="0">
                <a:solidFill>
                  <a:srgbClr val="ECC48D"/>
                </a:solidFill>
                <a:latin typeface="Consolas" panose="020B0609020204030204" pitchFamily="49" charset="0"/>
              </a:rPr>
              <a:t>Quantity</a:t>
            </a:r>
            <a:r>
              <a:rPr lang="en-US" sz="1100" dirty="0">
                <a:solidFill>
                  <a:srgbClr val="D9F5DD"/>
                </a:solidFill>
                <a:latin typeface="Consolas" panose="020B0609020204030204" pitchFamily="49" charset="0"/>
              </a:rPr>
              <a:t>"</a:t>
            </a:r>
            <a:r>
              <a:rPr lang="en-US" sz="1100" dirty="0">
                <a:solidFill>
                  <a:srgbClr val="D6DEEB"/>
                </a:solidFill>
                <a:latin typeface="Consolas" panose="020B0609020204030204" pitchFamily="49" charset="0"/>
              </a:rPr>
              <a:t>: </a:t>
            </a:r>
            <a:r>
              <a:rPr lang="en-US" sz="1100" dirty="0">
                <a:solidFill>
                  <a:srgbClr val="F78C6C"/>
                </a:solidFill>
                <a:latin typeface="Consolas" panose="020B0609020204030204" pitchFamily="49" charset="0"/>
              </a:rPr>
              <a:t>1</a:t>
            </a:r>
            <a:r>
              <a:rPr lang="en-US" sz="1100" dirty="0">
                <a:solidFill>
                  <a:srgbClr val="D6DEEB"/>
                </a:solidFill>
                <a:latin typeface="Consolas" panose="020B0609020204030204" pitchFamily="49" charset="0"/>
              </a:rPr>
              <a:t>, </a:t>
            </a:r>
          </a:p>
          <a:p>
            <a:r>
              <a:rPr lang="en-US" sz="1100" dirty="0">
                <a:solidFill>
                  <a:srgbClr val="D6DEEB"/>
                </a:solidFill>
                <a:latin typeface="Consolas" panose="020B0609020204030204" pitchFamily="49" charset="0"/>
              </a:rPr>
              <a:t>     </a:t>
            </a:r>
            <a:r>
              <a:rPr lang="en-US" sz="1100" dirty="0">
                <a:solidFill>
                  <a:srgbClr val="D9F5DD"/>
                </a:solidFill>
                <a:latin typeface="Consolas" panose="020B0609020204030204" pitchFamily="49" charset="0"/>
              </a:rPr>
              <a:t>"</a:t>
            </a:r>
            <a:r>
              <a:rPr lang="en-US" sz="1100" dirty="0">
                <a:solidFill>
                  <a:srgbClr val="ECC48D"/>
                </a:solidFill>
                <a:latin typeface="Consolas" panose="020B0609020204030204" pitchFamily="49" charset="0"/>
              </a:rPr>
              <a:t>Price</a:t>
            </a:r>
            <a:r>
              <a:rPr lang="en-US" sz="1100" dirty="0">
                <a:solidFill>
                  <a:srgbClr val="D9F5DD"/>
                </a:solidFill>
                <a:latin typeface="Consolas" panose="020B0609020204030204" pitchFamily="49" charset="0"/>
              </a:rPr>
              <a:t>"</a:t>
            </a:r>
            <a:r>
              <a:rPr lang="en-US" sz="1100" dirty="0">
                <a:solidFill>
                  <a:srgbClr val="D6DEEB"/>
                </a:solidFill>
                <a:latin typeface="Consolas" panose="020B0609020204030204" pitchFamily="49" charset="0"/>
              </a:rPr>
              <a:t>: </a:t>
            </a:r>
            <a:r>
              <a:rPr lang="en-US" sz="1100" dirty="0">
                <a:solidFill>
                  <a:srgbClr val="F78C6C"/>
                </a:solidFill>
                <a:latin typeface="Consolas" panose="020B0609020204030204" pitchFamily="49" charset="0"/>
              </a:rPr>
              <a:t>18.00</a:t>
            </a:r>
            <a:r>
              <a:rPr lang="en-US" sz="1100" dirty="0">
                <a:solidFill>
                  <a:srgbClr val="D6DEEB"/>
                </a:solidFill>
                <a:latin typeface="Consolas" panose="020B0609020204030204" pitchFamily="49" charset="0"/>
              </a:rPr>
              <a:t> </a:t>
            </a:r>
          </a:p>
          <a:p>
            <a:r>
              <a:rPr lang="en-US" sz="1100" dirty="0">
                <a:solidFill>
                  <a:srgbClr val="D6DEEB"/>
                </a:solidFill>
                <a:latin typeface="Consolas" panose="020B0609020204030204" pitchFamily="49" charset="0"/>
              </a:rPr>
              <a:t>} </a:t>
            </a:r>
            <a:endParaRPr lang="en-US" sz="1100" b="0" dirty="0">
              <a:solidFill>
                <a:srgbClr val="D6DEEB"/>
              </a:solidFill>
              <a:effectLst/>
              <a:latin typeface="Consolas" panose="020B0609020204030204" pitchFamily="49" charset="0"/>
            </a:endParaRPr>
          </a:p>
        </p:txBody>
      </p:sp>
      <p:sp>
        <p:nvSpPr>
          <p:cNvPr id="11" name="Rectangle 10"/>
          <p:cNvSpPr/>
          <p:nvPr/>
        </p:nvSpPr>
        <p:spPr>
          <a:xfrm>
            <a:off x="470803" y="1389213"/>
            <a:ext cx="3322418" cy="2185214"/>
          </a:xfrm>
          <a:prstGeom prst="rect">
            <a:avLst/>
          </a:prstGeom>
        </p:spPr>
        <p:txBody>
          <a:bodyPr wrap="square">
            <a:spAutoFit/>
          </a:bodyPr>
          <a:lstStyle/>
          <a:p>
            <a:r>
              <a:rPr lang="en-US" sz="1400" b="1" dirty="0" err="1" smtClean="0">
                <a:solidFill>
                  <a:srgbClr val="FFC000"/>
                </a:solidFill>
                <a:latin typeface="+mn-lt"/>
              </a:rPr>
              <a:t>RESTful</a:t>
            </a:r>
            <a:r>
              <a:rPr lang="en-US" sz="1400" b="1" dirty="0" smtClean="0">
                <a:solidFill>
                  <a:srgbClr val="FFC000"/>
                </a:solidFill>
                <a:latin typeface="+mn-lt"/>
              </a:rPr>
              <a:t> API</a:t>
            </a:r>
          </a:p>
          <a:p>
            <a:r>
              <a:rPr lang="en-US" sz="1000" b="1" dirty="0" smtClean="0">
                <a:solidFill>
                  <a:schemeClr val="bg1"/>
                </a:solidFill>
                <a:latin typeface="+mn-lt"/>
              </a:rPr>
              <a:t>Uses HTTP </a:t>
            </a:r>
            <a:r>
              <a:rPr lang="en-US" sz="1000" b="1" dirty="0">
                <a:solidFill>
                  <a:schemeClr val="bg1"/>
                </a:solidFill>
                <a:latin typeface="+mn-lt"/>
              </a:rPr>
              <a:t>verbs: </a:t>
            </a:r>
            <a:r>
              <a:rPr lang="en-US" sz="1200" b="1" dirty="0">
                <a:solidFill>
                  <a:srgbClr val="FFC000"/>
                </a:solidFill>
              </a:rPr>
              <a:t>POST, PUT, PATCH, DELETE, GET</a:t>
            </a:r>
          </a:p>
          <a:p>
            <a:endParaRPr lang="en-US" sz="1200" dirty="0" smtClean="0">
              <a:solidFill>
                <a:schemeClr val="bg1"/>
              </a:solidFill>
              <a:latin typeface="Arial (Body)"/>
            </a:endParaRPr>
          </a:p>
          <a:p>
            <a:pPr marL="628650" lvl="1" indent="-171450">
              <a:buFont typeface="Arial" panose="020B0604020202020204" pitchFamily="34" charset="0"/>
              <a:buChar char="•"/>
            </a:pPr>
            <a:r>
              <a:rPr lang="en-US" sz="1100" dirty="0" smtClean="0">
                <a:solidFill>
                  <a:schemeClr val="bg1"/>
                </a:solidFill>
                <a:latin typeface="Arial (Body)"/>
              </a:rPr>
              <a:t>Insert: </a:t>
            </a:r>
            <a:r>
              <a:rPr lang="en-US" sz="1100" b="1" dirty="0" smtClean="0">
                <a:solidFill>
                  <a:srgbClr val="FFC000"/>
                </a:solidFill>
                <a:latin typeface="Arial (Body)"/>
              </a:rPr>
              <a:t>POST</a:t>
            </a:r>
          </a:p>
          <a:p>
            <a:pPr marL="628650" lvl="1" indent="-171450">
              <a:buFont typeface="Arial" panose="020B0604020202020204" pitchFamily="34" charset="0"/>
              <a:buChar char="•"/>
            </a:pPr>
            <a:r>
              <a:rPr lang="en-US" sz="1100" dirty="0" smtClean="0">
                <a:solidFill>
                  <a:schemeClr val="bg1"/>
                </a:solidFill>
                <a:latin typeface="Arial (Body)"/>
              </a:rPr>
              <a:t>Update: </a:t>
            </a:r>
            <a:r>
              <a:rPr lang="en-US" sz="1100" b="1" dirty="0" smtClean="0">
                <a:solidFill>
                  <a:srgbClr val="FFC000"/>
                </a:solidFill>
                <a:latin typeface="Arial (Body)"/>
              </a:rPr>
              <a:t>PUT</a:t>
            </a:r>
          </a:p>
          <a:p>
            <a:pPr marL="628650" lvl="1" indent="-171450">
              <a:buFont typeface="Arial" panose="020B0604020202020204" pitchFamily="34" charset="0"/>
              <a:buChar char="•"/>
            </a:pPr>
            <a:r>
              <a:rPr lang="en-US" sz="1100" dirty="0" smtClean="0">
                <a:solidFill>
                  <a:schemeClr val="bg1"/>
                </a:solidFill>
                <a:latin typeface="Arial (Body)"/>
              </a:rPr>
              <a:t>Partially update: </a:t>
            </a:r>
            <a:r>
              <a:rPr lang="en-US" sz="1100" b="1" dirty="0">
                <a:solidFill>
                  <a:srgbClr val="FFC000"/>
                </a:solidFill>
                <a:latin typeface="Arial (Body)"/>
              </a:rPr>
              <a:t>PATCH</a:t>
            </a:r>
            <a:endParaRPr lang="en-US" sz="1100" dirty="0">
              <a:solidFill>
                <a:schemeClr val="bg1"/>
              </a:solidFill>
              <a:latin typeface="Arial (Body)"/>
            </a:endParaRPr>
          </a:p>
          <a:p>
            <a:pPr marL="628650" lvl="1" indent="-171450">
              <a:buFont typeface="Arial" panose="020B0604020202020204" pitchFamily="34" charset="0"/>
              <a:buChar char="•"/>
            </a:pPr>
            <a:r>
              <a:rPr lang="en-US" sz="1100" dirty="0" smtClean="0">
                <a:solidFill>
                  <a:schemeClr val="bg1"/>
                </a:solidFill>
                <a:latin typeface="Arial (Body)"/>
              </a:rPr>
              <a:t>Delete: </a:t>
            </a:r>
            <a:r>
              <a:rPr lang="en-US" sz="1100" b="1" dirty="0" smtClean="0">
                <a:solidFill>
                  <a:srgbClr val="FFC000"/>
                </a:solidFill>
                <a:latin typeface="Arial (Body)"/>
              </a:rPr>
              <a:t>DELETE</a:t>
            </a:r>
          </a:p>
          <a:p>
            <a:pPr marL="628650" lvl="1" indent="-171450">
              <a:buFont typeface="Arial" panose="020B0604020202020204" pitchFamily="34" charset="0"/>
              <a:buChar char="•"/>
            </a:pPr>
            <a:r>
              <a:rPr lang="en-US" sz="1100" dirty="0" smtClean="0">
                <a:solidFill>
                  <a:schemeClr val="bg1"/>
                </a:solidFill>
                <a:latin typeface="Arial (Body)"/>
              </a:rPr>
              <a:t>Return all: </a:t>
            </a:r>
            <a:r>
              <a:rPr lang="en-US" sz="1100" b="1" dirty="0" smtClean="0">
                <a:solidFill>
                  <a:srgbClr val="FFC000"/>
                </a:solidFill>
                <a:latin typeface="Arial (Body)"/>
              </a:rPr>
              <a:t>GET</a:t>
            </a:r>
            <a:endParaRPr lang="en-US" sz="1100" b="1" dirty="0">
              <a:solidFill>
                <a:srgbClr val="FFC000"/>
              </a:solidFill>
              <a:latin typeface="Arial (Body)"/>
            </a:endParaRPr>
          </a:p>
          <a:p>
            <a:pPr marL="628650" lvl="1" indent="-171450">
              <a:buFont typeface="Arial" panose="020B0604020202020204" pitchFamily="34" charset="0"/>
              <a:buChar char="•"/>
            </a:pPr>
            <a:r>
              <a:rPr lang="en-US" sz="1100" dirty="0" smtClean="0">
                <a:solidFill>
                  <a:schemeClr val="bg1"/>
                </a:solidFill>
                <a:latin typeface="Arial (Body)"/>
              </a:rPr>
              <a:t>Return one: </a:t>
            </a:r>
            <a:r>
              <a:rPr lang="en-US" sz="1100" b="1" dirty="0" smtClean="0">
                <a:solidFill>
                  <a:srgbClr val="FFC000"/>
                </a:solidFill>
                <a:latin typeface="Arial (Body)"/>
              </a:rPr>
              <a:t>GET/Id</a:t>
            </a:r>
            <a:endParaRPr lang="en-US" sz="1100" dirty="0">
              <a:solidFill>
                <a:schemeClr val="bg1"/>
              </a:solidFill>
              <a:latin typeface="Arial (Body)"/>
            </a:endParaRPr>
          </a:p>
          <a:p>
            <a:endParaRPr lang="en-US" sz="1200" dirty="0">
              <a:solidFill>
                <a:schemeClr val="bg1"/>
              </a:solidFill>
              <a:latin typeface="+mn-lt"/>
            </a:endParaRPr>
          </a:p>
          <a:p>
            <a:r>
              <a:rPr lang="en-US" sz="1000" dirty="0" smtClean="0">
                <a:solidFill>
                  <a:schemeClr val="bg1"/>
                </a:solidFill>
                <a:latin typeface="+mn-lt"/>
              </a:rPr>
              <a:t>Get all =&gt;  URL/customer/</a:t>
            </a:r>
          </a:p>
          <a:p>
            <a:r>
              <a:rPr lang="en-US" sz="1000" dirty="0" smtClean="0">
                <a:solidFill>
                  <a:schemeClr val="bg1"/>
                </a:solidFill>
                <a:latin typeface="+mn-lt"/>
              </a:rPr>
              <a:t>Get:     =&gt; URL/customer/C100</a:t>
            </a:r>
          </a:p>
        </p:txBody>
      </p:sp>
      <p:cxnSp>
        <p:nvCxnSpPr>
          <p:cNvPr id="12" name="Straight Arrow Connector 11">
            <a:extLst>
              <a:ext uri="{FF2B5EF4-FFF2-40B4-BE49-F238E27FC236}">
                <a16:creationId xmlns:lc="http://schemas.openxmlformats.org/drawingml/2006/lockedCanvas" xmlns="" xmlns:a16="http://schemas.microsoft.com/office/drawing/2014/main" id="{B5DA113E-04FE-9EB1-8AB5-33E931C16F03}"/>
              </a:ext>
            </a:extLst>
          </p:cNvPr>
          <p:cNvCxnSpPr/>
          <p:nvPr/>
        </p:nvCxnSpPr>
        <p:spPr>
          <a:xfrm flipH="1">
            <a:off x="3883523" y="1269940"/>
            <a:ext cx="4170" cy="2256813"/>
          </a:xfrm>
          <a:prstGeom prst="straightConnector1">
            <a:avLst/>
          </a:prstGeom>
          <a:ln w="15875">
            <a:solidFill>
              <a:srgbClr val="9BA7B6"/>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lc="http://schemas.openxmlformats.org/drawingml/2006/lockedCanvas" xmlns="" xmlns:a16="http://schemas.microsoft.com/office/drawing/2014/main" id="{B5DA113E-04FE-9EB1-8AB5-33E931C16F03}"/>
              </a:ext>
            </a:extLst>
          </p:cNvPr>
          <p:cNvCxnSpPr/>
          <p:nvPr/>
        </p:nvCxnSpPr>
        <p:spPr>
          <a:xfrm flipH="1">
            <a:off x="7357963" y="1257015"/>
            <a:ext cx="4170" cy="2256813"/>
          </a:xfrm>
          <a:prstGeom prst="straightConnector1">
            <a:avLst/>
          </a:prstGeom>
          <a:ln w="15875">
            <a:solidFill>
              <a:srgbClr val="9BA7B6"/>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94506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327032" y="711697"/>
            <a:ext cx="8470111" cy="969496"/>
          </a:xfrm>
          <a:prstGeom prst="rect">
            <a:avLst/>
          </a:prstGeom>
        </p:spPr>
        <p:txBody>
          <a:bodyPr wrap="square">
            <a:spAutoFit/>
          </a:bodyPr>
          <a:lstStyle/>
          <a:p>
            <a:r>
              <a:rPr lang="en-US" sz="1600" b="1" dirty="0" err="1" smtClean="0">
                <a:solidFill>
                  <a:srgbClr val="FF3399"/>
                </a:solidFill>
                <a:latin typeface="+mn-lt"/>
              </a:rPr>
              <a:t>GraphQL</a:t>
            </a:r>
            <a:endParaRPr lang="en-US" sz="1600" b="1" dirty="0" smtClean="0">
              <a:solidFill>
                <a:srgbClr val="FF3399"/>
              </a:solidFill>
              <a:latin typeface="+mn-lt"/>
            </a:endParaRPr>
          </a:p>
          <a:p>
            <a:endParaRPr lang="en-US" sz="500" b="1" dirty="0" smtClean="0">
              <a:solidFill>
                <a:srgbClr val="FF3399"/>
              </a:solidFill>
              <a:latin typeface="+mn-lt"/>
            </a:endParaRPr>
          </a:p>
          <a:p>
            <a:r>
              <a:rPr lang="en-US" sz="1200" dirty="0" err="1" smtClean="0">
                <a:solidFill>
                  <a:schemeClr val="bg1"/>
                </a:solidFill>
                <a:latin typeface="+mn-lt"/>
              </a:rPr>
              <a:t>GraphQL</a:t>
            </a:r>
            <a:r>
              <a:rPr lang="en-US" sz="1200" dirty="0" smtClean="0">
                <a:solidFill>
                  <a:schemeClr val="bg1"/>
                </a:solidFill>
                <a:latin typeface="+mn-lt"/>
              </a:rPr>
              <a:t> concept is implemented in different technology stacks by third parties such as AWS </a:t>
            </a:r>
            <a:r>
              <a:rPr lang="en-US" sz="1200" dirty="0" err="1" smtClean="0">
                <a:solidFill>
                  <a:schemeClr val="bg1"/>
                </a:solidFill>
                <a:latin typeface="+mn-lt"/>
              </a:rPr>
              <a:t>AppSynch</a:t>
            </a:r>
            <a:endParaRPr lang="en-US" sz="1200" dirty="0" smtClean="0">
              <a:solidFill>
                <a:schemeClr val="bg1"/>
              </a:solidFill>
              <a:latin typeface="+mn-lt"/>
            </a:endParaRPr>
          </a:p>
          <a:p>
            <a:endParaRPr lang="en-US" sz="1200" dirty="0">
              <a:solidFill>
                <a:schemeClr val="bg1"/>
              </a:solidFill>
              <a:latin typeface="+mn-lt"/>
            </a:endParaRPr>
          </a:p>
          <a:p>
            <a:endParaRPr lang="en-US" sz="1200" dirty="0" smtClean="0">
              <a:solidFill>
                <a:schemeClr val="bg1"/>
              </a:solidFill>
              <a:latin typeface="+mn-lt"/>
            </a:endParaRPr>
          </a:p>
        </p:txBody>
      </p:sp>
      <p:pic>
        <p:nvPicPr>
          <p:cNvPr id="14" name="Picture 13"/>
          <p:cNvPicPr>
            <a:picLocks noChangeAspect="1"/>
          </p:cNvPicPr>
          <p:nvPr/>
        </p:nvPicPr>
        <p:blipFill>
          <a:blip r:embed="rId2"/>
          <a:stretch>
            <a:fillRect/>
          </a:stretch>
        </p:blipFill>
        <p:spPr>
          <a:xfrm>
            <a:off x="677299" y="502052"/>
            <a:ext cx="679336" cy="767106"/>
          </a:xfrm>
          <a:prstGeom prst="rect">
            <a:avLst/>
          </a:prstGeom>
        </p:spPr>
      </p:pic>
      <p:sp>
        <p:nvSpPr>
          <p:cNvPr id="18" name="Rectangle 17"/>
          <p:cNvSpPr/>
          <p:nvPr/>
        </p:nvSpPr>
        <p:spPr>
          <a:xfrm>
            <a:off x="714964" y="1740980"/>
            <a:ext cx="4159040" cy="4893647"/>
          </a:xfrm>
          <a:prstGeom prst="rect">
            <a:avLst/>
          </a:prstGeom>
        </p:spPr>
        <p:txBody>
          <a:bodyPr wrap="square">
            <a:spAutoFit/>
          </a:bodyPr>
          <a:lstStyle/>
          <a:p>
            <a:r>
              <a:rPr lang="en-US" sz="1000" b="1" dirty="0" smtClean="0">
                <a:solidFill>
                  <a:schemeClr val="bg1"/>
                </a:solidFill>
                <a:latin typeface="+mn-lt"/>
              </a:rPr>
              <a:t>Not HTTP verbs any more!  </a:t>
            </a:r>
            <a:r>
              <a:rPr lang="en-US" sz="1200" b="1" strike="sngStrike" dirty="0" smtClean="0">
                <a:solidFill>
                  <a:srgbClr val="FFC000"/>
                </a:solidFill>
              </a:rPr>
              <a:t>PUT</a:t>
            </a:r>
            <a:r>
              <a:rPr lang="en-US" sz="1200" b="1" strike="sngStrike" dirty="0">
                <a:solidFill>
                  <a:srgbClr val="FFC000"/>
                </a:solidFill>
              </a:rPr>
              <a:t>, PATCH, DELETE, </a:t>
            </a:r>
            <a:r>
              <a:rPr lang="en-US" sz="1200" b="1" strike="sngStrike" dirty="0" smtClean="0">
                <a:solidFill>
                  <a:srgbClr val="FFC000"/>
                </a:solidFill>
              </a:rPr>
              <a:t>GET</a:t>
            </a:r>
          </a:p>
          <a:p>
            <a:endParaRPr lang="en-US" sz="1200" b="1" strike="sngStrike" dirty="0" smtClean="0">
              <a:solidFill>
                <a:srgbClr val="FFC000"/>
              </a:solidFill>
            </a:endParaRPr>
          </a:p>
          <a:p>
            <a:r>
              <a:rPr lang="en-US" sz="1100" b="1" dirty="0" err="1">
                <a:solidFill>
                  <a:srgbClr val="FF3399"/>
                </a:solidFill>
                <a:latin typeface="+mn-lt"/>
              </a:rPr>
              <a:t>GraphQL</a:t>
            </a:r>
            <a:r>
              <a:rPr lang="en-US" sz="1100" b="1" dirty="0">
                <a:solidFill>
                  <a:srgbClr val="FF3399"/>
                </a:solidFill>
                <a:latin typeface="+mn-lt"/>
              </a:rPr>
              <a:t> </a:t>
            </a:r>
            <a:r>
              <a:rPr lang="en-US" sz="1100" b="1" dirty="0" smtClean="0">
                <a:solidFill>
                  <a:srgbClr val="FF3399"/>
                </a:solidFill>
                <a:latin typeface="+mn-lt"/>
              </a:rPr>
              <a:t>Components </a:t>
            </a:r>
          </a:p>
          <a:p>
            <a:endParaRPr lang="en-US" sz="1100" b="1" dirty="0" smtClean="0">
              <a:solidFill>
                <a:srgbClr val="FF3399"/>
              </a:solidFill>
              <a:latin typeface="+mn-lt"/>
            </a:endParaRPr>
          </a:p>
          <a:p>
            <a:r>
              <a:rPr lang="en-US" sz="1100" b="1" dirty="0">
                <a:solidFill>
                  <a:srgbClr val="FF3399"/>
                </a:solidFill>
                <a:latin typeface="+mn-lt"/>
              </a:rPr>
              <a:t> </a:t>
            </a:r>
            <a:r>
              <a:rPr lang="en-US" sz="1100" b="1" dirty="0" smtClean="0">
                <a:solidFill>
                  <a:srgbClr val="FF3399"/>
                </a:solidFill>
                <a:latin typeface="+mn-lt"/>
              </a:rPr>
              <a:t>   1. Query: Read data</a:t>
            </a:r>
          </a:p>
          <a:p>
            <a:r>
              <a:rPr lang="en-US" sz="1100" b="1" dirty="0" smtClean="0">
                <a:solidFill>
                  <a:schemeClr val="bg1"/>
                </a:solidFill>
                <a:latin typeface="+mn-lt"/>
              </a:rPr>
              <a:t>         </a:t>
            </a:r>
            <a:r>
              <a:rPr lang="en-US" sz="1100" dirty="0" smtClean="0">
                <a:solidFill>
                  <a:schemeClr val="bg1"/>
                </a:solidFill>
                <a:latin typeface="+mn-lt"/>
              </a:rPr>
              <a:t>pass </a:t>
            </a:r>
            <a:r>
              <a:rPr lang="en-US" sz="1100" dirty="0">
                <a:solidFill>
                  <a:schemeClr val="bg1"/>
                </a:solidFill>
                <a:latin typeface="+mn-lt"/>
              </a:rPr>
              <a:t>variables for DB fetch/Get </a:t>
            </a:r>
          </a:p>
          <a:p>
            <a:endParaRPr lang="en-US" sz="1100" b="1" dirty="0">
              <a:solidFill>
                <a:srgbClr val="FF3399"/>
              </a:solidFill>
              <a:latin typeface="+mn-lt"/>
            </a:endParaRPr>
          </a:p>
          <a:p>
            <a:r>
              <a:rPr lang="en-US" sz="1100" b="1" dirty="0" smtClean="0">
                <a:solidFill>
                  <a:srgbClr val="FF3399"/>
                </a:solidFill>
                <a:latin typeface="+mn-lt"/>
              </a:rPr>
              <a:t>    2. Mutation: Write data </a:t>
            </a:r>
            <a:endParaRPr lang="en-US" sz="1100" b="1" dirty="0">
              <a:solidFill>
                <a:schemeClr val="bg1"/>
              </a:solidFill>
              <a:latin typeface="+mn-lt"/>
            </a:endParaRPr>
          </a:p>
          <a:p>
            <a:r>
              <a:rPr lang="en-US" sz="1100" b="1" dirty="0" smtClean="0">
                <a:solidFill>
                  <a:schemeClr val="bg1"/>
                </a:solidFill>
                <a:latin typeface="+mn-lt"/>
              </a:rPr>
              <a:t>         </a:t>
            </a:r>
            <a:r>
              <a:rPr lang="en-US" sz="1100" dirty="0" smtClean="0">
                <a:solidFill>
                  <a:schemeClr val="bg1"/>
                </a:solidFill>
                <a:latin typeface="+mn-lt"/>
              </a:rPr>
              <a:t>passing </a:t>
            </a:r>
            <a:r>
              <a:rPr lang="en-US" sz="1100" dirty="0">
                <a:solidFill>
                  <a:schemeClr val="bg1"/>
                </a:solidFill>
                <a:latin typeface="+mn-lt"/>
              </a:rPr>
              <a:t>variables for </a:t>
            </a:r>
            <a:r>
              <a:rPr lang="en-US" sz="1100" dirty="0" smtClean="0">
                <a:solidFill>
                  <a:schemeClr val="bg1"/>
                </a:solidFill>
                <a:latin typeface="+mn-lt"/>
              </a:rPr>
              <a:t>DB Insert/Update/Delete</a:t>
            </a:r>
            <a:endParaRPr lang="en-US" sz="1100" dirty="0">
              <a:solidFill>
                <a:srgbClr val="FF3399"/>
              </a:solidFill>
              <a:latin typeface="+mn-lt"/>
            </a:endParaRPr>
          </a:p>
          <a:p>
            <a:endParaRPr lang="en-US" sz="1100" b="1" dirty="0" smtClean="0">
              <a:solidFill>
                <a:srgbClr val="FF3399"/>
              </a:solidFill>
              <a:latin typeface="+mn-lt"/>
            </a:endParaRPr>
          </a:p>
          <a:p>
            <a:r>
              <a:rPr lang="en-US" sz="1100" b="1" dirty="0" smtClean="0">
                <a:solidFill>
                  <a:srgbClr val="FF3399"/>
                </a:solidFill>
                <a:latin typeface="+mn-lt"/>
              </a:rPr>
              <a:t>     3. Subscription: </a:t>
            </a:r>
            <a:endParaRPr lang="en-US" sz="1100" b="1" dirty="0">
              <a:solidFill>
                <a:schemeClr val="bg1"/>
              </a:solidFill>
              <a:latin typeface="+mn-lt"/>
            </a:endParaRPr>
          </a:p>
          <a:p>
            <a:pPr marL="628650" lvl="1" indent="-171450">
              <a:buFont typeface="Arial" panose="020B0604020202020204" pitchFamily="34" charset="0"/>
              <a:buChar char="•"/>
            </a:pPr>
            <a:r>
              <a:rPr lang="en-US" sz="1100" dirty="0">
                <a:solidFill>
                  <a:schemeClr val="bg1"/>
                </a:solidFill>
                <a:latin typeface="+mn-lt"/>
              </a:rPr>
              <a:t>Like queries, subscriptions enable you to fetch </a:t>
            </a:r>
            <a:r>
              <a:rPr lang="en-US" sz="1100" dirty="0" smtClean="0">
                <a:solidFill>
                  <a:schemeClr val="bg1"/>
                </a:solidFill>
                <a:latin typeface="+mn-lt"/>
              </a:rPr>
              <a:t>data</a:t>
            </a:r>
          </a:p>
          <a:p>
            <a:pPr marL="628650" lvl="1" indent="-171450">
              <a:buFont typeface="Arial" panose="020B0604020202020204" pitchFamily="34" charset="0"/>
              <a:buChar char="•"/>
            </a:pPr>
            <a:endParaRPr lang="en-US" sz="1100" dirty="0" smtClean="0">
              <a:solidFill>
                <a:schemeClr val="bg1"/>
              </a:solidFill>
              <a:latin typeface="+mn-lt"/>
            </a:endParaRPr>
          </a:p>
          <a:p>
            <a:pPr marL="628650" lvl="1" indent="-171450">
              <a:buFont typeface="Arial" panose="020B0604020202020204" pitchFamily="34" charset="0"/>
              <a:buChar char="•"/>
            </a:pPr>
            <a:r>
              <a:rPr lang="en-US" sz="1100" i="1" dirty="0" smtClean="0">
                <a:solidFill>
                  <a:schemeClr val="bg1"/>
                </a:solidFill>
                <a:latin typeface="+mn-lt"/>
              </a:rPr>
              <a:t>Unlike</a:t>
            </a:r>
            <a:r>
              <a:rPr lang="en-US" sz="1100" dirty="0">
                <a:solidFill>
                  <a:schemeClr val="bg1"/>
                </a:solidFill>
                <a:latin typeface="+mn-lt"/>
              </a:rPr>
              <a:t> </a:t>
            </a:r>
            <a:r>
              <a:rPr lang="en-US" sz="1100" dirty="0">
                <a:solidFill>
                  <a:srgbClr val="FF3399"/>
                </a:solidFill>
                <a:latin typeface="+mn-lt"/>
              </a:rPr>
              <a:t>queries</a:t>
            </a:r>
            <a:r>
              <a:rPr lang="en-US" sz="1100" dirty="0">
                <a:solidFill>
                  <a:schemeClr val="bg1"/>
                </a:solidFill>
                <a:latin typeface="+mn-lt"/>
              </a:rPr>
              <a:t>, subscriptions are long-lasting operations that can change their result over </a:t>
            </a:r>
            <a:r>
              <a:rPr lang="en-US" sz="1100" dirty="0" smtClean="0">
                <a:solidFill>
                  <a:schemeClr val="bg1"/>
                </a:solidFill>
                <a:latin typeface="+mn-lt"/>
              </a:rPr>
              <a:t>time</a:t>
            </a:r>
          </a:p>
          <a:p>
            <a:pPr marL="628650" lvl="1" indent="-171450">
              <a:buFont typeface="Arial" panose="020B0604020202020204" pitchFamily="34" charset="0"/>
              <a:buChar char="•"/>
            </a:pPr>
            <a:endParaRPr lang="en-US" sz="1100" dirty="0" smtClean="0">
              <a:solidFill>
                <a:schemeClr val="bg1"/>
              </a:solidFill>
              <a:latin typeface="+mn-lt"/>
            </a:endParaRPr>
          </a:p>
          <a:p>
            <a:pPr marL="628650" lvl="1" indent="-171450">
              <a:buFont typeface="Arial" panose="020B0604020202020204" pitchFamily="34" charset="0"/>
              <a:buChar char="•"/>
            </a:pPr>
            <a:r>
              <a:rPr lang="en-US" sz="1100" dirty="0" smtClean="0">
                <a:solidFill>
                  <a:schemeClr val="bg1"/>
                </a:solidFill>
                <a:latin typeface="+mn-lt"/>
              </a:rPr>
              <a:t>They </a:t>
            </a:r>
            <a:r>
              <a:rPr lang="en-US" sz="1100" dirty="0">
                <a:solidFill>
                  <a:schemeClr val="bg1"/>
                </a:solidFill>
                <a:latin typeface="+mn-lt"/>
              </a:rPr>
              <a:t>can maintain an </a:t>
            </a:r>
            <a:r>
              <a:rPr lang="en-US" sz="1100" dirty="0">
                <a:solidFill>
                  <a:srgbClr val="FF3399"/>
                </a:solidFill>
                <a:latin typeface="+mn-lt"/>
              </a:rPr>
              <a:t>active connection to your </a:t>
            </a:r>
            <a:r>
              <a:rPr lang="en-US" sz="1100" dirty="0" err="1">
                <a:solidFill>
                  <a:srgbClr val="FF3399"/>
                </a:solidFill>
                <a:latin typeface="+mn-lt"/>
              </a:rPr>
              <a:t>GraphQL</a:t>
            </a:r>
            <a:r>
              <a:rPr lang="en-US" sz="1100" dirty="0">
                <a:solidFill>
                  <a:srgbClr val="FF3399"/>
                </a:solidFill>
                <a:latin typeface="+mn-lt"/>
              </a:rPr>
              <a:t> server (most commonly via </a:t>
            </a:r>
            <a:r>
              <a:rPr lang="en-US" sz="1100" dirty="0" err="1">
                <a:solidFill>
                  <a:srgbClr val="FF3399"/>
                </a:solidFill>
                <a:latin typeface="+mn-lt"/>
              </a:rPr>
              <a:t>WebSocket</a:t>
            </a:r>
            <a:r>
              <a:rPr lang="en-US" sz="1100" dirty="0">
                <a:solidFill>
                  <a:srgbClr val="FF3399"/>
                </a:solidFill>
                <a:latin typeface="+mn-lt"/>
              </a:rPr>
              <a:t>)</a:t>
            </a:r>
            <a:r>
              <a:rPr lang="en-US" sz="1100" dirty="0">
                <a:solidFill>
                  <a:schemeClr val="bg1"/>
                </a:solidFill>
                <a:latin typeface="+mn-lt"/>
              </a:rPr>
              <a:t>, enabling the server to </a:t>
            </a:r>
            <a:r>
              <a:rPr lang="en-US" sz="1100" dirty="0">
                <a:solidFill>
                  <a:srgbClr val="FF3399"/>
                </a:solidFill>
                <a:latin typeface="+mn-lt"/>
              </a:rPr>
              <a:t>push updates to the subscription's </a:t>
            </a:r>
            <a:r>
              <a:rPr lang="en-US" sz="1100" dirty="0" smtClean="0">
                <a:solidFill>
                  <a:srgbClr val="FF3399"/>
                </a:solidFill>
                <a:latin typeface="+mn-lt"/>
              </a:rPr>
              <a:t>result</a:t>
            </a:r>
          </a:p>
          <a:p>
            <a:pPr marL="628650" lvl="1" indent="-171450">
              <a:buFont typeface="Arial" panose="020B0604020202020204" pitchFamily="34" charset="0"/>
              <a:buChar char="•"/>
            </a:pPr>
            <a:endParaRPr lang="en-US" sz="1100" dirty="0">
              <a:solidFill>
                <a:srgbClr val="FF3399"/>
              </a:solidFill>
              <a:latin typeface="+mn-lt"/>
            </a:endParaRPr>
          </a:p>
          <a:p>
            <a:pPr marL="628650" lvl="1" indent="-171450">
              <a:buFont typeface="Arial" panose="020B0604020202020204" pitchFamily="34" charset="0"/>
              <a:buChar char="•"/>
            </a:pPr>
            <a:r>
              <a:rPr lang="en-US" sz="1100" dirty="0">
                <a:solidFill>
                  <a:schemeClr val="bg1"/>
                </a:solidFill>
                <a:latin typeface="+mn-lt"/>
              </a:rPr>
              <a:t>Subscriptions are useful for </a:t>
            </a:r>
            <a:r>
              <a:rPr lang="en-US" sz="1100" dirty="0">
                <a:solidFill>
                  <a:srgbClr val="FF3399"/>
                </a:solidFill>
                <a:latin typeface="+mn-lt"/>
              </a:rPr>
              <a:t>notifying your client in real time about changes to back-end data</a:t>
            </a:r>
            <a:r>
              <a:rPr lang="en-US" sz="1100" dirty="0">
                <a:solidFill>
                  <a:schemeClr val="bg1"/>
                </a:solidFill>
                <a:latin typeface="+mn-lt"/>
              </a:rPr>
              <a:t>, such as the creation of a new object or updates to an important field.</a:t>
            </a:r>
          </a:p>
          <a:p>
            <a:endParaRPr lang="en-US" sz="1200" b="1" dirty="0">
              <a:solidFill>
                <a:schemeClr val="bg1"/>
              </a:solidFill>
            </a:endParaRPr>
          </a:p>
          <a:p>
            <a:endParaRPr lang="en-US" sz="1200" b="1" dirty="0">
              <a:solidFill>
                <a:srgbClr val="FF3399"/>
              </a:solidFill>
            </a:endParaRPr>
          </a:p>
        </p:txBody>
      </p:sp>
      <p:sp>
        <p:nvSpPr>
          <p:cNvPr id="20" name="Rectangle 19"/>
          <p:cNvSpPr/>
          <p:nvPr/>
        </p:nvSpPr>
        <p:spPr>
          <a:xfrm>
            <a:off x="4842548" y="1740980"/>
            <a:ext cx="2761176" cy="1661993"/>
          </a:xfrm>
          <a:prstGeom prst="rect">
            <a:avLst/>
          </a:prstGeom>
        </p:spPr>
        <p:txBody>
          <a:bodyPr wrap="square">
            <a:spAutoFit/>
          </a:bodyPr>
          <a:lstStyle/>
          <a:p>
            <a:r>
              <a:rPr lang="en-US" sz="1100" dirty="0" smtClean="0">
                <a:solidFill>
                  <a:schemeClr val="bg1"/>
                </a:solidFill>
                <a:latin typeface="Arial (Body)"/>
              </a:rPr>
              <a:t>Put query commands in the request </a:t>
            </a:r>
            <a:r>
              <a:rPr lang="en-US" sz="1100" dirty="0">
                <a:solidFill>
                  <a:schemeClr val="bg1"/>
                </a:solidFill>
                <a:latin typeface="Arial (Body)"/>
              </a:rPr>
              <a:t>b</a:t>
            </a:r>
            <a:r>
              <a:rPr lang="en-US" sz="1100" dirty="0" smtClean="0">
                <a:solidFill>
                  <a:schemeClr val="bg1"/>
                </a:solidFill>
                <a:latin typeface="Arial (Body)"/>
              </a:rPr>
              <a:t>ody</a:t>
            </a:r>
          </a:p>
          <a:p>
            <a:endParaRPr lang="en-US" sz="1200" dirty="0" smtClean="0">
              <a:solidFill>
                <a:schemeClr val="bg1"/>
              </a:solidFill>
              <a:latin typeface="Arial (Body)"/>
            </a:endParaRPr>
          </a:p>
          <a:p>
            <a:pPr marL="628650" lvl="1" indent="-171450">
              <a:buFont typeface="Arial" panose="020B0604020202020204" pitchFamily="34" charset="0"/>
              <a:buChar char="•"/>
            </a:pPr>
            <a:r>
              <a:rPr lang="en-US" sz="1100" dirty="0" smtClean="0">
                <a:solidFill>
                  <a:schemeClr val="bg1"/>
                </a:solidFill>
                <a:latin typeface="Arial (Body)"/>
              </a:rPr>
              <a:t>Insert: </a:t>
            </a:r>
            <a:r>
              <a:rPr lang="en-US" sz="1100" b="1" dirty="0">
                <a:solidFill>
                  <a:srgbClr val="FF3399"/>
                </a:solidFill>
              </a:rPr>
              <a:t>Mutation</a:t>
            </a:r>
            <a:endParaRPr lang="en-US" sz="1100" b="1" dirty="0" smtClean="0">
              <a:solidFill>
                <a:srgbClr val="FFC000"/>
              </a:solidFill>
              <a:latin typeface="Arial (Body)"/>
            </a:endParaRPr>
          </a:p>
          <a:p>
            <a:pPr marL="628650" lvl="1" indent="-171450">
              <a:buFont typeface="Arial" panose="020B0604020202020204" pitchFamily="34" charset="0"/>
              <a:buChar char="•"/>
            </a:pPr>
            <a:r>
              <a:rPr lang="en-US" sz="1100" dirty="0" smtClean="0">
                <a:solidFill>
                  <a:schemeClr val="bg1"/>
                </a:solidFill>
                <a:latin typeface="Arial (Body)"/>
              </a:rPr>
              <a:t>Update: </a:t>
            </a:r>
            <a:r>
              <a:rPr lang="en-US" sz="1100" b="1" dirty="0">
                <a:solidFill>
                  <a:srgbClr val="FF3399"/>
                </a:solidFill>
              </a:rPr>
              <a:t>Mutation</a:t>
            </a:r>
            <a:endParaRPr lang="en-US" sz="1100" b="1" dirty="0" smtClean="0">
              <a:solidFill>
                <a:srgbClr val="FFC000"/>
              </a:solidFill>
              <a:latin typeface="Arial (Body)"/>
            </a:endParaRPr>
          </a:p>
          <a:p>
            <a:pPr marL="628650" lvl="1" indent="-171450">
              <a:buFont typeface="Arial" panose="020B0604020202020204" pitchFamily="34" charset="0"/>
              <a:buChar char="•"/>
            </a:pPr>
            <a:r>
              <a:rPr lang="en-US" sz="1100" dirty="0" smtClean="0">
                <a:solidFill>
                  <a:schemeClr val="bg1"/>
                </a:solidFill>
                <a:latin typeface="Arial (Body)"/>
              </a:rPr>
              <a:t>Partially update: </a:t>
            </a:r>
            <a:r>
              <a:rPr lang="en-US" sz="1100" b="1" dirty="0">
                <a:solidFill>
                  <a:srgbClr val="FF3399"/>
                </a:solidFill>
              </a:rPr>
              <a:t>Mutation</a:t>
            </a:r>
            <a:endParaRPr lang="en-US" sz="1100" dirty="0">
              <a:solidFill>
                <a:schemeClr val="bg1"/>
              </a:solidFill>
              <a:latin typeface="Arial (Body)"/>
            </a:endParaRPr>
          </a:p>
          <a:p>
            <a:pPr marL="628650" lvl="1" indent="-171450">
              <a:buFont typeface="Arial" panose="020B0604020202020204" pitchFamily="34" charset="0"/>
              <a:buChar char="•"/>
            </a:pPr>
            <a:r>
              <a:rPr lang="en-US" sz="1100" dirty="0" smtClean="0">
                <a:solidFill>
                  <a:schemeClr val="bg1"/>
                </a:solidFill>
                <a:latin typeface="Arial (Body)"/>
              </a:rPr>
              <a:t>Delete: </a:t>
            </a:r>
            <a:r>
              <a:rPr lang="en-US" sz="1100" b="1" dirty="0">
                <a:solidFill>
                  <a:srgbClr val="FF3399"/>
                </a:solidFill>
              </a:rPr>
              <a:t>Mutation</a:t>
            </a:r>
            <a:endParaRPr lang="en-US" sz="1100" b="1" dirty="0" smtClean="0">
              <a:solidFill>
                <a:srgbClr val="FFC000"/>
              </a:solidFill>
              <a:latin typeface="Arial (Body)"/>
            </a:endParaRPr>
          </a:p>
          <a:p>
            <a:pPr marL="628650" lvl="1" indent="-171450">
              <a:buFont typeface="Arial" panose="020B0604020202020204" pitchFamily="34" charset="0"/>
              <a:buChar char="•"/>
            </a:pPr>
            <a:r>
              <a:rPr lang="en-US" sz="1100" dirty="0" smtClean="0">
                <a:solidFill>
                  <a:schemeClr val="bg1"/>
                </a:solidFill>
                <a:latin typeface="Arial (Body)"/>
              </a:rPr>
              <a:t>Return all: </a:t>
            </a:r>
            <a:r>
              <a:rPr lang="en-US" sz="1100" b="1" dirty="0">
                <a:solidFill>
                  <a:srgbClr val="FF3399"/>
                </a:solidFill>
              </a:rPr>
              <a:t>Query</a:t>
            </a:r>
            <a:endParaRPr lang="en-US" sz="1100" b="1" dirty="0">
              <a:solidFill>
                <a:srgbClr val="FFC000"/>
              </a:solidFill>
              <a:latin typeface="Arial (Body)"/>
            </a:endParaRPr>
          </a:p>
          <a:p>
            <a:pPr marL="628650" lvl="1" indent="-171450">
              <a:buFont typeface="Arial" panose="020B0604020202020204" pitchFamily="34" charset="0"/>
              <a:buChar char="•"/>
            </a:pPr>
            <a:r>
              <a:rPr lang="en-US" sz="1100" dirty="0" smtClean="0">
                <a:solidFill>
                  <a:schemeClr val="bg1"/>
                </a:solidFill>
                <a:latin typeface="Arial (Body)"/>
              </a:rPr>
              <a:t>Return one: </a:t>
            </a:r>
            <a:r>
              <a:rPr lang="en-US" sz="1100" b="1" dirty="0">
                <a:solidFill>
                  <a:srgbClr val="FF3399"/>
                </a:solidFill>
              </a:rPr>
              <a:t>Query</a:t>
            </a:r>
            <a:endParaRPr lang="en-US" sz="1100" dirty="0">
              <a:solidFill>
                <a:schemeClr val="bg1"/>
              </a:solidFill>
              <a:latin typeface="Arial (Body)"/>
            </a:endParaRPr>
          </a:p>
          <a:p>
            <a:endParaRPr lang="en-US" sz="1200" dirty="0">
              <a:solidFill>
                <a:schemeClr val="bg1"/>
              </a:solidFill>
              <a:latin typeface="+mn-lt"/>
            </a:endParaRPr>
          </a:p>
        </p:txBody>
      </p:sp>
      <p:sp>
        <p:nvSpPr>
          <p:cNvPr id="21" name="Rectangle 20"/>
          <p:cNvSpPr/>
          <p:nvPr/>
        </p:nvSpPr>
        <p:spPr>
          <a:xfrm>
            <a:off x="7610866" y="1719208"/>
            <a:ext cx="4159040" cy="4508927"/>
          </a:xfrm>
          <a:prstGeom prst="rect">
            <a:avLst/>
          </a:prstGeom>
        </p:spPr>
        <p:txBody>
          <a:bodyPr wrap="square">
            <a:spAutoFit/>
          </a:bodyPr>
          <a:lstStyle/>
          <a:p>
            <a:r>
              <a:rPr lang="en-US" sz="1100" b="1" dirty="0" err="1" smtClean="0">
                <a:solidFill>
                  <a:srgbClr val="FF3399"/>
                </a:solidFill>
                <a:latin typeface="+mn-lt"/>
              </a:rPr>
              <a:t>GraphQL</a:t>
            </a:r>
            <a:r>
              <a:rPr lang="en-US" sz="1100" b="1" dirty="0" smtClean="0">
                <a:solidFill>
                  <a:srgbClr val="FF3399"/>
                </a:solidFill>
                <a:latin typeface="+mn-lt"/>
              </a:rPr>
              <a:t> Advantages</a:t>
            </a:r>
          </a:p>
          <a:p>
            <a:endParaRPr lang="en-US" sz="1100" b="1" dirty="0" smtClean="0">
              <a:solidFill>
                <a:srgbClr val="FF3399"/>
              </a:solidFill>
              <a:latin typeface="+mn-lt"/>
            </a:endParaRPr>
          </a:p>
          <a:p>
            <a:pPr marL="171450" indent="-171450">
              <a:buFont typeface="Arial" panose="020B0604020202020204" pitchFamily="34" charset="0"/>
              <a:buChar char="•"/>
            </a:pPr>
            <a:r>
              <a:rPr lang="en-US" sz="1100" dirty="0" smtClean="0">
                <a:solidFill>
                  <a:srgbClr val="FF3399"/>
                </a:solidFill>
                <a:latin typeface="+mn-lt"/>
              </a:rPr>
              <a:t>Flexibility:  </a:t>
            </a:r>
            <a:r>
              <a:rPr lang="en-US" sz="1100" dirty="0" smtClean="0">
                <a:solidFill>
                  <a:schemeClr val="bg1"/>
                </a:solidFill>
                <a:latin typeface="+mn-lt"/>
              </a:rPr>
              <a:t>Customizing what DB fields we’re looking for</a:t>
            </a:r>
          </a:p>
          <a:p>
            <a:pPr marL="171450" indent="-171450">
              <a:buFont typeface="Arial" panose="020B0604020202020204" pitchFamily="34" charset="0"/>
              <a:buChar char="•"/>
            </a:pPr>
            <a:endParaRPr lang="en-US" sz="1100" dirty="0">
              <a:solidFill>
                <a:schemeClr val="bg1"/>
              </a:solidFill>
              <a:latin typeface="+mn-lt"/>
            </a:endParaRPr>
          </a:p>
          <a:p>
            <a:pPr marL="171450" indent="-171450">
              <a:buFont typeface="Arial" panose="020B0604020202020204" pitchFamily="34" charset="0"/>
              <a:buChar char="•"/>
            </a:pPr>
            <a:r>
              <a:rPr lang="en-US" sz="1100" dirty="0" smtClean="0">
                <a:solidFill>
                  <a:srgbClr val="FF3399"/>
                </a:solidFill>
                <a:latin typeface="+mn-lt"/>
              </a:rPr>
              <a:t>Database Performance</a:t>
            </a:r>
            <a:r>
              <a:rPr lang="en-US" sz="1100" dirty="0">
                <a:solidFill>
                  <a:srgbClr val="FF3399"/>
                </a:solidFill>
                <a:latin typeface="+mn-lt"/>
              </a:rPr>
              <a:t>: </a:t>
            </a:r>
            <a:r>
              <a:rPr lang="en-US" sz="1100" dirty="0">
                <a:solidFill>
                  <a:schemeClr val="bg1"/>
                </a:solidFill>
                <a:latin typeface="+mn-lt"/>
              </a:rPr>
              <a:t>Decrease database </a:t>
            </a:r>
            <a:r>
              <a:rPr lang="en-US" sz="1100" dirty="0" smtClean="0">
                <a:solidFill>
                  <a:schemeClr val="bg1"/>
                </a:solidFill>
                <a:latin typeface="+mn-lt"/>
              </a:rPr>
              <a:t>overload regarding technology stack such as AWS </a:t>
            </a:r>
            <a:r>
              <a:rPr lang="en-US" sz="1100" dirty="0" err="1" smtClean="0">
                <a:solidFill>
                  <a:schemeClr val="bg1"/>
                </a:solidFill>
                <a:latin typeface="+mn-lt"/>
              </a:rPr>
              <a:t>AppSync</a:t>
            </a:r>
            <a:r>
              <a:rPr lang="en-US" sz="1100" dirty="0" smtClean="0">
                <a:solidFill>
                  <a:schemeClr val="bg1"/>
                </a:solidFill>
                <a:latin typeface="+mn-lt"/>
              </a:rPr>
              <a:t> </a:t>
            </a:r>
            <a:r>
              <a:rPr lang="en-US" sz="1100" dirty="0" err="1" smtClean="0">
                <a:solidFill>
                  <a:schemeClr val="bg1"/>
                </a:solidFill>
                <a:latin typeface="+mn-lt"/>
              </a:rPr>
              <a:t>DynamoDB</a:t>
            </a:r>
            <a:r>
              <a:rPr lang="en-US" sz="1100" dirty="0" smtClean="0">
                <a:solidFill>
                  <a:schemeClr val="bg1"/>
                </a:solidFill>
                <a:latin typeface="+mn-lt"/>
              </a:rPr>
              <a:t> resolvers automatically apply the queries only on mentioned fields  </a:t>
            </a:r>
            <a:endParaRPr lang="en-US" sz="1100" dirty="0">
              <a:solidFill>
                <a:schemeClr val="bg1"/>
              </a:solidFill>
              <a:latin typeface="+mn-lt"/>
            </a:endParaRPr>
          </a:p>
          <a:p>
            <a:pPr marL="171450" indent="-171450">
              <a:buFont typeface="Arial" panose="020B0604020202020204" pitchFamily="34" charset="0"/>
              <a:buChar char="•"/>
            </a:pPr>
            <a:endParaRPr lang="en-US" sz="1100" dirty="0" smtClean="0">
              <a:solidFill>
                <a:schemeClr val="bg1"/>
              </a:solidFill>
              <a:latin typeface="+mn-lt"/>
            </a:endParaRPr>
          </a:p>
          <a:p>
            <a:pPr marL="171450" indent="-171450">
              <a:buFont typeface="Arial" panose="020B0604020202020204" pitchFamily="34" charset="0"/>
              <a:buChar char="•"/>
            </a:pPr>
            <a:r>
              <a:rPr lang="en-US" sz="1100" dirty="0" smtClean="0">
                <a:solidFill>
                  <a:srgbClr val="FF3399"/>
                </a:solidFill>
                <a:latin typeface="+mn-lt"/>
              </a:rPr>
              <a:t>Network Performance: </a:t>
            </a:r>
            <a:r>
              <a:rPr lang="en-US" sz="1100" dirty="0" smtClean="0">
                <a:solidFill>
                  <a:schemeClr val="bg1"/>
                </a:solidFill>
                <a:latin typeface="+mn-lt"/>
              </a:rPr>
              <a:t>Decrease network overload with data fetch customization (OData for remediate </a:t>
            </a:r>
            <a:r>
              <a:rPr lang="en-US" sz="1100" dirty="0" err="1" smtClean="0">
                <a:solidFill>
                  <a:schemeClr val="bg1"/>
                </a:solidFill>
                <a:latin typeface="+mn-lt"/>
              </a:rPr>
              <a:t>RESTful</a:t>
            </a:r>
            <a:r>
              <a:rPr lang="en-US" sz="1100" dirty="0" smtClean="0">
                <a:solidFill>
                  <a:schemeClr val="bg1"/>
                </a:solidFill>
                <a:latin typeface="+mn-lt"/>
              </a:rPr>
              <a:t> API  )</a:t>
            </a:r>
          </a:p>
          <a:p>
            <a:pPr marL="171450" indent="-171450">
              <a:buFont typeface="Arial" panose="020B0604020202020204" pitchFamily="34" charset="0"/>
              <a:buChar char="•"/>
            </a:pPr>
            <a:endParaRPr lang="en-US" sz="1100" dirty="0" smtClean="0">
              <a:solidFill>
                <a:schemeClr val="bg1"/>
              </a:solidFill>
              <a:latin typeface="+mn-lt"/>
            </a:endParaRPr>
          </a:p>
          <a:p>
            <a:pPr marL="171450" indent="-171450">
              <a:buFont typeface="Arial" panose="020B0604020202020204" pitchFamily="34" charset="0"/>
              <a:buChar char="•"/>
            </a:pPr>
            <a:r>
              <a:rPr lang="en-US" sz="1100" dirty="0" err="1" smtClean="0">
                <a:solidFill>
                  <a:srgbClr val="FF3399"/>
                </a:solidFill>
                <a:latin typeface="+mn-lt"/>
              </a:rPr>
              <a:t>GraphQL</a:t>
            </a:r>
            <a:r>
              <a:rPr lang="en-US" sz="1100" dirty="0" smtClean="0">
                <a:solidFill>
                  <a:srgbClr val="FF3399"/>
                </a:solidFill>
                <a:latin typeface="+mn-lt"/>
              </a:rPr>
              <a:t> Resolver fields: </a:t>
            </a:r>
            <a:r>
              <a:rPr lang="en-US" sz="1100" dirty="0" smtClean="0">
                <a:solidFill>
                  <a:schemeClr val="bg1"/>
                </a:solidFill>
                <a:latin typeface="+mn-lt"/>
              </a:rPr>
              <a:t>Implementing aggregation functions if you have it in sent query  </a:t>
            </a:r>
            <a:endParaRPr lang="en-US" sz="1100" dirty="0" smtClean="0">
              <a:solidFill>
                <a:srgbClr val="FF3399"/>
              </a:solidFill>
              <a:latin typeface="+mn-lt"/>
            </a:endParaRPr>
          </a:p>
          <a:p>
            <a:pPr marL="171450" indent="-171450">
              <a:buFont typeface="Arial" panose="020B0604020202020204" pitchFamily="34" charset="0"/>
              <a:buChar char="•"/>
            </a:pPr>
            <a:endParaRPr lang="en-US" sz="1100" dirty="0">
              <a:solidFill>
                <a:schemeClr val="bg1"/>
              </a:solidFill>
              <a:latin typeface="+mn-lt"/>
            </a:endParaRPr>
          </a:p>
          <a:p>
            <a:r>
              <a:rPr lang="en-US" sz="1100" dirty="0" smtClean="0">
                <a:solidFill>
                  <a:srgbClr val="92D050"/>
                </a:solidFill>
                <a:latin typeface="+mn-lt"/>
              </a:rPr>
              <a:t>Exp. For phone devices</a:t>
            </a:r>
          </a:p>
          <a:p>
            <a:endParaRPr lang="en-US" sz="1100" dirty="0">
              <a:solidFill>
                <a:schemeClr val="bg1"/>
              </a:solidFill>
              <a:latin typeface="+mn-lt"/>
            </a:endParaRPr>
          </a:p>
          <a:p>
            <a:pPr marL="228600" indent="-228600">
              <a:buFont typeface="Arial" panose="020B0604020202020204" pitchFamily="34" charset="0"/>
              <a:buChar char="•"/>
            </a:pPr>
            <a:r>
              <a:rPr lang="en-US" sz="1100" dirty="0" smtClean="0">
                <a:solidFill>
                  <a:srgbClr val="92D050"/>
                </a:solidFill>
                <a:latin typeface="+mn-lt"/>
              </a:rPr>
              <a:t>Minimal data is important</a:t>
            </a:r>
          </a:p>
          <a:p>
            <a:r>
              <a:rPr lang="en-US" sz="1100" dirty="0" smtClean="0">
                <a:solidFill>
                  <a:schemeClr val="bg1"/>
                </a:solidFill>
                <a:latin typeface="+mn-lt"/>
              </a:rPr>
              <a:t>      </a:t>
            </a:r>
            <a:r>
              <a:rPr lang="en-US" sz="1100" dirty="0" err="1" smtClean="0">
                <a:solidFill>
                  <a:schemeClr val="bg1"/>
                </a:solidFill>
                <a:latin typeface="+mn-lt"/>
              </a:rPr>
              <a:t>RESTful</a:t>
            </a:r>
            <a:r>
              <a:rPr lang="en-US" sz="1100" dirty="0" smtClean="0">
                <a:solidFill>
                  <a:schemeClr val="bg1"/>
                </a:solidFill>
                <a:latin typeface="+mn-lt"/>
              </a:rPr>
              <a:t> API returns all entity’s fields (bulk data)</a:t>
            </a:r>
          </a:p>
          <a:p>
            <a:r>
              <a:rPr lang="en-US" sz="1100" dirty="0" smtClean="0">
                <a:solidFill>
                  <a:schemeClr val="bg1"/>
                </a:solidFill>
                <a:latin typeface="+mn-lt"/>
              </a:rPr>
              <a:t>      Show up lists in cart view not in Grid (limited screen)</a:t>
            </a:r>
          </a:p>
          <a:p>
            <a:endParaRPr lang="en-US" sz="1100" dirty="0" smtClean="0">
              <a:solidFill>
                <a:schemeClr val="bg1"/>
              </a:solidFill>
              <a:latin typeface="+mn-lt"/>
            </a:endParaRPr>
          </a:p>
          <a:p>
            <a:pPr marL="228600" indent="-228600">
              <a:buFont typeface="Arial" panose="020B0604020202020204" pitchFamily="34" charset="0"/>
              <a:buChar char="•"/>
            </a:pPr>
            <a:r>
              <a:rPr lang="en-US" sz="1100" dirty="0" smtClean="0">
                <a:solidFill>
                  <a:srgbClr val="92D050"/>
                </a:solidFill>
                <a:latin typeface="+mn-lt"/>
              </a:rPr>
              <a:t>Network overload in returned KBs</a:t>
            </a:r>
          </a:p>
          <a:p>
            <a:r>
              <a:rPr lang="en-US" sz="1100" dirty="0" smtClean="0">
                <a:solidFill>
                  <a:schemeClr val="bg1"/>
                </a:solidFill>
                <a:latin typeface="+mn-lt"/>
              </a:rPr>
              <a:t>       Design different </a:t>
            </a:r>
            <a:r>
              <a:rPr lang="en-US" sz="1100" dirty="0" err="1" smtClean="0">
                <a:solidFill>
                  <a:schemeClr val="bg1"/>
                </a:solidFill>
                <a:latin typeface="+mn-lt"/>
              </a:rPr>
              <a:t>GraphQL</a:t>
            </a:r>
            <a:r>
              <a:rPr lang="en-US" sz="1100" dirty="0" smtClean="0">
                <a:solidFill>
                  <a:schemeClr val="bg1"/>
                </a:solidFill>
                <a:latin typeface="+mn-lt"/>
              </a:rPr>
              <a:t> endpoint for phone devices </a:t>
            </a:r>
            <a:endParaRPr lang="en-US" sz="1100" dirty="0">
              <a:solidFill>
                <a:schemeClr val="bg1"/>
              </a:solidFill>
              <a:latin typeface="+mn-lt"/>
            </a:endParaRPr>
          </a:p>
          <a:p>
            <a:endParaRPr lang="en-US" sz="1100" dirty="0" smtClean="0">
              <a:solidFill>
                <a:schemeClr val="bg1"/>
              </a:solidFill>
              <a:latin typeface="+mn-lt"/>
            </a:endParaRPr>
          </a:p>
          <a:p>
            <a:endParaRPr lang="en-US" sz="1100" dirty="0" smtClean="0">
              <a:solidFill>
                <a:schemeClr val="bg1"/>
              </a:solidFill>
              <a:latin typeface="+mn-lt"/>
            </a:endParaRPr>
          </a:p>
          <a:p>
            <a:endParaRPr lang="en-US" sz="1200" b="1" dirty="0">
              <a:solidFill>
                <a:srgbClr val="FF3399"/>
              </a:solidFill>
            </a:endParaRPr>
          </a:p>
        </p:txBody>
      </p:sp>
      <p:cxnSp>
        <p:nvCxnSpPr>
          <p:cNvPr id="22" name="Straight Arrow Connector 21">
            <a:extLst>
              <a:ext uri="{FF2B5EF4-FFF2-40B4-BE49-F238E27FC236}">
                <a16:creationId xmlns:lc="http://schemas.openxmlformats.org/drawingml/2006/lockedCanvas" xmlns="" xmlns:a16="http://schemas.microsoft.com/office/drawing/2014/main" id="{B5DA113E-04FE-9EB1-8AB5-33E931C16F03}"/>
              </a:ext>
            </a:extLst>
          </p:cNvPr>
          <p:cNvCxnSpPr/>
          <p:nvPr/>
        </p:nvCxnSpPr>
        <p:spPr>
          <a:xfrm>
            <a:off x="4855107" y="1740980"/>
            <a:ext cx="0" cy="4743710"/>
          </a:xfrm>
          <a:prstGeom prst="straightConnector1">
            <a:avLst/>
          </a:prstGeom>
          <a:ln w="15875">
            <a:solidFill>
              <a:srgbClr val="9BA7B6"/>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lc="http://schemas.openxmlformats.org/drawingml/2006/lockedCanvas" xmlns="" xmlns:a16="http://schemas.microsoft.com/office/drawing/2014/main" id="{B5DA113E-04FE-9EB1-8AB5-33E931C16F03}"/>
              </a:ext>
            </a:extLst>
          </p:cNvPr>
          <p:cNvCxnSpPr/>
          <p:nvPr/>
        </p:nvCxnSpPr>
        <p:spPr>
          <a:xfrm>
            <a:off x="7620502" y="1740980"/>
            <a:ext cx="0" cy="4743710"/>
          </a:xfrm>
          <a:prstGeom prst="straightConnector1">
            <a:avLst/>
          </a:prstGeom>
          <a:ln w="15875">
            <a:solidFill>
              <a:srgbClr val="9BA7B6"/>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58507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224354" y="1666216"/>
            <a:ext cx="5740866" cy="4722650"/>
          </a:xfrm>
          <a:prstGeom prst="rect">
            <a:avLst/>
          </a:prstGeom>
        </p:spPr>
      </p:pic>
      <p:sp>
        <p:nvSpPr>
          <p:cNvPr id="5" name="Rectangle 4"/>
          <p:cNvSpPr/>
          <p:nvPr/>
        </p:nvSpPr>
        <p:spPr>
          <a:xfrm>
            <a:off x="6344318" y="951181"/>
            <a:ext cx="5587345" cy="430887"/>
          </a:xfrm>
          <a:prstGeom prst="rect">
            <a:avLst/>
          </a:prstGeom>
        </p:spPr>
        <p:txBody>
          <a:bodyPr wrap="square">
            <a:spAutoFit/>
          </a:bodyPr>
          <a:lstStyle/>
          <a:p>
            <a:pPr algn="ctr"/>
            <a:r>
              <a:rPr lang="en-US" sz="1200" b="1" dirty="0">
                <a:solidFill>
                  <a:srgbClr val="FFC000"/>
                </a:solidFill>
                <a:latin typeface="+mn-lt"/>
              </a:rPr>
              <a:t>Data Fetching</a:t>
            </a:r>
            <a:r>
              <a:rPr lang="en-US" sz="1200" b="1" dirty="0">
                <a:solidFill>
                  <a:schemeClr val="bg1"/>
                </a:solidFill>
                <a:latin typeface="+mn-lt"/>
              </a:rPr>
              <a:t> </a:t>
            </a:r>
            <a:endParaRPr lang="en-US" sz="1200" b="1" dirty="0" smtClean="0">
              <a:solidFill>
                <a:schemeClr val="bg1"/>
              </a:solidFill>
              <a:latin typeface="+mn-lt"/>
            </a:endParaRPr>
          </a:p>
          <a:p>
            <a:r>
              <a:rPr lang="en-US" sz="1000" dirty="0" smtClean="0">
                <a:solidFill>
                  <a:schemeClr val="bg1"/>
                </a:solidFill>
                <a:latin typeface="+mn-lt"/>
              </a:rPr>
              <a:t>With </a:t>
            </a:r>
            <a:r>
              <a:rPr lang="en-US" sz="1000" dirty="0">
                <a:solidFill>
                  <a:schemeClr val="bg1"/>
                </a:solidFill>
                <a:latin typeface="+mn-lt"/>
              </a:rPr>
              <a:t>a REST API, you would typically gather the data by accessing multiple endpoints</a:t>
            </a:r>
            <a:endParaRPr lang="en-US" sz="1000" b="0" i="0" dirty="0">
              <a:solidFill>
                <a:schemeClr val="bg1"/>
              </a:solidFill>
              <a:effectLst/>
              <a:latin typeface="+mn-lt"/>
            </a:endParaRPr>
          </a:p>
        </p:txBody>
      </p:sp>
      <p:grpSp>
        <p:nvGrpSpPr>
          <p:cNvPr id="10" name="Group 9"/>
          <p:cNvGrpSpPr/>
          <p:nvPr/>
        </p:nvGrpSpPr>
        <p:grpSpPr>
          <a:xfrm>
            <a:off x="218107" y="551071"/>
            <a:ext cx="10160659" cy="1139423"/>
            <a:chOff x="218107" y="551071"/>
            <a:chExt cx="10160659" cy="1139423"/>
          </a:xfrm>
        </p:grpSpPr>
        <p:sp>
          <p:nvSpPr>
            <p:cNvPr id="3" name="Rectangle 2"/>
            <p:cNvSpPr/>
            <p:nvPr/>
          </p:nvSpPr>
          <p:spPr>
            <a:xfrm>
              <a:off x="2309869" y="551071"/>
              <a:ext cx="8068897" cy="400110"/>
            </a:xfrm>
            <a:prstGeom prst="rect">
              <a:avLst/>
            </a:prstGeom>
          </p:spPr>
          <p:txBody>
            <a:bodyPr wrap="square">
              <a:spAutoFit/>
            </a:bodyPr>
            <a:lstStyle/>
            <a:p>
              <a:r>
                <a:rPr lang="en-US" sz="2000" b="1" dirty="0" err="1" smtClean="0">
                  <a:solidFill>
                    <a:srgbClr val="FF3399"/>
                  </a:solidFill>
                  <a:latin typeface="+mn-lt"/>
                </a:rPr>
                <a:t>GraphQL</a:t>
              </a:r>
              <a:r>
                <a:rPr lang="en-US" sz="2000" b="1" dirty="0" smtClean="0">
                  <a:solidFill>
                    <a:srgbClr val="FF3399"/>
                  </a:solidFill>
                  <a:latin typeface="+mn-lt"/>
                </a:rPr>
                <a:t>                                </a:t>
              </a:r>
              <a:r>
                <a:rPr lang="en-US" sz="2000" b="1" dirty="0" smtClean="0">
                  <a:solidFill>
                    <a:schemeClr val="bg1"/>
                  </a:solidFill>
                  <a:latin typeface="+mn-lt"/>
                </a:rPr>
                <a:t>vs                                 </a:t>
              </a:r>
              <a:r>
                <a:rPr lang="en-US" sz="2000" b="1" dirty="0" err="1" smtClean="0">
                  <a:solidFill>
                    <a:srgbClr val="FFC000"/>
                  </a:solidFill>
                  <a:latin typeface="+mn-lt"/>
                </a:rPr>
                <a:t>RESTful</a:t>
              </a:r>
              <a:r>
                <a:rPr lang="en-US" sz="2000" b="1" dirty="0" smtClean="0">
                  <a:solidFill>
                    <a:srgbClr val="FFC000"/>
                  </a:solidFill>
                  <a:latin typeface="+mn-lt"/>
                </a:rPr>
                <a:t> API</a:t>
              </a:r>
              <a:endParaRPr lang="en-US" sz="2000" b="1" i="0" dirty="0">
                <a:solidFill>
                  <a:srgbClr val="FF3399"/>
                </a:solidFill>
                <a:effectLst/>
                <a:latin typeface="+mn-lt"/>
              </a:endParaRPr>
            </a:p>
          </p:txBody>
        </p:sp>
        <p:sp>
          <p:nvSpPr>
            <p:cNvPr id="6" name="Rectangle 5"/>
            <p:cNvSpPr/>
            <p:nvPr/>
          </p:nvSpPr>
          <p:spPr>
            <a:xfrm>
              <a:off x="218107" y="951830"/>
              <a:ext cx="5461239" cy="738664"/>
            </a:xfrm>
            <a:prstGeom prst="rect">
              <a:avLst/>
            </a:prstGeom>
          </p:spPr>
          <p:txBody>
            <a:bodyPr wrap="square">
              <a:spAutoFit/>
            </a:bodyPr>
            <a:lstStyle/>
            <a:p>
              <a:pPr algn="ctr"/>
              <a:r>
                <a:rPr lang="en-US" sz="1200" b="1" dirty="0">
                  <a:solidFill>
                    <a:srgbClr val="FF3399"/>
                  </a:solidFill>
                  <a:latin typeface="+mn-lt"/>
                </a:rPr>
                <a:t>Data Fetching</a:t>
              </a:r>
              <a:endParaRPr lang="en-US" sz="1200" dirty="0" smtClean="0">
                <a:solidFill>
                  <a:srgbClr val="FF3399"/>
                </a:solidFill>
                <a:latin typeface="+mn-lt"/>
              </a:endParaRPr>
            </a:p>
            <a:p>
              <a:r>
                <a:rPr lang="en-US" sz="1000" dirty="0" smtClean="0">
                  <a:solidFill>
                    <a:schemeClr val="bg1"/>
                  </a:solidFill>
                  <a:latin typeface="+mn-lt"/>
                </a:rPr>
                <a:t>In </a:t>
              </a:r>
              <a:r>
                <a:rPr lang="en-US" sz="1000" dirty="0" err="1">
                  <a:solidFill>
                    <a:schemeClr val="bg1"/>
                  </a:solidFill>
                  <a:latin typeface="+mn-lt"/>
                </a:rPr>
                <a:t>GraphQL</a:t>
              </a:r>
              <a:r>
                <a:rPr lang="en-US" sz="1000" dirty="0">
                  <a:solidFill>
                    <a:schemeClr val="bg1"/>
                  </a:solidFill>
                  <a:latin typeface="+mn-lt"/>
                </a:rPr>
                <a:t> on the other hand, you’d simply send a single query to the </a:t>
              </a:r>
              <a:r>
                <a:rPr lang="en-US" sz="1000" dirty="0" err="1">
                  <a:solidFill>
                    <a:schemeClr val="bg1"/>
                  </a:solidFill>
                  <a:latin typeface="+mn-lt"/>
                </a:rPr>
                <a:t>GraphQL</a:t>
              </a:r>
              <a:r>
                <a:rPr lang="en-US" sz="1000" dirty="0">
                  <a:solidFill>
                    <a:schemeClr val="bg1"/>
                  </a:solidFill>
                  <a:latin typeface="+mn-lt"/>
                </a:rPr>
                <a:t> server that includes the concrete data requirements. The server then responds with a JSON object where these requirements are fulfilled.</a:t>
              </a:r>
            </a:p>
          </p:txBody>
        </p:sp>
      </p:grpSp>
      <p:pic>
        <p:nvPicPr>
          <p:cNvPr id="7" name="Picture 6"/>
          <p:cNvPicPr>
            <a:picLocks noChangeAspect="1"/>
          </p:cNvPicPr>
          <p:nvPr/>
        </p:nvPicPr>
        <p:blipFill>
          <a:blip r:embed="rId3"/>
          <a:stretch>
            <a:fillRect/>
          </a:stretch>
        </p:blipFill>
        <p:spPr>
          <a:xfrm>
            <a:off x="220197" y="1690494"/>
            <a:ext cx="5459149" cy="3400162"/>
          </a:xfrm>
          <a:prstGeom prst="rect">
            <a:avLst/>
          </a:prstGeom>
        </p:spPr>
      </p:pic>
    </p:spTree>
    <p:extLst>
      <p:ext uri="{BB962C8B-B14F-4D97-AF65-F5344CB8AC3E}">
        <p14:creationId xmlns:p14="http://schemas.microsoft.com/office/powerpoint/2010/main" val="6212940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42906" y="513583"/>
            <a:ext cx="8900719" cy="2923877"/>
          </a:xfrm>
          <a:prstGeom prst="rect">
            <a:avLst/>
          </a:prstGeom>
        </p:spPr>
        <p:txBody>
          <a:bodyPr wrap="square">
            <a:spAutoFit/>
          </a:bodyPr>
          <a:lstStyle/>
          <a:p>
            <a:pPr algn="justLow"/>
            <a:r>
              <a:rPr lang="en-US" sz="1400" b="1" dirty="0">
                <a:solidFill>
                  <a:srgbClr val="E7157B"/>
                </a:solidFill>
                <a:latin typeface="+mn-lt"/>
              </a:rPr>
              <a:t>AWS </a:t>
            </a:r>
            <a:r>
              <a:rPr lang="en-US" sz="1400" b="1" dirty="0" err="1" smtClean="0">
                <a:solidFill>
                  <a:srgbClr val="E7157B"/>
                </a:solidFill>
                <a:latin typeface="+mn-lt"/>
              </a:rPr>
              <a:t>AppSync</a:t>
            </a:r>
            <a:endParaRPr lang="en-US" sz="1400" b="1" dirty="0" smtClean="0">
              <a:solidFill>
                <a:srgbClr val="E7157B"/>
              </a:solidFill>
              <a:latin typeface="+mn-lt"/>
            </a:endParaRPr>
          </a:p>
          <a:p>
            <a:pPr algn="justLow"/>
            <a:r>
              <a:rPr lang="en-US" sz="1400" dirty="0" smtClean="0">
                <a:solidFill>
                  <a:schemeClr val="bg1"/>
                </a:solidFill>
                <a:latin typeface="+mn-lt"/>
              </a:rPr>
              <a:t>Implemented </a:t>
            </a:r>
            <a:r>
              <a:rPr lang="en-US" sz="1400" dirty="0" err="1" smtClean="0">
                <a:solidFill>
                  <a:schemeClr val="bg1"/>
                </a:solidFill>
                <a:latin typeface="+mn-lt"/>
              </a:rPr>
              <a:t>GraphQL</a:t>
            </a:r>
            <a:r>
              <a:rPr lang="en-US" sz="1400" dirty="0" smtClean="0">
                <a:solidFill>
                  <a:schemeClr val="bg1"/>
                </a:solidFill>
                <a:latin typeface="+mn-lt"/>
              </a:rPr>
              <a:t> technologically</a:t>
            </a:r>
          </a:p>
          <a:p>
            <a:pPr algn="justLow"/>
            <a:endParaRPr lang="en-US" sz="1200" b="1" dirty="0" smtClean="0">
              <a:solidFill>
                <a:srgbClr val="92D050"/>
              </a:solidFill>
              <a:latin typeface="+mn-lt"/>
            </a:endParaRPr>
          </a:p>
          <a:p>
            <a:pPr algn="justLow"/>
            <a:r>
              <a:rPr lang="en-US" sz="1200" dirty="0" smtClean="0">
                <a:solidFill>
                  <a:schemeClr val="bg1"/>
                </a:solidFill>
                <a:latin typeface="+mn-lt"/>
              </a:rPr>
              <a:t>✔</a:t>
            </a:r>
            <a:r>
              <a:rPr lang="en-US" sz="1200" dirty="0">
                <a:solidFill>
                  <a:schemeClr val="bg1"/>
                </a:solidFill>
                <a:latin typeface="+mn-lt"/>
              </a:rPr>
              <a:t> </a:t>
            </a:r>
            <a:r>
              <a:rPr lang="en-US" sz="1200" dirty="0">
                <a:solidFill>
                  <a:srgbClr val="92D050"/>
                </a:solidFill>
                <a:latin typeface="+mn-lt"/>
              </a:rPr>
              <a:t>A single data API:</a:t>
            </a:r>
            <a:r>
              <a:rPr lang="en-US" sz="1200" dirty="0">
                <a:solidFill>
                  <a:schemeClr val="bg1"/>
                </a:solidFill>
                <a:latin typeface="+mn-lt"/>
              </a:rPr>
              <a:t> Simplify application development with </a:t>
            </a:r>
            <a:r>
              <a:rPr lang="en-US" sz="1200" dirty="0" err="1">
                <a:solidFill>
                  <a:schemeClr val="bg1"/>
                </a:solidFill>
                <a:latin typeface="+mn-lt"/>
              </a:rPr>
              <a:t>GraphQL</a:t>
            </a:r>
            <a:r>
              <a:rPr lang="en-US" sz="1200" dirty="0">
                <a:solidFill>
                  <a:schemeClr val="bg1"/>
                </a:solidFill>
                <a:latin typeface="+mn-lt"/>
              </a:rPr>
              <a:t> APIs by providing a single endpoint to securely query or update data from multiple databases, </a:t>
            </a:r>
            <a:r>
              <a:rPr lang="en-US" sz="1200" dirty="0" err="1">
                <a:solidFill>
                  <a:schemeClr val="bg1"/>
                </a:solidFill>
                <a:latin typeface="+mn-lt"/>
              </a:rPr>
              <a:t>microservices</a:t>
            </a:r>
            <a:r>
              <a:rPr lang="en-US" sz="1200" dirty="0">
                <a:solidFill>
                  <a:schemeClr val="bg1"/>
                </a:solidFill>
                <a:latin typeface="+mn-lt"/>
              </a:rPr>
              <a:t>, and APIs</a:t>
            </a:r>
            <a:r>
              <a:rPr lang="en-US" sz="1200" dirty="0" smtClean="0">
                <a:solidFill>
                  <a:schemeClr val="bg1"/>
                </a:solidFill>
                <a:latin typeface="+mn-lt"/>
              </a:rPr>
              <a:t>.</a:t>
            </a:r>
          </a:p>
          <a:p>
            <a:pPr algn="justLow"/>
            <a:endParaRPr lang="en-US" sz="1200" dirty="0">
              <a:solidFill>
                <a:schemeClr val="bg1"/>
              </a:solidFill>
              <a:latin typeface="+mn-lt"/>
            </a:endParaRPr>
          </a:p>
          <a:p>
            <a:pPr algn="justLow"/>
            <a:endParaRPr lang="en-US" sz="1200" dirty="0" smtClean="0">
              <a:solidFill>
                <a:schemeClr val="bg1"/>
              </a:solidFill>
              <a:latin typeface="+mn-lt"/>
            </a:endParaRPr>
          </a:p>
          <a:p>
            <a:pPr algn="justLow"/>
            <a:endParaRPr lang="en-US" sz="1200" dirty="0">
              <a:solidFill>
                <a:schemeClr val="bg1"/>
              </a:solidFill>
              <a:latin typeface="+mn-lt"/>
            </a:endParaRPr>
          </a:p>
          <a:p>
            <a:pPr algn="justLow"/>
            <a:r>
              <a:rPr lang="en-US" sz="1200" dirty="0">
                <a:solidFill>
                  <a:schemeClr val="bg1"/>
                </a:solidFill>
                <a:latin typeface="+mn-lt"/>
              </a:rPr>
              <a:t>✔ </a:t>
            </a:r>
            <a:r>
              <a:rPr lang="en-US" sz="1200" dirty="0">
                <a:solidFill>
                  <a:srgbClr val="92D050"/>
                </a:solidFill>
                <a:latin typeface="+mn-lt"/>
              </a:rPr>
              <a:t>Built for real-time experiences:</a:t>
            </a:r>
            <a:r>
              <a:rPr lang="en-US" sz="1200" dirty="0">
                <a:solidFill>
                  <a:schemeClr val="bg1"/>
                </a:solidFill>
                <a:latin typeface="+mn-lt"/>
              </a:rPr>
              <a:t> Easily create engaging real-time experiences with Pub/Sub APIs by automatically publishing data updates to subscribed API clients via </a:t>
            </a:r>
            <a:r>
              <a:rPr lang="en-US" sz="1200" dirty="0" err="1">
                <a:solidFill>
                  <a:schemeClr val="bg1"/>
                </a:solidFill>
                <a:latin typeface="+mn-lt"/>
              </a:rPr>
              <a:t>serverless</a:t>
            </a:r>
            <a:r>
              <a:rPr lang="en-US" sz="1200" dirty="0">
                <a:solidFill>
                  <a:schemeClr val="bg1"/>
                </a:solidFill>
                <a:latin typeface="+mn-lt"/>
              </a:rPr>
              <a:t> </a:t>
            </a:r>
            <a:r>
              <a:rPr lang="en-US" sz="1200" dirty="0" err="1">
                <a:solidFill>
                  <a:schemeClr val="bg1"/>
                </a:solidFill>
                <a:latin typeface="+mn-lt"/>
              </a:rPr>
              <a:t>WebSockets</a:t>
            </a:r>
            <a:r>
              <a:rPr lang="en-US" sz="1200" dirty="0">
                <a:solidFill>
                  <a:schemeClr val="bg1"/>
                </a:solidFill>
                <a:latin typeface="+mn-lt"/>
              </a:rPr>
              <a:t> connections</a:t>
            </a:r>
            <a:r>
              <a:rPr lang="en-US" sz="1200" dirty="0" smtClean="0">
                <a:solidFill>
                  <a:schemeClr val="bg1"/>
                </a:solidFill>
                <a:latin typeface="+mn-lt"/>
              </a:rPr>
              <a:t>.</a:t>
            </a:r>
          </a:p>
          <a:p>
            <a:pPr algn="justLow"/>
            <a:endParaRPr lang="en-US" sz="1200" dirty="0">
              <a:solidFill>
                <a:schemeClr val="bg1"/>
              </a:solidFill>
              <a:latin typeface="+mn-lt"/>
            </a:endParaRPr>
          </a:p>
          <a:p>
            <a:pPr algn="justLow"/>
            <a:r>
              <a:rPr lang="en-US" sz="1200" dirty="0">
                <a:solidFill>
                  <a:schemeClr val="bg1"/>
                </a:solidFill>
                <a:latin typeface="+mn-lt"/>
              </a:rPr>
              <a:t> </a:t>
            </a:r>
            <a:endParaRPr lang="en-US" sz="1200" dirty="0" smtClean="0">
              <a:solidFill>
                <a:schemeClr val="bg1"/>
              </a:solidFill>
              <a:latin typeface="+mn-lt"/>
            </a:endParaRPr>
          </a:p>
          <a:p>
            <a:pPr algn="justLow"/>
            <a:endParaRPr lang="en-US" sz="1200" dirty="0">
              <a:solidFill>
                <a:schemeClr val="bg1"/>
              </a:solidFill>
              <a:latin typeface="+mn-lt"/>
            </a:endParaRPr>
          </a:p>
          <a:p>
            <a:pPr algn="justLow"/>
            <a:r>
              <a:rPr lang="en-US" sz="1200" dirty="0">
                <a:solidFill>
                  <a:schemeClr val="bg1"/>
                </a:solidFill>
                <a:latin typeface="+mn-lt"/>
              </a:rPr>
              <a:t>✔ </a:t>
            </a:r>
            <a:r>
              <a:rPr lang="en-US" sz="1200" dirty="0">
                <a:solidFill>
                  <a:srgbClr val="92D050"/>
                </a:solidFill>
                <a:latin typeface="+mn-lt"/>
              </a:rPr>
              <a:t>100% </a:t>
            </a:r>
            <a:r>
              <a:rPr lang="en-US" sz="1200" dirty="0" err="1">
                <a:solidFill>
                  <a:srgbClr val="92D050"/>
                </a:solidFill>
                <a:latin typeface="+mn-lt"/>
              </a:rPr>
              <a:t>serverless</a:t>
            </a:r>
            <a:r>
              <a:rPr lang="en-US" sz="1200" dirty="0">
                <a:solidFill>
                  <a:srgbClr val="92D050"/>
                </a:solidFill>
                <a:latin typeface="+mn-lt"/>
              </a:rPr>
              <a:t>:</a:t>
            </a:r>
            <a:r>
              <a:rPr lang="en-US" sz="1200" dirty="0">
                <a:solidFill>
                  <a:schemeClr val="bg1"/>
                </a:solidFill>
                <a:latin typeface="+mn-lt"/>
              </a:rPr>
              <a:t> Secure, monitor, log, and trace your APIs via built-in support for AWS WAF, </a:t>
            </a:r>
            <a:r>
              <a:rPr lang="en-US" sz="1200" dirty="0" err="1">
                <a:solidFill>
                  <a:schemeClr val="bg1"/>
                </a:solidFill>
                <a:latin typeface="+mn-lt"/>
              </a:rPr>
              <a:t>CloudWatch</a:t>
            </a:r>
            <a:r>
              <a:rPr lang="en-US" sz="1200" dirty="0">
                <a:solidFill>
                  <a:schemeClr val="bg1"/>
                </a:solidFill>
                <a:latin typeface="+mn-lt"/>
              </a:rPr>
              <a:t> and X-Ray. Fully managed setup, administration, auto-scaling, and high-availability. </a:t>
            </a:r>
            <a:endParaRPr lang="en-US" sz="1200" b="0" i="0" dirty="0">
              <a:solidFill>
                <a:schemeClr val="bg1"/>
              </a:solidFill>
              <a:effectLst/>
              <a:latin typeface="+mn-lt"/>
            </a:endParaRPr>
          </a:p>
        </p:txBody>
      </p:sp>
      <p:pic>
        <p:nvPicPr>
          <p:cNvPr id="9" name="Graphic 32">
            <a:extLst>
              <a:ext uri="{FF2B5EF4-FFF2-40B4-BE49-F238E27FC236}">
                <a16:creationId xmlns:a16="http://schemas.microsoft.com/office/drawing/2014/main" xmlns="" id="{E3741765-A017-3D47-93D5-DA978D7C5D48}"/>
              </a:ext>
            </a:extLst>
          </p:cNvPr>
          <p:cNvPicPr>
            <a:picLocks noChangeAspect="1" noChangeArrowheads="1"/>
          </p:cNvPicPr>
          <p:nvPr/>
        </p:nvPicPr>
        <p:blipFill>
          <a:blip r:embed="rId2">
            <a:extLst>
              <a:ext uri="{96DAC541-7B7A-43D3-8B79-37D633B846F1}">
                <asvg:svgBlip xmlns:asvg="http://schemas.microsoft.com/office/drawing/2016/SVG/main" xmlns="" r:embed="rId3"/>
              </a:ext>
            </a:extLst>
          </a:blip>
          <a:srcRect/>
          <a:stretch/>
        </p:blipFill>
        <p:spPr bwMode="auto">
          <a:xfrm>
            <a:off x="559381" y="513583"/>
            <a:ext cx="732524" cy="732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1361262" y="4135805"/>
            <a:ext cx="8900719" cy="492443"/>
          </a:xfrm>
          <a:prstGeom prst="rect">
            <a:avLst/>
          </a:prstGeom>
        </p:spPr>
        <p:txBody>
          <a:bodyPr wrap="square">
            <a:spAutoFit/>
          </a:bodyPr>
          <a:lstStyle/>
          <a:p>
            <a:pPr algn="justLow"/>
            <a:r>
              <a:rPr lang="en-US" sz="1400" b="1" dirty="0" smtClean="0">
                <a:solidFill>
                  <a:srgbClr val="00B050"/>
                </a:solidFill>
                <a:latin typeface="+mn-lt"/>
              </a:rPr>
              <a:t>Node.js</a:t>
            </a:r>
          </a:p>
          <a:p>
            <a:pPr algn="justLow"/>
            <a:r>
              <a:rPr lang="en-US" sz="1200" dirty="0" smtClean="0">
                <a:solidFill>
                  <a:schemeClr val="bg1"/>
                </a:solidFill>
                <a:latin typeface="+mn-lt"/>
              </a:rPr>
              <a:t>Uses Apollo Server (server-side) and Apollo Client (client-side</a:t>
            </a:r>
            <a:r>
              <a:rPr lang="en-US" sz="1200" dirty="0">
                <a:solidFill>
                  <a:schemeClr val="bg1"/>
                </a:solidFill>
                <a:latin typeface="+mn-lt"/>
              </a:rPr>
              <a:t>) </a:t>
            </a:r>
            <a:r>
              <a:rPr lang="en-US" sz="1200" dirty="0" smtClean="0">
                <a:solidFill>
                  <a:schemeClr val="bg1"/>
                </a:solidFill>
                <a:latin typeface="+mn-lt"/>
              </a:rPr>
              <a:t>for Implemented </a:t>
            </a:r>
            <a:r>
              <a:rPr lang="en-US" sz="1200" dirty="0" err="1" smtClean="0">
                <a:solidFill>
                  <a:schemeClr val="bg1"/>
                </a:solidFill>
                <a:latin typeface="+mn-lt"/>
              </a:rPr>
              <a:t>GraphQL</a:t>
            </a:r>
            <a:r>
              <a:rPr lang="en-US" sz="1200" dirty="0" smtClean="0">
                <a:solidFill>
                  <a:schemeClr val="bg1"/>
                </a:solidFill>
                <a:latin typeface="+mn-lt"/>
              </a:rPr>
              <a:t> concept</a:t>
            </a:r>
            <a:r>
              <a:rPr lang="en-US" sz="1200" b="1" dirty="0" smtClean="0">
                <a:solidFill>
                  <a:srgbClr val="E7157B"/>
                </a:solidFill>
                <a:latin typeface="+mn-lt"/>
              </a:rPr>
              <a:t> </a:t>
            </a:r>
          </a:p>
        </p:txBody>
      </p:sp>
      <p:pic>
        <p:nvPicPr>
          <p:cNvPr id="3" name="Picture 2"/>
          <p:cNvPicPr>
            <a:picLocks noChangeAspect="1"/>
          </p:cNvPicPr>
          <p:nvPr/>
        </p:nvPicPr>
        <p:blipFill>
          <a:blip r:embed="rId4"/>
          <a:stretch>
            <a:fillRect/>
          </a:stretch>
        </p:blipFill>
        <p:spPr>
          <a:xfrm>
            <a:off x="609311" y="3944667"/>
            <a:ext cx="751951" cy="874718"/>
          </a:xfrm>
          <a:prstGeom prst="rect">
            <a:avLst/>
          </a:prstGeom>
        </p:spPr>
      </p:pic>
    </p:spTree>
    <p:extLst>
      <p:ext uri="{BB962C8B-B14F-4D97-AF65-F5344CB8AC3E}">
        <p14:creationId xmlns:p14="http://schemas.microsoft.com/office/powerpoint/2010/main" val="304649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18113" y="555599"/>
            <a:ext cx="11258027" cy="5989556"/>
          </a:xfrm>
          <a:prstGeom prst="rect">
            <a:avLst/>
          </a:prstGeom>
        </p:spPr>
      </p:pic>
    </p:spTree>
    <p:extLst>
      <p:ext uri="{BB962C8B-B14F-4D97-AF65-F5344CB8AC3E}">
        <p14:creationId xmlns:p14="http://schemas.microsoft.com/office/powerpoint/2010/main" val="33731800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3432276" y="1330809"/>
            <a:ext cx="5423478" cy="1287256"/>
            <a:chOff x="1434521" y="2603788"/>
            <a:chExt cx="5423478" cy="1287256"/>
          </a:xfrm>
        </p:grpSpPr>
        <p:sp>
          <p:nvSpPr>
            <p:cNvPr id="2" name="Rectangle 1"/>
            <p:cNvSpPr/>
            <p:nvPr/>
          </p:nvSpPr>
          <p:spPr>
            <a:xfrm>
              <a:off x="4927254" y="2828148"/>
              <a:ext cx="1930745" cy="553998"/>
            </a:xfrm>
            <a:prstGeom prst="rect">
              <a:avLst/>
            </a:prstGeom>
          </p:spPr>
          <p:txBody>
            <a:bodyPr wrap="square">
              <a:spAutoFit/>
            </a:bodyPr>
            <a:lstStyle/>
            <a:p>
              <a:pPr algn="ctr"/>
              <a:r>
                <a:rPr lang="en-US" sz="3000" b="1" dirty="0" err="1" smtClean="0">
                  <a:solidFill>
                    <a:srgbClr val="E7157B"/>
                  </a:solidFill>
                  <a:latin typeface="+mn-lt"/>
                </a:rPr>
                <a:t>GraphQL</a:t>
              </a:r>
              <a:endParaRPr lang="en-US" sz="3000" dirty="0">
                <a:solidFill>
                  <a:srgbClr val="E7157B"/>
                </a:solidFill>
                <a:latin typeface="+mn-lt"/>
              </a:endParaRPr>
            </a:p>
          </p:txBody>
        </p:sp>
        <p:pic>
          <p:nvPicPr>
            <p:cNvPr id="3" name="Picture 2"/>
            <p:cNvPicPr>
              <a:picLocks noChangeAspect="1"/>
            </p:cNvPicPr>
            <p:nvPr/>
          </p:nvPicPr>
          <p:blipFill>
            <a:blip r:embed="rId2"/>
            <a:stretch>
              <a:fillRect/>
            </a:stretch>
          </p:blipFill>
          <p:spPr>
            <a:xfrm>
              <a:off x="1843705" y="3123938"/>
              <a:ext cx="679336" cy="767106"/>
            </a:xfrm>
            <a:prstGeom prst="rect">
              <a:avLst/>
            </a:prstGeom>
          </p:spPr>
        </p:pic>
        <p:grpSp>
          <p:nvGrpSpPr>
            <p:cNvPr id="7" name="Group 6"/>
            <p:cNvGrpSpPr/>
            <p:nvPr/>
          </p:nvGrpSpPr>
          <p:grpSpPr>
            <a:xfrm>
              <a:off x="1434521" y="2603788"/>
              <a:ext cx="3627336" cy="766371"/>
              <a:chOff x="634377" y="1444562"/>
              <a:chExt cx="3627336" cy="766371"/>
            </a:xfrm>
          </p:grpSpPr>
          <p:sp>
            <p:nvSpPr>
              <p:cNvPr id="4" name="Rectangle 3"/>
              <p:cNvSpPr/>
              <p:nvPr/>
            </p:nvSpPr>
            <p:spPr>
              <a:xfrm>
                <a:off x="1383229" y="1656935"/>
                <a:ext cx="2878484" cy="553998"/>
              </a:xfrm>
              <a:prstGeom prst="rect">
                <a:avLst/>
              </a:prstGeom>
            </p:spPr>
            <p:txBody>
              <a:bodyPr wrap="square">
                <a:spAutoFit/>
              </a:bodyPr>
              <a:lstStyle/>
              <a:p>
                <a:pPr algn="ctr"/>
                <a:r>
                  <a:rPr lang="en-US" sz="3000" b="1" dirty="0">
                    <a:solidFill>
                      <a:srgbClr val="E7157B"/>
                    </a:solidFill>
                    <a:latin typeface="+mn-lt"/>
                  </a:rPr>
                  <a:t>AWS </a:t>
                </a:r>
                <a:r>
                  <a:rPr lang="en-US" sz="3000" b="1" dirty="0" err="1" smtClean="0">
                    <a:solidFill>
                      <a:srgbClr val="E7157B"/>
                    </a:solidFill>
                    <a:latin typeface="+mn-lt"/>
                  </a:rPr>
                  <a:t>AppSync</a:t>
                </a:r>
                <a:endParaRPr lang="en-US" sz="3000" b="0" i="0" dirty="0">
                  <a:solidFill>
                    <a:schemeClr val="bg1"/>
                  </a:solidFill>
                  <a:effectLst/>
                  <a:latin typeface="+mn-lt"/>
                </a:endParaRPr>
              </a:p>
            </p:txBody>
          </p:sp>
          <p:pic>
            <p:nvPicPr>
              <p:cNvPr id="5" name="Graphic 32">
                <a:extLst>
                  <a:ext uri="{FF2B5EF4-FFF2-40B4-BE49-F238E27FC236}">
                    <a16:creationId xmlns:a16="http://schemas.microsoft.com/office/drawing/2014/main" xmlns="" id="{E3741765-A017-3D47-93D5-DA978D7C5D48}"/>
                  </a:ext>
                </a:extLst>
              </p:cNvPr>
              <p:cNvPicPr>
                <a:picLocks noChangeAspect="1" noChangeArrowheads="1"/>
              </p:cNvPicPr>
              <p:nvPr/>
            </p:nvPicPr>
            <p:blipFill>
              <a:blip r:embed="rId3">
                <a:extLst>
                  <a:ext uri="{96DAC541-7B7A-43D3-8B79-37D633B846F1}">
                    <asvg:svgBlip xmlns:asvg="http://schemas.microsoft.com/office/drawing/2016/SVG/main" xmlns="" r:embed="rId4"/>
                  </a:ext>
                </a:extLst>
              </a:blip>
              <a:srcRect/>
              <a:stretch/>
            </p:blipFill>
            <p:spPr bwMode="auto">
              <a:xfrm>
                <a:off x="634377" y="1444562"/>
                <a:ext cx="732524" cy="732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3" name="Rectangle 12"/>
          <p:cNvSpPr/>
          <p:nvPr/>
        </p:nvSpPr>
        <p:spPr>
          <a:xfrm>
            <a:off x="1626380" y="2925842"/>
            <a:ext cx="9651220" cy="1938992"/>
          </a:xfrm>
          <a:prstGeom prst="rect">
            <a:avLst/>
          </a:prstGeom>
        </p:spPr>
        <p:txBody>
          <a:bodyPr wrap="square">
            <a:spAutoFit/>
          </a:bodyPr>
          <a:lstStyle/>
          <a:p>
            <a:pPr algn="ctr"/>
            <a:endParaRPr lang="en-US" sz="3000" b="1" dirty="0" smtClean="0">
              <a:solidFill>
                <a:schemeClr val="bg1"/>
              </a:solidFill>
              <a:latin typeface="+mn-lt"/>
            </a:endParaRPr>
          </a:p>
          <a:p>
            <a:pPr algn="ctr"/>
            <a:r>
              <a:rPr lang="en-US" sz="3000" b="1" dirty="0" smtClean="0">
                <a:solidFill>
                  <a:schemeClr val="bg1"/>
                </a:solidFill>
                <a:latin typeface="+mn-lt"/>
              </a:rPr>
              <a:t>AWS </a:t>
            </a:r>
            <a:r>
              <a:rPr lang="en-US" sz="3000" b="1" dirty="0" err="1" smtClean="0">
                <a:solidFill>
                  <a:schemeClr val="bg1"/>
                </a:solidFill>
                <a:latin typeface="+mn-lt"/>
              </a:rPr>
              <a:t>Serverless</a:t>
            </a:r>
            <a:r>
              <a:rPr lang="en-US" sz="3000" b="1" dirty="0">
                <a:solidFill>
                  <a:schemeClr val="bg1"/>
                </a:solidFill>
                <a:latin typeface="+mn-lt"/>
              </a:rPr>
              <a:t> Architecture</a:t>
            </a:r>
            <a:endParaRPr lang="en-US" sz="3000" dirty="0">
              <a:solidFill>
                <a:schemeClr val="bg1"/>
              </a:solidFill>
              <a:latin typeface="+mn-lt"/>
            </a:endParaRPr>
          </a:p>
          <a:p>
            <a:pPr algn="ctr"/>
            <a:endParaRPr lang="en-US" sz="3000" b="1" dirty="0" smtClean="0">
              <a:solidFill>
                <a:schemeClr val="bg1"/>
              </a:solidFill>
              <a:latin typeface="+mn-lt"/>
            </a:endParaRPr>
          </a:p>
          <a:p>
            <a:pPr algn="ctr"/>
            <a:r>
              <a:rPr lang="en-US" sz="3000" b="1" dirty="0" smtClean="0">
                <a:solidFill>
                  <a:schemeClr val="bg1"/>
                </a:solidFill>
                <a:latin typeface="+mn-lt"/>
              </a:rPr>
              <a:t>Back-End </a:t>
            </a:r>
            <a:r>
              <a:rPr lang="en-US" sz="3000" b="1" dirty="0" smtClean="0">
                <a:solidFill>
                  <a:schemeClr val="bg1"/>
                </a:solidFill>
                <a:latin typeface="+mn-lt"/>
              </a:rPr>
              <a:t>&amp; </a:t>
            </a:r>
            <a:r>
              <a:rPr lang="en-US" sz="3000" b="1" dirty="0" smtClean="0">
                <a:solidFill>
                  <a:schemeClr val="bg1"/>
                </a:solidFill>
                <a:latin typeface="+mn-lt"/>
              </a:rPr>
              <a:t>Front-End Integration </a:t>
            </a:r>
            <a:endParaRPr lang="en-US" sz="3000" b="1" dirty="0" smtClean="0">
              <a:solidFill>
                <a:schemeClr val="bg1"/>
              </a:solidFill>
              <a:latin typeface="+mn-lt"/>
            </a:endParaRPr>
          </a:p>
        </p:txBody>
      </p:sp>
    </p:spTree>
    <p:extLst>
      <p:ext uri="{BB962C8B-B14F-4D97-AF65-F5344CB8AC3E}">
        <p14:creationId xmlns:p14="http://schemas.microsoft.com/office/powerpoint/2010/main" val="14905124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073043" y="401811"/>
            <a:ext cx="2317108" cy="5002542"/>
          </a:xfrm>
          <a:prstGeom prst="roundRect">
            <a:avLst>
              <a:gd name="adj" fmla="val 2890"/>
            </a:avLst>
          </a:prstGeom>
          <a:solidFill>
            <a:srgbClr val="071D34"/>
          </a:solidFill>
          <a:ln w="7937" cap="rnd">
            <a:solidFill>
              <a:srgbClr val="168CF0"/>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Rounded Rectangle 2"/>
          <p:cNvSpPr/>
          <p:nvPr/>
        </p:nvSpPr>
        <p:spPr>
          <a:xfrm>
            <a:off x="3443726" y="401811"/>
            <a:ext cx="2966702" cy="5002542"/>
          </a:xfrm>
          <a:prstGeom prst="roundRect">
            <a:avLst>
              <a:gd name="adj" fmla="val 2257"/>
            </a:avLst>
          </a:prstGeom>
          <a:solidFill>
            <a:srgbClr val="0E1C31"/>
          </a:solidFill>
          <a:ln w="7937" cap="rnd">
            <a:solidFill>
              <a:srgbClr val="8F52F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Rounded Rectangle 3"/>
          <p:cNvSpPr/>
          <p:nvPr/>
        </p:nvSpPr>
        <p:spPr>
          <a:xfrm>
            <a:off x="6484093" y="401811"/>
            <a:ext cx="4640913" cy="5002542"/>
          </a:xfrm>
          <a:prstGeom prst="roundRect">
            <a:avLst>
              <a:gd name="adj" fmla="val 1443"/>
            </a:avLst>
          </a:prstGeom>
          <a:solidFill>
            <a:srgbClr val="072D29"/>
          </a:solidFill>
          <a:ln w="7937" cap="rnd">
            <a:solidFill>
              <a:srgbClr val="19A96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Round Same Side Corner Rectangle 4"/>
          <p:cNvSpPr/>
          <p:nvPr/>
        </p:nvSpPr>
        <p:spPr>
          <a:xfrm>
            <a:off x="1079740" y="401811"/>
            <a:ext cx="2303714" cy="495566"/>
          </a:xfrm>
          <a:prstGeom prst="round2SameRect">
            <a:avLst>
              <a:gd name="adj1" fmla="val 13513"/>
              <a:gd name="adj2" fmla="val 0"/>
            </a:avLst>
          </a:prstGeom>
          <a:solidFill>
            <a:srgbClr val="102F50">
              <a:alpha val="72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Round Same Side Corner Rectangle 5"/>
          <p:cNvSpPr/>
          <p:nvPr/>
        </p:nvSpPr>
        <p:spPr>
          <a:xfrm>
            <a:off x="3450423" y="401811"/>
            <a:ext cx="2953308" cy="495566"/>
          </a:xfrm>
          <a:prstGeom prst="round2SameRect">
            <a:avLst>
              <a:gd name="adj1" fmla="val 13513"/>
              <a:gd name="adj2" fmla="val 0"/>
            </a:avLst>
          </a:prstGeom>
          <a:solidFill>
            <a:srgbClr val="32205C">
              <a:alpha val="76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Round Same Side Corner Rectangle 6"/>
          <p:cNvSpPr/>
          <p:nvPr/>
        </p:nvSpPr>
        <p:spPr>
          <a:xfrm>
            <a:off x="6490790" y="401811"/>
            <a:ext cx="4627519" cy="495566"/>
          </a:xfrm>
          <a:prstGeom prst="round2SameRect">
            <a:avLst>
              <a:gd name="adj1" fmla="val 13513"/>
              <a:gd name="adj2" fmla="val 0"/>
            </a:avLst>
          </a:prstGeom>
          <a:solidFill>
            <a:srgbClr val="11372A">
              <a:alpha val="720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 name="Connector 7"/>
          <p:cNvCxnSpPr/>
          <p:nvPr/>
        </p:nvCxnSpPr>
        <p:spPr>
          <a:xfrm>
            <a:off x="1059649" y="897377"/>
            <a:ext cx="3013580" cy="0"/>
          </a:xfrm>
          <a:prstGeom prst="line">
            <a:avLst/>
          </a:prstGeom>
          <a:ln w="7937" cap="rnd">
            <a:solidFill>
              <a:srgbClr val="2D5A83"/>
            </a:solidFill>
            <a:round/>
          </a:ln>
          <a:effectLst/>
        </p:spPr>
        <p:style>
          <a:lnRef idx="2">
            <a:schemeClr val="accent1"/>
          </a:lnRef>
          <a:fillRef idx="0">
            <a:schemeClr val="accent1"/>
          </a:fillRef>
          <a:effectRef idx="0">
            <a:schemeClr val="accent1"/>
          </a:effectRef>
          <a:fontRef idx="minor">
            <a:schemeClr val="tx1"/>
          </a:fontRef>
        </p:style>
      </p:cxnSp>
      <p:cxnSp>
        <p:nvCxnSpPr>
          <p:cNvPr id="9" name="Connector 8"/>
          <p:cNvCxnSpPr/>
          <p:nvPr/>
        </p:nvCxnSpPr>
        <p:spPr>
          <a:xfrm>
            <a:off x="2566440" y="897377"/>
            <a:ext cx="4721275" cy="0"/>
          </a:xfrm>
          <a:prstGeom prst="line">
            <a:avLst/>
          </a:prstGeom>
          <a:ln w="7937" cap="rnd">
            <a:solidFill>
              <a:srgbClr val="604B9A"/>
            </a:solidFill>
            <a:round/>
          </a:ln>
          <a:effectLst/>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a:off x="5104543" y="897377"/>
            <a:ext cx="6027159" cy="0"/>
          </a:xfrm>
          <a:prstGeom prst="line">
            <a:avLst/>
          </a:prstGeom>
          <a:ln w="7937" cap="rnd">
            <a:solidFill>
              <a:srgbClr val="2B7558"/>
            </a:solidFill>
            <a:round/>
          </a:ln>
          <a:effectLst/>
        </p:spPr>
        <p:style>
          <a:lnRef idx="2">
            <a:schemeClr val="accent1"/>
          </a:lnRef>
          <a:fillRef idx="0">
            <a:schemeClr val="accent1"/>
          </a:fillRef>
          <a:effectRef idx="0">
            <a:schemeClr val="accent1"/>
          </a:effectRef>
          <a:fontRef idx="minor">
            <a:schemeClr val="tx1"/>
          </a:fontRef>
        </p:style>
      </p:cxnSp>
      <p:sp>
        <p:nvSpPr>
          <p:cNvPr id="11" name="Rounded Rectangle 10"/>
          <p:cNvSpPr/>
          <p:nvPr/>
        </p:nvSpPr>
        <p:spPr>
          <a:xfrm>
            <a:off x="1073044" y="5484715"/>
            <a:ext cx="7627705" cy="1138463"/>
          </a:xfrm>
          <a:prstGeom prst="roundRect">
            <a:avLst>
              <a:gd name="adj" fmla="val 5294"/>
            </a:avLst>
          </a:prstGeom>
          <a:solidFill>
            <a:srgbClr val="1C2026"/>
          </a:solidFill>
          <a:ln w="7937" cap="rnd">
            <a:solidFill>
              <a:srgbClr val="E89518"/>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Rounded Rectangle 11"/>
          <p:cNvSpPr/>
          <p:nvPr/>
        </p:nvSpPr>
        <p:spPr>
          <a:xfrm>
            <a:off x="8767717" y="5484715"/>
            <a:ext cx="2357289" cy="1138463"/>
          </a:xfrm>
          <a:prstGeom prst="roundRect">
            <a:avLst>
              <a:gd name="adj" fmla="val 5294"/>
            </a:avLst>
          </a:prstGeom>
          <a:solidFill>
            <a:srgbClr val="0B2036"/>
          </a:solidFill>
          <a:ln w="7937" cap="rnd">
            <a:solidFill>
              <a:srgbClr val="5084BB"/>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2320264" y="-5378"/>
            <a:ext cx="7550825" cy="288349"/>
          </a:xfrm>
          <a:prstGeom prst="rect">
            <a:avLst/>
          </a:prstGeom>
          <a:noFill/>
        </p:spPr>
        <p:txBody>
          <a:bodyPr wrap="square" lIns="0" tIns="0" rIns="0" bIns="0" anchor="t">
            <a:spAutoFit/>
          </a:bodyPr>
          <a:lstStyle/>
          <a:p>
            <a:pPr algn="ctr">
              <a:lnSpc>
                <a:spcPct val="115000"/>
              </a:lnSpc>
            </a:pPr>
            <a:r>
              <a:rPr sz="1629" b="1">
                <a:solidFill>
                  <a:srgbClr val="F8F8FC"/>
                </a:solidFill>
                <a:latin typeface="Arial"/>
              </a:rPr>
              <a:t>AWS Serverless Microservices: AppSync GraphQL + DynamoDB Streams</a:t>
            </a:r>
          </a:p>
        </p:txBody>
      </p:sp>
      <p:sp>
        <p:nvSpPr>
          <p:cNvPr id="14" name="TextBox 13"/>
          <p:cNvSpPr txBox="1"/>
          <p:nvPr/>
        </p:nvSpPr>
        <p:spPr>
          <a:xfrm>
            <a:off x="1166799" y="416433"/>
            <a:ext cx="475476" cy="228781"/>
          </a:xfrm>
          <a:prstGeom prst="rect">
            <a:avLst/>
          </a:prstGeom>
          <a:noFill/>
        </p:spPr>
        <p:txBody>
          <a:bodyPr wrap="square" lIns="0" tIns="0" rIns="0" bIns="0" anchor="t">
            <a:spAutoFit/>
          </a:bodyPr>
          <a:lstStyle/>
          <a:p>
            <a:pPr algn="l">
              <a:lnSpc>
                <a:spcPct val="115000"/>
              </a:lnSpc>
            </a:pPr>
            <a:r>
              <a:rPr sz="1293" b="1">
                <a:solidFill>
                  <a:srgbClr val="D5EAFF"/>
                </a:solidFill>
                <a:latin typeface="Arial"/>
              </a:rPr>
              <a:t>Client</a:t>
            </a:r>
          </a:p>
        </p:txBody>
      </p:sp>
      <p:sp>
        <p:nvSpPr>
          <p:cNvPr id="15" name="TextBox 14"/>
          <p:cNvSpPr txBox="1"/>
          <p:nvPr/>
        </p:nvSpPr>
        <p:spPr>
          <a:xfrm>
            <a:off x="1180193" y="632169"/>
            <a:ext cx="1446518" cy="149400"/>
          </a:xfrm>
          <a:prstGeom prst="rect">
            <a:avLst/>
          </a:prstGeom>
          <a:noFill/>
        </p:spPr>
        <p:txBody>
          <a:bodyPr wrap="square" lIns="0" tIns="0" rIns="0" bIns="0" anchor="t">
            <a:spAutoFit/>
          </a:bodyPr>
          <a:lstStyle/>
          <a:p>
            <a:pPr algn="l">
              <a:lnSpc>
                <a:spcPct val="115000"/>
              </a:lnSpc>
            </a:pPr>
            <a:r>
              <a:rPr sz="844" b="1" dirty="0">
                <a:solidFill>
                  <a:srgbClr val="B6DCFC"/>
                </a:solidFill>
                <a:latin typeface="Arial"/>
              </a:rPr>
              <a:t>Web and External Clients</a:t>
            </a:r>
          </a:p>
        </p:txBody>
      </p:sp>
      <p:sp>
        <p:nvSpPr>
          <p:cNvPr id="16" name="TextBox 15"/>
          <p:cNvSpPr txBox="1"/>
          <p:nvPr/>
        </p:nvSpPr>
        <p:spPr>
          <a:xfrm>
            <a:off x="3577663" y="412712"/>
            <a:ext cx="1547774" cy="223844"/>
          </a:xfrm>
          <a:prstGeom prst="rect">
            <a:avLst/>
          </a:prstGeom>
          <a:noFill/>
        </p:spPr>
        <p:txBody>
          <a:bodyPr wrap="square" lIns="0" tIns="0" rIns="0" bIns="0" anchor="t">
            <a:spAutoFit/>
          </a:bodyPr>
          <a:lstStyle/>
          <a:p>
            <a:pPr algn="l">
              <a:lnSpc>
                <a:spcPct val="115000"/>
              </a:lnSpc>
            </a:pPr>
            <a:r>
              <a:rPr sz="1265" b="1">
                <a:solidFill>
                  <a:srgbClr val="F1EDFF"/>
                </a:solidFill>
                <a:latin typeface="Arial"/>
              </a:rPr>
              <a:t>GraphQL/API Layer</a:t>
            </a:r>
          </a:p>
        </p:txBody>
      </p:sp>
      <p:sp>
        <p:nvSpPr>
          <p:cNvPr id="17" name="TextBox 16"/>
          <p:cNvSpPr txBox="1"/>
          <p:nvPr/>
        </p:nvSpPr>
        <p:spPr>
          <a:xfrm>
            <a:off x="3597753" y="633856"/>
            <a:ext cx="2827943" cy="149400"/>
          </a:xfrm>
          <a:prstGeom prst="rect">
            <a:avLst/>
          </a:prstGeom>
          <a:noFill/>
        </p:spPr>
        <p:txBody>
          <a:bodyPr wrap="square" lIns="0" tIns="0" rIns="0" bIns="0" anchor="t">
            <a:spAutoFit/>
          </a:bodyPr>
          <a:lstStyle/>
          <a:p>
            <a:pPr algn="l">
              <a:lnSpc>
                <a:spcPct val="115000"/>
              </a:lnSpc>
            </a:pPr>
            <a:r>
              <a:rPr sz="844" b="1" dirty="0">
                <a:solidFill>
                  <a:srgbClr val="FAF8FC"/>
                </a:solidFill>
                <a:latin typeface="Arial"/>
              </a:rPr>
              <a:t>AWS </a:t>
            </a:r>
            <a:r>
              <a:rPr sz="844" b="1" dirty="0" err="1">
                <a:solidFill>
                  <a:srgbClr val="FAF8FC"/>
                </a:solidFill>
                <a:latin typeface="Arial"/>
              </a:rPr>
              <a:t>AppSync</a:t>
            </a:r>
            <a:r>
              <a:rPr sz="844" b="1" dirty="0">
                <a:solidFill>
                  <a:srgbClr val="FAF8FC"/>
                </a:solidFill>
                <a:latin typeface="Arial"/>
              </a:rPr>
              <a:t> with </a:t>
            </a:r>
            <a:r>
              <a:rPr sz="844" b="1" dirty="0" err="1">
                <a:solidFill>
                  <a:srgbClr val="FAF8FC"/>
                </a:solidFill>
                <a:latin typeface="Arial"/>
              </a:rPr>
              <a:t>GraphQL</a:t>
            </a:r>
            <a:r>
              <a:rPr sz="844" b="1" dirty="0">
                <a:solidFill>
                  <a:srgbClr val="FAF8FC"/>
                </a:solidFill>
                <a:latin typeface="Arial"/>
              </a:rPr>
              <a:t> and optional REST API</a:t>
            </a:r>
          </a:p>
        </p:txBody>
      </p:sp>
      <p:sp>
        <p:nvSpPr>
          <p:cNvPr id="18" name="TextBox 17"/>
          <p:cNvSpPr txBox="1"/>
          <p:nvPr/>
        </p:nvSpPr>
        <p:spPr>
          <a:xfrm>
            <a:off x="7341289" y="415918"/>
            <a:ext cx="2900269" cy="233590"/>
          </a:xfrm>
          <a:prstGeom prst="rect">
            <a:avLst/>
          </a:prstGeom>
          <a:noFill/>
        </p:spPr>
        <p:txBody>
          <a:bodyPr wrap="square" lIns="0" tIns="0" rIns="0" bIns="0" anchor="t">
            <a:spAutoFit/>
          </a:bodyPr>
          <a:lstStyle/>
          <a:p>
            <a:pPr algn="l">
              <a:lnSpc>
                <a:spcPct val="115000"/>
              </a:lnSpc>
            </a:pPr>
            <a:r>
              <a:rPr sz="1320" b="1">
                <a:solidFill>
                  <a:srgbClr val="EFFFF4"/>
                </a:solidFill>
                <a:latin typeface="Arial"/>
              </a:rPr>
              <a:t>Data &amp; Event-Driven Microservices</a:t>
            </a:r>
          </a:p>
        </p:txBody>
      </p:sp>
      <p:sp>
        <p:nvSpPr>
          <p:cNvPr id="19" name="TextBox 18"/>
          <p:cNvSpPr txBox="1"/>
          <p:nvPr/>
        </p:nvSpPr>
        <p:spPr>
          <a:xfrm>
            <a:off x="6651514" y="634445"/>
            <a:ext cx="4086414" cy="149400"/>
          </a:xfrm>
          <a:prstGeom prst="rect">
            <a:avLst/>
          </a:prstGeom>
          <a:noFill/>
        </p:spPr>
        <p:txBody>
          <a:bodyPr wrap="square" lIns="0" tIns="0" rIns="0" bIns="0" anchor="t">
            <a:spAutoFit/>
          </a:bodyPr>
          <a:lstStyle/>
          <a:p>
            <a:pPr algn="ctr">
              <a:lnSpc>
                <a:spcPct val="115000"/>
              </a:lnSpc>
            </a:pPr>
            <a:r>
              <a:rPr sz="844" b="1" dirty="0" err="1">
                <a:solidFill>
                  <a:srgbClr val="CEFAE4"/>
                </a:solidFill>
                <a:latin typeface="Arial"/>
              </a:rPr>
              <a:t>DynamoDB</a:t>
            </a:r>
            <a:r>
              <a:rPr sz="844" b="1" dirty="0">
                <a:solidFill>
                  <a:srgbClr val="CEFAE4"/>
                </a:solidFill>
                <a:latin typeface="Arial"/>
              </a:rPr>
              <a:t>, Streams, Event Processing and Asynchronous </a:t>
            </a:r>
            <a:r>
              <a:rPr sz="844" b="1" dirty="0" err="1">
                <a:solidFill>
                  <a:srgbClr val="CEFAE4"/>
                </a:solidFill>
                <a:latin typeface="Arial"/>
              </a:rPr>
              <a:t>Microservices</a:t>
            </a:r>
            <a:endParaRPr sz="844" b="1" dirty="0">
              <a:solidFill>
                <a:srgbClr val="CEFAE4"/>
              </a:solidFill>
              <a:latin typeface="Arial"/>
            </a:endParaRPr>
          </a:p>
        </p:txBody>
      </p:sp>
      <p:sp>
        <p:nvSpPr>
          <p:cNvPr id="21" name="TextBox 20"/>
          <p:cNvSpPr txBox="1"/>
          <p:nvPr/>
        </p:nvSpPr>
        <p:spPr>
          <a:xfrm>
            <a:off x="1218327" y="1563749"/>
            <a:ext cx="706287" cy="205184"/>
          </a:xfrm>
          <a:prstGeom prst="rect">
            <a:avLst/>
          </a:prstGeom>
          <a:noFill/>
        </p:spPr>
        <p:txBody>
          <a:bodyPr wrap="square" lIns="0" tIns="0" rIns="0" bIns="0" anchor="t">
            <a:spAutoFit/>
          </a:bodyPr>
          <a:lstStyle/>
          <a:p>
            <a:pPr algn="ctr">
              <a:lnSpc>
                <a:spcPts val="784"/>
              </a:lnSpc>
            </a:pPr>
            <a:r>
              <a:rPr sz="759" b="1" dirty="0">
                <a:solidFill>
                  <a:srgbClr val="F5F7FF"/>
                </a:solidFill>
                <a:latin typeface="Arial"/>
              </a:rPr>
              <a:t>End Users</a:t>
            </a:r>
          </a:p>
          <a:p>
            <a:pPr algn="ctr">
              <a:lnSpc>
                <a:spcPts val="784"/>
              </a:lnSpc>
            </a:pPr>
            <a:r>
              <a:rPr sz="759" dirty="0">
                <a:solidFill>
                  <a:srgbClr val="D8E4F2"/>
                </a:solidFill>
                <a:latin typeface="Arial"/>
              </a:rPr>
              <a:t>(Web / Mobile)</a:t>
            </a:r>
          </a:p>
        </p:txBody>
      </p:sp>
      <p:cxnSp>
        <p:nvCxnSpPr>
          <p:cNvPr id="22" name="Connector 21"/>
          <p:cNvCxnSpPr/>
          <p:nvPr/>
        </p:nvCxnSpPr>
        <p:spPr>
          <a:xfrm>
            <a:off x="1615488" y="1767967"/>
            <a:ext cx="0" cy="328145"/>
          </a:xfrm>
          <a:prstGeom prst="line">
            <a:avLst/>
          </a:prstGeom>
          <a:ln w="7937" cap="rnd">
            <a:solidFill>
              <a:srgbClr val="A8D2FF"/>
            </a:solidFill>
            <a:round/>
            <a:headEnd type="triangle" w="med" len="med"/>
            <a:tailEnd type="triangle" w="med" len="med"/>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1186889" y="2116203"/>
            <a:ext cx="1084889" cy="1379550"/>
          </a:xfrm>
          <a:prstGeom prst="roundRect">
            <a:avLst>
              <a:gd name="adj" fmla="val 4938"/>
            </a:avLst>
          </a:prstGeom>
          <a:solidFill>
            <a:srgbClr val="102944"/>
          </a:solidFill>
          <a:ln w="7937" cap="rnd">
            <a:solidFill>
              <a:srgbClr val="75B8F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logo react"/>
          <p:cNvSpPr/>
          <p:nvPr/>
        </p:nvSpPr>
        <p:spPr>
          <a:xfrm>
            <a:off x="1485569" y="2220674"/>
            <a:ext cx="427259" cy="427259"/>
          </a:xfrm>
          <a:custGeom>
            <a:avLst/>
            <a:gdLst/>
            <a:ahLst/>
            <a:cxnLst/>
            <a:rect l="0" t="0" r="0" b="0"/>
            <a:pathLst>
              <a:path w="100000" h="100000">
                <a:moveTo>
                  <a:pt x="59292" y="50017"/>
                </a:moveTo>
                <a:cubicBezTo>
                  <a:pt x="59292" y="51651"/>
                  <a:pt x="58861" y="53258"/>
                  <a:pt x="58044" y="54674"/>
                </a:cubicBezTo>
                <a:cubicBezTo>
                  <a:pt x="57227" y="56090"/>
                  <a:pt x="56051" y="57266"/>
                  <a:pt x="54636" y="58084"/>
                </a:cubicBezTo>
                <a:cubicBezTo>
                  <a:pt x="53220" y="58902"/>
                  <a:pt x="51614" y="59333"/>
                  <a:pt x="49979" y="59333"/>
                </a:cubicBezTo>
                <a:cubicBezTo>
                  <a:pt x="48756" y="59333"/>
                  <a:pt x="47544" y="59092"/>
                  <a:pt x="46414" y="58624"/>
                </a:cubicBezTo>
                <a:cubicBezTo>
                  <a:pt x="45284" y="58156"/>
                  <a:pt x="44256" y="57470"/>
                  <a:pt x="43391" y="56605"/>
                </a:cubicBezTo>
                <a:cubicBezTo>
                  <a:pt x="42526" y="55739"/>
                  <a:pt x="41840" y="54712"/>
                  <a:pt x="41372" y="53582"/>
                </a:cubicBezTo>
                <a:cubicBezTo>
                  <a:pt x="40903" y="52452"/>
                  <a:pt x="40663" y="51240"/>
                  <a:pt x="40663" y="50017"/>
                </a:cubicBezTo>
                <a:cubicBezTo>
                  <a:pt x="40662" y="48382"/>
                  <a:pt x="41093" y="46775"/>
                  <a:pt x="41910" y="45360"/>
                </a:cubicBezTo>
                <a:cubicBezTo>
                  <a:pt x="42727" y="43944"/>
                  <a:pt x="43903" y="42767"/>
                  <a:pt x="45318" y="41950"/>
                </a:cubicBezTo>
                <a:cubicBezTo>
                  <a:pt x="46734" y="41132"/>
                  <a:pt x="48340" y="40701"/>
                  <a:pt x="49975" y="40700"/>
                </a:cubicBezTo>
                <a:cubicBezTo>
                  <a:pt x="51198" y="40700"/>
                  <a:pt x="52410" y="40941"/>
                  <a:pt x="53540" y="41409"/>
                </a:cubicBezTo>
                <a:cubicBezTo>
                  <a:pt x="54671" y="41877"/>
                  <a:pt x="55698" y="42564"/>
                  <a:pt x="56563" y="43429"/>
                </a:cubicBezTo>
                <a:cubicBezTo>
                  <a:pt x="57428" y="44294"/>
                  <a:pt x="58114" y="45321"/>
                  <a:pt x="58582" y="46451"/>
                </a:cubicBezTo>
                <a:cubicBezTo>
                  <a:pt x="59051" y="47582"/>
                  <a:pt x="59292" y="48793"/>
                  <a:pt x="59292" y="50017"/>
                </a:cubicBezTo>
                <a:close/>
                <a:moveTo>
                  <a:pt x="70325" y="5475"/>
                </a:moveTo>
                <a:cubicBezTo>
                  <a:pt x="64717" y="5475"/>
                  <a:pt x="57379" y="9475"/>
                  <a:pt x="49958" y="16400"/>
                </a:cubicBezTo>
                <a:cubicBezTo>
                  <a:pt x="42542" y="9512"/>
                  <a:pt x="35200" y="5558"/>
                  <a:pt x="29596" y="5558"/>
                </a:cubicBezTo>
                <a:cubicBezTo>
                  <a:pt x="27888" y="5558"/>
                  <a:pt x="26333" y="5946"/>
                  <a:pt x="24988" y="6717"/>
                </a:cubicBezTo>
                <a:cubicBezTo>
                  <a:pt x="19258" y="10021"/>
                  <a:pt x="17975" y="20317"/>
                  <a:pt x="20933" y="33238"/>
                </a:cubicBezTo>
                <a:cubicBezTo>
                  <a:pt x="8250" y="37154"/>
                  <a:pt x="0" y="43417"/>
                  <a:pt x="0" y="50017"/>
                </a:cubicBezTo>
                <a:cubicBezTo>
                  <a:pt x="0" y="56642"/>
                  <a:pt x="8292" y="62921"/>
                  <a:pt x="21013" y="66808"/>
                </a:cubicBezTo>
                <a:cubicBezTo>
                  <a:pt x="18079" y="79779"/>
                  <a:pt x="19388" y="90092"/>
                  <a:pt x="25129" y="93392"/>
                </a:cubicBezTo>
                <a:cubicBezTo>
                  <a:pt x="26463" y="94171"/>
                  <a:pt x="28004" y="94537"/>
                  <a:pt x="29721" y="94537"/>
                </a:cubicBezTo>
                <a:cubicBezTo>
                  <a:pt x="35325" y="94537"/>
                  <a:pt x="42667" y="90537"/>
                  <a:pt x="50088" y="83604"/>
                </a:cubicBezTo>
                <a:cubicBezTo>
                  <a:pt x="57504" y="90496"/>
                  <a:pt x="64846" y="94450"/>
                  <a:pt x="70450" y="94450"/>
                </a:cubicBezTo>
                <a:cubicBezTo>
                  <a:pt x="72158" y="94450"/>
                  <a:pt x="73713" y="94075"/>
                  <a:pt x="75058" y="93304"/>
                </a:cubicBezTo>
                <a:cubicBezTo>
                  <a:pt x="80783" y="90004"/>
                  <a:pt x="82071" y="79708"/>
                  <a:pt x="79113" y="66783"/>
                </a:cubicBezTo>
                <a:cubicBezTo>
                  <a:pt x="91750" y="62900"/>
                  <a:pt x="100000" y="56625"/>
                  <a:pt x="100000" y="50017"/>
                </a:cubicBezTo>
                <a:cubicBezTo>
                  <a:pt x="100000" y="43392"/>
                  <a:pt x="91708" y="37112"/>
                  <a:pt x="78988" y="33217"/>
                </a:cubicBezTo>
                <a:cubicBezTo>
                  <a:pt x="81921" y="20258"/>
                  <a:pt x="80613" y="9938"/>
                  <a:pt x="74871" y="6633"/>
                </a:cubicBezTo>
                <a:cubicBezTo>
                  <a:pt x="73546" y="5867"/>
                  <a:pt x="72004" y="5479"/>
                  <a:pt x="70321" y="5475"/>
                </a:cubicBezTo>
                <a:close/>
                <a:moveTo>
                  <a:pt x="70304" y="10017"/>
                </a:moveTo>
                <a:lnTo>
                  <a:pt x="70304" y="10042"/>
                </a:lnTo>
                <a:cubicBezTo>
                  <a:pt x="71242" y="10042"/>
                  <a:pt x="71996" y="10225"/>
                  <a:pt x="72629" y="10571"/>
                </a:cubicBezTo>
                <a:cubicBezTo>
                  <a:pt x="75404" y="12163"/>
                  <a:pt x="76608" y="18217"/>
                  <a:pt x="75671" y="26004"/>
                </a:cubicBezTo>
                <a:cubicBezTo>
                  <a:pt x="75446" y="27921"/>
                  <a:pt x="75079" y="29942"/>
                  <a:pt x="74629" y="32004"/>
                </a:cubicBezTo>
                <a:cubicBezTo>
                  <a:pt x="70629" y="31021"/>
                  <a:pt x="66271" y="30267"/>
                  <a:pt x="61683" y="29779"/>
                </a:cubicBezTo>
                <a:cubicBezTo>
                  <a:pt x="58933" y="26008"/>
                  <a:pt x="56079" y="22583"/>
                  <a:pt x="53204" y="19583"/>
                </a:cubicBezTo>
                <a:cubicBezTo>
                  <a:pt x="59838" y="13417"/>
                  <a:pt x="66067" y="10033"/>
                  <a:pt x="70308" y="10021"/>
                </a:cubicBezTo>
                <a:close/>
                <a:moveTo>
                  <a:pt x="29596" y="10100"/>
                </a:moveTo>
                <a:cubicBezTo>
                  <a:pt x="33813" y="10100"/>
                  <a:pt x="40071" y="13467"/>
                  <a:pt x="46721" y="19600"/>
                </a:cubicBezTo>
                <a:cubicBezTo>
                  <a:pt x="43863" y="22600"/>
                  <a:pt x="41012" y="26004"/>
                  <a:pt x="38304" y="29775"/>
                </a:cubicBezTo>
                <a:cubicBezTo>
                  <a:pt x="33692" y="30262"/>
                  <a:pt x="29329" y="31017"/>
                  <a:pt x="25333" y="32017"/>
                </a:cubicBezTo>
                <a:cubicBezTo>
                  <a:pt x="24867" y="29975"/>
                  <a:pt x="24521" y="28000"/>
                  <a:pt x="24275" y="26100"/>
                </a:cubicBezTo>
                <a:cubicBezTo>
                  <a:pt x="23317" y="18317"/>
                  <a:pt x="24500" y="12267"/>
                  <a:pt x="27250" y="10654"/>
                </a:cubicBezTo>
                <a:cubicBezTo>
                  <a:pt x="28042" y="10279"/>
                  <a:pt x="28917" y="10125"/>
                  <a:pt x="29596" y="10104"/>
                </a:cubicBezTo>
                <a:close/>
                <a:moveTo>
                  <a:pt x="49938" y="22808"/>
                </a:moveTo>
                <a:cubicBezTo>
                  <a:pt x="51833" y="24758"/>
                  <a:pt x="53729" y="26942"/>
                  <a:pt x="55604" y="29325"/>
                </a:cubicBezTo>
                <a:cubicBezTo>
                  <a:pt x="53771" y="29242"/>
                  <a:pt x="51896" y="29183"/>
                  <a:pt x="50000" y="29183"/>
                </a:cubicBezTo>
                <a:cubicBezTo>
                  <a:pt x="48083" y="29183"/>
                  <a:pt x="46188" y="29225"/>
                  <a:pt x="44333" y="29325"/>
                </a:cubicBezTo>
                <a:cubicBezTo>
                  <a:pt x="46167" y="26942"/>
                  <a:pt x="48063" y="24758"/>
                  <a:pt x="49938" y="22804"/>
                </a:cubicBezTo>
                <a:close/>
                <a:moveTo>
                  <a:pt x="50000" y="33750"/>
                </a:moveTo>
                <a:cubicBezTo>
                  <a:pt x="53083" y="33750"/>
                  <a:pt x="56154" y="33892"/>
                  <a:pt x="59175" y="34138"/>
                </a:cubicBezTo>
                <a:cubicBezTo>
                  <a:pt x="60867" y="36563"/>
                  <a:pt x="62517" y="39150"/>
                  <a:pt x="64104" y="41888"/>
                </a:cubicBezTo>
                <a:cubicBezTo>
                  <a:pt x="65654" y="44554"/>
                  <a:pt x="67062" y="47262"/>
                  <a:pt x="68346" y="49996"/>
                </a:cubicBezTo>
                <a:cubicBezTo>
                  <a:pt x="67062" y="52725"/>
                  <a:pt x="65654" y="55454"/>
                  <a:pt x="64125" y="58121"/>
                </a:cubicBezTo>
                <a:cubicBezTo>
                  <a:pt x="62542" y="60871"/>
                  <a:pt x="60904" y="63488"/>
                  <a:pt x="59208" y="65912"/>
                </a:cubicBezTo>
                <a:cubicBezTo>
                  <a:pt x="56175" y="66175"/>
                  <a:pt x="53100" y="66321"/>
                  <a:pt x="50000" y="66321"/>
                </a:cubicBezTo>
                <a:cubicBezTo>
                  <a:pt x="46917" y="66321"/>
                  <a:pt x="43846" y="66175"/>
                  <a:pt x="40825" y="65933"/>
                </a:cubicBezTo>
                <a:cubicBezTo>
                  <a:pt x="39133" y="63508"/>
                  <a:pt x="37483" y="60917"/>
                  <a:pt x="35896" y="58183"/>
                </a:cubicBezTo>
                <a:cubicBezTo>
                  <a:pt x="34346" y="55517"/>
                  <a:pt x="32938" y="52808"/>
                  <a:pt x="31654" y="50075"/>
                </a:cubicBezTo>
                <a:cubicBezTo>
                  <a:pt x="32917" y="47338"/>
                  <a:pt x="34346" y="44604"/>
                  <a:pt x="35875" y="41933"/>
                </a:cubicBezTo>
                <a:cubicBezTo>
                  <a:pt x="37458" y="39183"/>
                  <a:pt x="39096" y="36575"/>
                  <a:pt x="40792" y="34150"/>
                </a:cubicBezTo>
                <a:cubicBezTo>
                  <a:pt x="43825" y="33883"/>
                  <a:pt x="46900" y="33742"/>
                  <a:pt x="50000" y="33742"/>
                </a:cubicBezTo>
                <a:close/>
                <a:moveTo>
                  <a:pt x="34854" y="34808"/>
                </a:moveTo>
                <a:cubicBezTo>
                  <a:pt x="33854" y="36379"/>
                  <a:pt x="32854" y="37988"/>
                  <a:pt x="31921" y="39642"/>
                </a:cubicBezTo>
                <a:cubicBezTo>
                  <a:pt x="30983" y="41267"/>
                  <a:pt x="30108" y="42900"/>
                  <a:pt x="29275" y="44533"/>
                </a:cubicBezTo>
                <a:cubicBezTo>
                  <a:pt x="28171" y="41800"/>
                  <a:pt x="27233" y="39075"/>
                  <a:pt x="26458" y="36421"/>
                </a:cubicBezTo>
                <a:cubicBezTo>
                  <a:pt x="29125" y="35796"/>
                  <a:pt x="31938" y="35242"/>
                  <a:pt x="34854" y="34813"/>
                </a:cubicBezTo>
                <a:close/>
                <a:moveTo>
                  <a:pt x="65104" y="34808"/>
                </a:moveTo>
                <a:cubicBezTo>
                  <a:pt x="68000" y="35238"/>
                  <a:pt x="70792" y="35767"/>
                  <a:pt x="73462" y="36421"/>
                </a:cubicBezTo>
                <a:cubicBezTo>
                  <a:pt x="72713" y="39054"/>
                  <a:pt x="71775" y="41762"/>
                  <a:pt x="70712" y="44475"/>
                </a:cubicBezTo>
                <a:cubicBezTo>
                  <a:pt x="69879" y="42850"/>
                  <a:pt x="69004" y="41212"/>
                  <a:pt x="68046" y="39583"/>
                </a:cubicBezTo>
                <a:cubicBezTo>
                  <a:pt x="67108" y="37950"/>
                  <a:pt x="66108" y="36358"/>
                  <a:pt x="65108" y="34808"/>
                </a:cubicBezTo>
                <a:close/>
                <a:moveTo>
                  <a:pt x="77867" y="37621"/>
                </a:moveTo>
                <a:cubicBezTo>
                  <a:pt x="79883" y="38246"/>
                  <a:pt x="81800" y="38942"/>
                  <a:pt x="83596" y="39696"/>
                </a:cubicBezTo>
                <a:cubicBezTo>
                  <a:pt x="90812" y="42779"/>
                  <a:pt x="95479" y="46812"/>
                  <a:pt x="95479" y="50013"/>
                </a:cubicBezTo>
                <a:cubicBezTo>
                  <a:pt x="95458" y="53213"/>
                  <a:pt x="90792" y="57263"/>
                  <a:pt x="83575" y="60325"/>
                </a:cubicBezTo>
                <a:cubicBezTo>
                  <a:pt x="81825" y="61075"/>
                  <a:pt x="79908" y="61750"/>
                  <a:pt x="77929" y="62379"/>
                </a:cubicBezTo>
                <a:cubicBezTo>
                  <a:pt x="76762" y="58388"/>
                  <a:pt x="75238" y="54229"/>
                  <a:pt x="73346" y="49962"/>
                </a:cubicBezTo>
                <a:cubicBezTo>
                  <a:pt x="75221" y="45725"/>
                  <a:pt x="76721" y="41588"/>
                  <a:pt x="77867" y="37612"/>
                </a:cubicBezTo>
                <a:close/>
                <a:moveTo>
                  <a:pt x="22054" y="37638"/>
                </a:moveTo>
                <a:cubicBezTo>
                  <a:pt x="23212" y="41638"/>
                  <a:pt x="24742" y="45792"/>
                  <a:pt x="26637" y="50054"/>
                </a:cubicBezTo>
                <a:cubicBezTo>
                  <a:pt x="24762" y="54292"/>
                  <a:pt x="23254" y="58429"/>
                  <a:pt x="22112" y="62404"/>
                </a:cubicBezTo>
                <a:cubicBezTo>
                  <a:pt x="20096" y="61779"/>
                  <a:pt x="18179" y="61079"/>
                  <a:pt x="16404" y="60321"/>
                </a:cubicBezTo>
                <a:cubicBezTo>
                  <a:pt x="9187" y="57250"/>
                  <a:pt x="4521" y="53213"/>
                  <a:pt x="4521" y="50013"/>
                </a:cubicBezTo>
                <a:cubicBezTo>
                  <a:pt x="4521" y="46812"/>
                  <a:pt x="9187" y="42754"/>
                  <a:pt x="16404" y="39696"/>
                </a:cubicBezTo>
                <a:cubicBezTo>
                  <a:pt x="18154" y="38946"/>
                  <a:pt x="20071" y="38271"/>
                  <a:pt x="22054" y="37638"/>
                </a:cubicBezTo>
                <a:close/>
                <a:moveTo>
                  <a:pt x="70712" y="55471"/>
                </a:moveTo>
                <a:cubicBezTo>
                  <a:pt x="71817" y="58208"/>
                  <a:pt x="72754" y="60938"/>
                  <a:pt x="73529" y="63588"/>
                </a:cubicBezTo>
                <a:cubicBezTo>
                  <a:pt x="70862" y="64242"/>
                  <a:pt x="68046" y="64796"/>
                  <a:pt x="65129" y="65213"/>
                </a:cubicBezTo>
                <a:cubicBezTo>
                  <a:pt x="66129" y="63650"/>
                  <a:pt x="67129" y="62038"/>
                  <a:pt x="68067" y="60388"/>
                </a:cubicBezTo>
                <a:cubicBezTo>
                  <a:pt x="69004" y="58762"/>
                  <a:pt x="69879" y="57104"/>
                  <a:pt x="70717" y="55471"/>
                </a:cubicBezTo>
                <a:close/>
                <a:moveTo>
                  <a:pt x="29275" y="55554"/>
                </a:moveTo>
                <a:cubicBezTo>
                  <a:pt x="30108" y="57187"/>
                  <a:pt x="30983" y="58817"/>
                  <a:pt x="31942" y="60450"/>
                </a:cubicBezTo>
                <a:cubicBezTo>
                  <a:pt x="32900" y="62075"/>
                  <a:pt x="33879" y="63667"/>
                  <a:pt x="34879" y="65213"/>
                </a:cubicBezTo>
                <a:cubicBezTo>
                  <a:pt x="31983" y="64788"/>
                  <a:pt x="29192" y="64254"/>
                  <a:pt x="26521" y="63604"/>
                </a:cubicBezTo>
                <a:cubicBezTo>
                  <a:pt x="27271" y="60979"/>
                  <a:pt x="28212" y="58263"/>
                  <a:pt x="29271" y="55550"/>
                </a:cubicBezTo>
                <a:close/>
                <a:moveTo>
                  <a:pt x="74667" y="68000"/>
                </a:moveTo>
                <a:cubicBezTo>
                  <a:pt x="75133" y="70054"/>
                  <a:pt x="75500" y="72033"/>
                  <a:pt x="75725" y="73929"/>
                </a:cubicBezTo>
                <a:cubicBezTo>
                  <a:pt x="76683" y="81713"/>
                  <a:pt x="75500" y="87763"/>
                  <a:pt x="72750" y="89379"/>
                </a:cubicBezTo>
                <a:cubicBezTo>
                  <a:pt x="72138" y="89754"/>
                  <a:pt x="71342" y="89913"/>
                  <a:pt x="70404" y="89913"/>
                </a:cubicBezTo>
                <a:cubicBezTo>
                  <a:pt x="66188" y="89913"/>
                  <a:pt x="59929" y="86550"/>
                  <a:pt x="53279" y="80412"/>
                </a:cubicBezTo>
                <a:cubicBezTo>
                  <a:pt x="56138" y="77413"/>
                  <a:pt x="58988" y="74012"/>
                  <a:pt x="61696" y="70246"/>
                </a:cubicBezTo>
                <a:cubicBezTo>
                  <a:pt x="66308" y="69754"/>
                  <a:pt x="70671" y="68996"/>
                  <a:pt x="74667" y="67996"/>
                </a:cubicBezTo>
                <a:close/>
                <a:moveTo>
                  <a:pt x="25375" y="68042"/>
                </a:moveTo>
                <a:cubicBezTo>
                  <a:pt x="29375" y="69017"/>
                  <a:pt x="33733" y="69771"/>
                  <a:pt x="38321" y="70258"/>
                </a:cubicBezTo>
                <a:cubicBezTo>
                  <a:pt x="41071" y="74029"/>
                  <a:pt x="43925" y="77454"/>
                  <a:pt x="46800" y="80450"/>
                </a:cubicBezTo>
                <a:cubicBezTo>
                  <a:pt x="40154" y="86629"/>
                  <a:pt x="33917" y="90013"/>
                  <a:pt x="29675" y="90013"/>
                </a:cubicBezTo>
                <a:cubicBezTo>
                  <a:pt x="28758" y="89992"/>
                  <a:pt x="27983" y="89804"/>
                  <a:pt x="27371" y="89462"/>
                </a:cubicBezTo>
                <a:cubicBezTo>
                  <a:pt x="24596" y="87879"/>
                  <a:pt x="23392" y="81821"/>
                  <a:pt x="24329" y="74033"/>
                </a:cubicBezTo>
                <a:cubicBezTo>
                  <a:pt x="24554" y="72117"/>
                  <a:pt x="24921" y="70100"/>
                  <a:pt x="25371" y="68042"/>
                </a:cubicBezTo>
                <a:close/>
                <a:moveTo>
                  <a:pt x="44375" y="70708"/>
                </a:moveTo>
                <a:cubicBezTo>
                  <a:pt x="46208" y="70792"/>
                  <a:pt x="48083" y="70850"/>
                  <a:pt x="49979" y="70850"/>
                </a:cubicBezTo>
                <a:cubicBezTo>
                  <a:pt x="51896" y="70850"/>
                  <a:pt x="53792" y="70808"/>
                  <a:pt x="55646" y="70708"/>
                </a:cubicBezTo>
                <a:cubicBezTo>
                  <a:pt x="53813" y="73092"/>
                  <a:pt x="51917" y="75271"/>
                  <a:pt x="50042" y="77229"/>
                </a:cubicBezTo>
                <a:cubicBezTo>
                  <a:pt x="48146" y="75271"/>
                  <a:pt x="46250" y="73092"/>
                  <a:pt x="44375" y="70708"/>
                </a:cubicBezTo>
                <a:close/>
              </a:path>
            </a:pathLst>
          </a:custGeom>
          <a:solidFill>
            <a:srgbClr val="01F7FB"/>
          </a:solidFill>
          <a:ln>
            <a:noFill/>
          </a:ln>
        </p:spPr>
        <p:txBody>
          <a:bodyPr/>
          <a:lstStyle/>
          <a:p>
            <a:endParaRPr/>
          </a:p>
        </p:txBody>
      </p:sp>
      <p:sp>
        <p:nvSpPr>
          <p:cNvPr id="25" name="TextBox 24"/>
          <p:cNvSpPr txBox="1"/>
          <p:nvPr/>
        </p:nvSpPr>
        <p:spPr>
          <a:xfrm>
            <a:off x="1331274" y="2692131"/>
            <a:ext cx="802818" cy="307777"/>
          </a:xfrm>
          <a:prstGeom prst="rect">
            <a:avLst/>
          </a:prstGeom>
          <a:noFill/>
        </p:spPr>
        <p:txBody>
          <a:bodyPr wrap="square" lIns="0" tIns="0" rIns="0" bIns="0" anchor="t">
            <a:spAutoFit/>
          </a:bodyPr>
          <a:lstStyle/>
          <a:p>
            <a:pPr algn="ctr">
              <a:lnSpc>
                <a:spcPts val="798"/>
              </a:lnSpc>
            </a:pPr>
            <a:r>
              <a:rPr sz="759" b="1" dirty="0">
                <a:solidFill>
                  <a:srgbClr val="EFF7FF"/>
                </a:solidFill>
                <a:latin typeface="Arial"/>
              </a:rPr>
              <a:t>React Web App</a:t>
            </a:r>
          </a:p>
          <a:p>
            <a:pPr algn="ctr">
              <a:lnSpc>
                <a:spcPts val="798"/>
              </a:lnSpc>
            </a:pPr>
            <a:r>
              <a:rPr sz="759" b="1" dirty="0">
                <a:solidFill>
                  <a:srgbClr val="EFF7FF"/>
                </a:solidFill>
                <a:latin typeface="Arial"/>
              </a:rPr>
              <a:t>with Apollo Client</a:t>
            </a:r>
          </a:p>
        </p:txBody>
      </p:sp>
      <p:sp>
        <p:nvSpPr>
          <p:cNvPr id="26" name="Rounded Rectangle 25"/>
          <p:cNvSpPr/>
          <p:nvPr/>
        </p:nvSpPr>
        <p:spPr>
          <a:xfrm>
            <a:off x="1267252" y="3026973"/>
            <a:ext cx="917468" cy="388417"/>
          </a:xfrm>
          <a:prstGeom prst="roundRect">
            <a:avLst>
              <a:gd name="adj" fmla="val 10344"/>
            </a:avLst>
          </a:prstGeom>
          <a:solidFill>
            <a:srgbClr val="132D4C"/>
          </a:solidFill>
          <a:ln w="7937" cap="rnd">
            <a:solidFill>
              <a:srgbClr val="8ABBF1"/>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1366901" y="3058159"/>
            <a:ext cx="744957" cy="346249"/>
          </a:xfrm>
          <a:prstGeom prst="rect">
            <a:avLst/>
          </a:prstGeom>
          <a:noFill/>
        </p:spPr>
        <p:txBody>
          <a:bodyPr wrap="square" lIns="0" tIns="0" rIns="0" bIns="0" anchor="t">
            <a:spAutoFit/>
          </a:bodyPr>
          <a:lstStyle/>
          <a:p>
            <a:pPr algn="ctr">
              <a:lnSpc>
                <a:spcPts val="895"/>
              </a:lnSpc>
            </a:pPr>
            <a:r>
              <a:rPr sz="759" b="1" dirty="0">
                <a:solidFill>
                  <a:srgbClr val="E6F0FF"/>
                </a:solidFill>
                <a:latin typeface="Arial"/>
              </a:rPr>
              <a:t>Apollo Client</a:t>
            </a:r>
          </a:p>
          <a:p>
            <a:pPr algn="ctr">
              <a:lnSpc>
                <a:spcPts val="895"/>
              </a:lnSpc>
            </a:pPr>
            <a:r>
              <a:rPr sz="759" dirty="0">
                <a:solidFill>
                  <a:srgbClr val="D7E5F7"/>
                </a:solidFill>
                <a:latin typeface="Arial"/>
              </a:rPr>
              <a:t>(In-memory Cache)</a:t>
            </a:r>
          </a:p>
        </p:txBody>
      </p:sp>
      <p:sp>
        <p:nvSpPr>
          <p:cNvPr id="30" name="TextBox 29"/>
          <p:cNvSpPr txBox="1"/>
          <p:nvPr/>
        </p:nvSpPr>
        <p:spPr>
          <a:xfrm>
            <a:off x="2589145" y="1263013"/>
            <a:ext cx="753395" cy="346249"/>
          </a:xfrm>
          <a:prstGeom prst="rect">
            <a:avLst/>
          </a:prstGeom>
          <a:noFill/>
        </p:spPr>
        <p:txBody>
          <a:bodyPr wrap="square" lIns="0" tIns="0" rIns="0" bIns="0" anchor="t">
            <a:spAutoFit/>
          </a:bodyPr>
          <a:lstStyle/>
          <a:p>
            <a:pPr algn="ctr">
              <a:lnSpc>
                <a:spcPts val="860"/>
              </a:lnSpc>
            </a:pPr>
            <a:r>
              <a:rPr sz="758" b="1" dirty="0">
                <a:solidFill>
                  <a:srgbClr val="CDD7ED"/>
                </a:solidFill>
                <a:latin typeface="Arial"/>
              </a:rPr>
              <a:t>Authentication &amp; Authorization</a:t>
            </a:r>
          </a:p>
          <a:p>
            <a:pPr algn="ctr">
              <a:lnSpc>
                <a:spcPts val="860"/>
              </a:lnSpc>
            </a:pPr>
            <a:r>
              <a:rPr sz="758" dirty="0">
                <a:solidFill>
                  <a:srgbClr val="CDD7ED"/>
                </a:solidFill>
                <a:latin typeface="Arial"/>
              </a:rPr>
              <a:t>(Issues JWT)</a:t>
            </a:r>
          </a:p>
        </p:txBody>
      </p:sp>
      <p:sp>
        <p:nvSpPr>
          <p:cNvPr id="31" name="Freeform 30"/>
          <p:cNvSpPr/>
          <p:nvPr/>
        </p:nvSpPr>
        <p:spPr>
          <a:xfrm>
            <a:off x="2445897" y="1212129"/>
            <a:ext cx="1573758" cy="502263"/>
          </a:xfrm>
          <a:custGeom>
            <a:avLst/>
            <a:gdLst/>
            <a:ahLst/>
            <a:cxnLst/>
            <a:rect l="l" t="t" r="r" b="b"/>
            <a:pathLst>
              <a:path w="235" h="75">
                <a:moveTo>
                  <a:pt x="0" y="0"/>
                </a:moveTo>
                <a:lnTo>
                  <a:pt x="226" y="0"/>
                </a:lnTo>
                <a:lnTo>
                  <a:pt x="230" y="1"/>
                </a:lnTo>
                <a:lnTo>
                  <a:pt x="233" y="2"/>
                </a:lnTo>
                <a:lnTo>
                  <a:pt x="234" y="5"/>
                </a:lnTo>
                <a:lnTo>
                  <a:pt x="235" y="9"/>
                </a:lnTo>
                <a:lnTo>
                  <a:pt x="235" y="75"/>
                </a:lnTo>
              </a:path>
            </a:pathLst>
          </a:custGeom>
          <a:noFill/>
          <a:ln w="7937" cap="rnd">
            <a:solidFill>
              <a:srgbClr val="BDC8E3"/>
            </a:solidFill>
            <a:prstDash val="dash"/>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2" name="Connector 31"/>
          <p:cNvCxnSpPr/>
          <p:nvPr/>
        </p:nvCxnSpPr>
        <p:spPr>
          <a:xfrm>
            <a:off x="1930239" y="1214272"/>
            <a:ext cx="0" cy="925772"/>
          </a:xfrm>
          <a:prstGeom prst="line">
            <a:avLst/>
          </a:prstGeom>
          <a:ln w="7937" cap="rnd">
            <a:solidFill>
              <a:srgbClr val="BDC8E3"/>
            </a:solidFill>
            <a:prstDash val="dash"/>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3562662" y="983402"/>
            <a:ext cx="1104979" cy="205184"/>
          </a:xfrm>
          <a:prstGeom prst="rect">
            <a:avLst/>
          </a:prstGeom>
          <a:noFill/>
        </p:spPr>
        <p:txBody>
          <a:bodyPr wrap="square" lIns="0" tIns="0" rIns="0" bIns="0" anchor="t">
            <a:spAutoFit/>
          </a:bodyPr>
          <a:lstStyle/>
          <a:p>
            <a:pPr>
              <a:lnSpc>
                <a:spcPts val="792"/>
              </a:lnSpc>
            </a:pPr>
            <a:r>
              <a:rPr sz="759" b="1" dirty="0">
                <a:solidFill>
                  <a:srgbClr val="C7D6E7"/>
                </a:solidFill>
                <a:latin typeface="Arial"/>
              </a:rPr>
              <a:t>JWT token</a:t>
            </a:r>
          </a:p>
          <a:p>
            <a:pPr>
              <a:lnSpc>
                <a:spcPts val="792"/>
              </a:lnSpc>
            </a:pPr>
            <a:r>
              <a:rPr sz="759" dirty="0">
                <a:solidFill>
                  <a:srgbClr val="C7D6E7"/>
                </a:solidFill>
                <a:latin typeface="Arial"/>
              </a:rPr>
              <a:t>(in Authorization header)</a:t>
            </a:r>
          </a:p>
        </p:txBody>
      </p:sp>
      <p:cxnSp>
        <p:nvCxnSpPr>
          <p:cNvPr id="34" name="Connector 33"/>
          <p:cNvCxnSpPr/>
          <p:nvPr/>
        </p:nvCxnSpPr>
        <p:spPr>
          <a:xfrm>
            <a:off x="2278475" y="2531407"/>
            <a:ext cx="1285794" cy="0"/>
          </a:xfrm>
          <a:prstGeom prst="line">
            <a:avLst/>
          </a:prstGeom>
          <a:ln w="15874" cap="rnd">
            <a:solidFill>
              <a:srgbClr val="559EE6"/>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2436253" y="2138816"/>
            <a:ext cx="802818" cy="307777"/>
          </a:xfrm>
          <a:prstGeom prst="rect">
            <a:avLst/>
          </a:prstGeom>
          <a:noFill/>
        </p:spPr>
        <p:txBody>
          <a:bodyPr wrap="square" lIns="0" tIns="0" rIns="0" bIns="0" anchor="t">
            <a:spAutoFit/>
          </a:bodyPr>
          <a:lstStyle/>
          <a:p>
            <a:pPr algn="ctr">
              <a:lnSpc>
                <a:spcPts val="835"/>
              </a:lnSpc>
            </a:pPr>
            <a:r>
              <a:rPr sz="762" b="1" dirty="0" err="1">
                <a:solidFill>
                  <a:srgbClr val="76C8FF"/>
                </a:solidFill>
                <a:latin typeface="Arial"/>
              </a:rPr>
              <a:t>GraphQL</a:t>
            </a:r>
            <a:endParaRPr sz="762" b="1" dirty="0">
              <a:solidFill>
                <a:srgbClr val="76C8FF"/>
              </a:solidFill>
              <a:latin typeface="Arial"/>
            </a:endParaRPr>
          </a:p>
          <a:p>
            <a:pPr algn="ctr">
              <a:lnSpc>
                <a:spcPts val="835"/>
              </a:lnSpc>
            </a:pPr>
            <a:r>
              <a:rPr sz="762" b="1" dirty="0">
                <a:solidFill>
                  <a:srgbClr val="76C8FF"/>
                </a:solidFill>
                <a:latin typeface="Arial"/>
              </a:rPr>
              <a:t>Query / Mutation</a:t>
            </a:r>
          </a:p>
          <a:p>
            <a:pPr algn="ctr">
              <a:lnSpc>
                <a:spcPts val="835"/>
              </a:lnSpc>
            </a:pPr>
            <a:r>
              <a:rPr sz="762" dirty="0">
                <a:solidFill>
                  <a:srgbClr val="D6E9FF"/>
                </a:solidFill>
                <a:latin typeface="Arial"/>
              </a:rPr>
              <a:t>(HTTPS)</a:t>
            </a:r>
          </a:p>
        </p:txBody>
      </p:sp>
      <p:sp>
        <p:nvSpPr>
          <p:cNvPr id="36" name="Rounded Rectangle 35"/>
          <p:cNvSpPr/>
          <p:nvPr/>
        </p:nvSpPr>
        <p:spPr>
          <a:xfrm>
            <a:off x="3564270" y="1714392"/>
            <a:ext cx="1024617" cy="1372853"/>
          </a:xfrm>
          <a:prstGeom prst="roundRect">
            <a:avLst>
              <a:gd name="adj" fmla="val 3921"/>
            </a:avLst>
          </a:prstGeom>
          <a:solidFill>
            <a:srgbClr val="B3135C"/>
          </a:solidFill>
          <a:ln w="15874" cap="rnd">
            <a:solidFill>
              <a:srgbClr val="F14591"/>
            </a:solidFill>
            <a:round/>
          </a:ln>
          <a:effectLst>
            <a:outerShdw blurRad="90000" dist="25400" dir="5400000"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37" name="Picture 36" descr="pic_37.png"/>
          <p:cNvPicPr>
            <a:picLocks noChangeAspect="1"/>
          </p:cNvPicPr>
          <p:nvPr/>
        </p:nvPicPr>
        <p:blipFill>
          <a:blip r:embed="rId2"/>
          <a:stretch>
            <a:fillRect/>
          </a:stretch>
        </p:blipFill>
        <p:spPr>
          <a:xfrm>
            <a:off x="3745888" y="1942888"/>
            <a:ext cx="668077" cy="668077"/>
          </a:xfrm>
          <a:prstGeom prst="rect">
            <a:avLst/>
          </a:prstGeom>
          <a:effectLst/>
        </p:spPr>
      </p:pic>
      <p:sp>
        <p:nvSpPr>
          <p:cNvPr id="38" name="Rounded Rectangle 37"/>
          <p:cNvSpPr/>
          <p:nvPr/>
        </p:nvSpPr>
        <p:spPr>
          <a:xfrm>
            <a:off x="9772243" y="2183171"/>
            <a:ext cx="1165251" cy="522354"/>
          </a:xfrm>
          <a:prstGeom prst="roundRect">
            <a:avLst>
              <a:gd name="adj" fmla="val 6410"/>
            </a:avLst>
          </a:prstGeom>
          <a:solidFill>
            <a:srgbClr val="AE1259"/>
          </a:solidFill>
          <a:ln w="15874" cap="rnd">
            <a:solidFill>
              <a:srgbClr val="FC4E9E"/>
            </a:solidFill>
            <a:round/>
          </a:ln>
          <a:effectLst>
            <a:outerShdw blurRad="90000" dist="25400" dir="5400000"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10187448" y="2305589"/>
            <a:ext cx="723259" cy="256480"/>
          </a:xfrm>
          <a:prstGeom prst="rect">
            <a:avLst/>
          </a:prstGeom>
          <a:noFill/>
        </p:spPr>
        <p:txBody>
          <a:bodyPr wrap="square" lIns="0" tIns="0" rIns="0" bIns="0" anchor="t">
            <a:spAutoFit/>
          </a:bodyPr>
          <a:lstStyle/>
          <a:p>
            <a:pPr algn="ctr">
              <a:lnSpc>
                <a:spcPts val="980"/>
              </a:lnSpc>
            </a:pPr>
            <a:r>
              <a:rPr sz="777" b="1" dirty="0">
                <a:solidFill>
                  <a:srgbClr val="FFFFFF"/>
                </a:solidFill>
                <a:latin typeface="Arial"/>
              </a:rPr>
              <a:t>AWS </a:t>
            </a:r>
            <a:r>
              <a:rPr sz="777" b="1" dirty="0" err="1">
                <a:solidFill>
                  <a:srgbClr val="FFFFFF"/>
                </a:solidFill>
                <a:latin typeface="Arial"/>
              </a:rPr>
              <a:t>AppSync</a:t>
            </a:r>
            <a:endParaRPr sz="777" b="1" dirty="0">
              <a:solidFill>
                <a:srgbClr val="FFFFFF"/>
              </a:solidFill>
              <a:latin typeface="Arial"/>
            </a:endParaRPr>
          </a:p>
          <a:p>
            <a:pPr algn="ctr">
              <a:lnSpc>
                <a:spcPts val="980"/>
              </a:lnSpc>
            </a:pPr>
            <a:r>
              <a:rPr sz="777" dirty="0">
                <a:solidFill>
                  <a:srgbClr val="FFF0FA"/>
                </a:solidFill>
                <a:latin typeface="Arial"/>
              </a:rPr>
              <a:t>(</a:t>
            </a:r>
            <a:r>
              <a:rPr sz="777" dirty="0" err="1">
                <a:solidFill>
                  <a:srgbClr val="FFF0FA"/>
                </a:solidFill>
                <a:latin typeface="Arial"/>
              </a:rPr>
              <a:t>GraphQL</a:t>
            </a:r>
            <a:r>
              <a:rPr sz="777" dirty="0">
                <a:solidFill>
                  <a:srgbClr val="FFF0FA"/>
                </a:solidFill>
                <a:latin typeface="Arial"/>
              </a:rPr>
              <a:t> API)</a:t>
            </a:r>
          </a:p>
        </p:txBody>
      </p:sp>
      <p:sp>
        <p:nvSpPr>
          <p:cNvPr id="40" name="Rounded Rectangle 39"/>
          <p:cNvSpPr/>
          <p:nvPr/>
        </p:nvSpPr>
        <p:spPr>
          <a:xfrm>
            <a:off x="4783095" y="1546971"/>
            <a:ext cx="1587152" cy="1098282"/>
          </a:xfrm>
          <a:prstGeom prst="roundRect">
            <a:avLst>
              <a:gd name="adj" fmla="val 3658"/>
            </a:avLst>
          </a:prstGeom>
          <a:solidFill>
            <a:srgbClr val="161A3D"/>
          </a:solidFill>
          <a:ln w="7937" cap="rnd">
            <a:solidFill>
              <a:srgbClr val="615BC4"/>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4903638" y="1568394"/>
            <a:ext cx="1282044" cy="134332"/>
          </a:xfrm>
          <a:prstGeom prst="rect">
            <a:avLst/>
          </a:prstGeom>
          <a:noFill/>
        </p:spPr>
        <p:txBody>
          <a:bodyPr wrap="square" lIns="0" tIns="0" rIns="0" bIns="0" anchor="t">
            <a:spAutoFit/>
          </a:bodyPr>
          <a:lstStyle/>
          <a:p>
            <a:pPr algn="ctr">
              <a:lnSpc>
                <a:spcPct val="115000"/>
              </a:lnSpc>
            </a:pPr>
            <a:r>
              <a:rPr sz="759" b="1" dirty="0">
                <a:solidFill>
                  <a:srgbClr val="F7F4FF"/>
                </a:solidFill>
                <a:latin typeface="Arial"/>
              </a:rPr>
              <a:t>Query / Mutation Resolver</a:t>
            </a:r>
          </a:p>
        </p:txBody>
      </p:sp>
      <p:sp>
        <p:nvSpPr>
          <p:cNvPr id="42" name="Rounded Rectangle 41"/>
          <p:cNvSpPr/>
          <p:nvPr/>
        </p:nvSpPr>
        <p:spPr>
          <a:xfrm>
            <a:off x="4890244" y="1767967"/>
            <a:ext cx="1406337" cy="401811"/>
          </a:xfrm>
          <a:prstGeom prst="roundRect">
            <a:avLst>
              <a:gd name="adj" fmla="val 8333"/>
            </a:avLst>
          </a:prstGeom>
          <a:solidFill>
            <a:srgbClr val="132744"/>
          </a:solidFill>
          <a:ln w="7937" cap="rnd">
            <a:solidFill>
              <a:srgbClr val="2588EE"/>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3" name="Rounded Rectangle 42"/>
          <p:cNvSpPr/>
          <p:nvPr/>
        </p:nvSpPr>
        <p:spPr>
          <a:xfrm>
            <a:off x="4952860" y="1797098"/>
            <a:ext cx="330154" cy="330154"/>
          </a:xfrm>
          <a:prstGeom prst="roundRect">
            <a:avLst>
              <a:gd name="adj" fmla="val 8113"/>
            </a:avLst>
          </a:prstGeom>
          <a:solidFill>
            <a:srgbClr val="193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44" name="Picture 43" descr="pic_44.png"/>
          <p:cNvPicPr>
            <a:picLocks noChangeAspect="1"/>
          </p:cNvPicPr>
          <p:nvPr/>
        </p:nvPicPr>
        <p:blipFill>
          <a:blip r:embed="rId3"/>
          <a:stretch>
            <a:fillRect/>
          </a:stretch>
        </p:blipFill>
        <p:spPr>
          <a:xfrm>
            <a:off x="5001411" y="1830114"/>
            <a:ext cx="233051" cy="264123"/>
          </a:xfrm>
          <a:prstGeom prst="rect">
            <a:avLst/>
          </a:prstGeom>
          <a:effectLst/>
        </p:spPr>
      </p:pic>
      <p:sp>
        <p:nvSpPr>
          <p:cNvPr id="45" name="TextBox 44"/>
          <p:cNvSpPr txBox="1"/>
          <p:nvPr/>
        </p:nvSpPr>
        <p:spPr>
          <a:xfrm>
            <a:off x="5186002" y="1807184"/>
            <a:ext cx="1172208" cy="307777"/>
          </a:xfrm>
          <a:prstGeom prst="rect">
            <a:avLst/>
          </a:prstGeom>
          <a:noFill/>
        </p:spPr>
        <p:txBody>
          <a:bodyPr wrap="square" lIns="0" tIns="0" rIns="0" bIns="0" anchor="t">
            <a:spAutoFit/>
          </a:bodyPr>
          <a:lstStyle/>
          <a:p>
            <a:pPr algn="ctr">
              <a:lnSpc>
                <a:spcPts val="840"/>
              </a:lnSpc>
            </a:pPr>
            <a:r>
              <a:rPr sz="759" b="1" dirty="0" err="1">
                <a:solidFill>
                  <a:srgbClr val="F4F8FF"/>
                </a:solidFill>
                <a:latin typeface="Arial"/>
              </a:rPr>
              <a:t>DynamoDB</a:t>
            </a:r>
            <a:r>
              <a:rPr sz="759" b="1" dirty="0">
                <a:solidFill>
                  <a:srgbClr val="F4F8FF"/>
                </a:solidFill>
                <a:latin typeface="Arial"/>
              </a:rPr>
              <a:t> Data </a:t>
            </a:r>
            <a:endParaRPr lang="en-US" sz="759" b="1" dirty="0">
              <a:solidFill>
                <a:srgbClr val="F4F8FF"/>
              </a:solidFill>
              <a:latin typeface="Arial"/>
            </a:endParaRPr>
          </a:p>
          <a:p>
            <a:pPr algn="ctr">
              <a:lnSpc>
                <a:spcPts val="840"/>
              </a:lnSpc>
            </a:pPr>
            <a:r>
              <a:rPr sz="759" b="1" dirty="0">
                <a:solidFill>
                  <a:srgbClr val="F4F8FF"/>
                </a:solidFill>
                <a:latin typeface="Arial"/>
              </a:rPr>
              <a:t>Source</a:t>
            </a:r>
            <a:r>
              <a:rPr lang="en-US" sz="759" b="1" dirty="0">
                <a:solidFill>
                  <a:srgbClr val="F4F8FF"/>
                </a:solidFill>
                <a:latin typeface="Arial"/>
              </a:rPr>
              <a:t> </a:t>
            </a:r>
            <a:r>
              <a:rPr sz="759" dirty="0">
                <a:solidFill>
                  <a:srgbClr val="D6E8FF"/>
                </a:solidFill>
                <a:latin typeface="Arial"/>
              </a:rPr>
              <a:t>(for simple CRUD/query)</a:t>
            </a:r>
          </a:p>
        </p:txBody>
      </p:sp>
      <p:sp>
        <p:nvSpPr>
          <p:cNvPr id="46" name="Rounded Rectangle 45"/>
          <p:cNvSpPr/>
          <p:nvPr/>
        </p:nvSpPr>
        <p:spPr>
          <a:xfrm>
            <a:off x="4890244" y="2237387"/>
            <a:ext cx="1406337" cy="371371"/>
          </a:xfrm>
          <a:prstGeom prst="roundRect">
            <a:avLst>
              <a:gd name="adj" fmla="val 8196"/>
            </a:avLst>
          </a:prstGeom>
          <a:solidFill>
            <a:srgbClr val="122743"/>
          </a:solidFill>
          <a:ln w="7937" cap="rnd">
            <a:solidFill>
              <a:srgbClr val="2588EE"/>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Rounded Rectangle 46"/>
          <p:cNvSpPr/>
          <p:nvPr/>
        </p:nvSpPr>
        <p:spPr>
          <a:xfrm>
            <a:off x="4936117" y="2272574"/>
            <a:ext cx="330154" cy="330154"/>
          </a:xfrm>
          <a:prstGeom prst="roundRect">
            <a:avLst>
              <a:gd name="adj" fmla="val 8113"/>
            </a:avLst>
          </a:prstGeom>
          <a:solidFill>
            <a:srgbClr val="EC65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48" name="Picture 47" descr="pic_48.png"/>
          <p:cNvPicPr>
            <a:picLocks noChangeAspect="1"/>
          </p:cNvPicPr>
          <p:nvPr/>
        </p:nvPicPr>
        <p:blipFill>
          <a:blip r:embed="rId4"/>
          <a:stretch>
            <a:fillRect/>
          </a:stretch>
        </p:blipFill>
        <p:spPr>
          <a:xfrm>
            <a:off x="4973017" y="2305590"/>
            <a:ext cx="256355" cy="264123"/>
          </a:xfrm>
          <a:prstGeom prst="rect">
            <a:avLst/>
          </a:prstGeom>
          <a:effectLst/>
        </p:spPr>
      </p:pic>
      <p:sp>
        <p:nvSpPr>
          <p:cNvPr id="49" name="TextBox 48"/>
          <p:cNvSpPr txBox="1"/>
          <p:nvPr/>
        </p:nvSpPr>
        <p:spPr>
          <a:xfrm>
            <a:off x="5291196" y="2281309"/>
            <a:ext cx="1012562" cy="269304"/>
          </a:xfrm>
          <a:prstGeom prst="rect">
            <a:avLst/>
          </a:prstGeom>
          <a:noFill/>
        </p:spPr>
        <p:txBody>
          <a:bodyPr wrap="square" lIns="0" tIns="0" rIns="0" bIns="0" anchor="t">
            <a:spAutoFit/>
          </a:bodyPr>
          <a:lstStyle/>
          <a:p>
            <a:pPr algn="ctr">
              <a:lnSpc>
                <a:spcPts val="743"/>
              </a:lnSpc>
            </a:pPr>
            <a:r>
              <a:rPr sz="759" b="1" dirty="0">
                <a:solidFill>
                  <a:srgbClr val="F4F8FF"/>
                </a:solidFill>
                <a:latin typeface="Arial"/>
              </a:rPr>
              <a:t>Lambda Data Source</a:t>
            </a:r>
          </a:p>
          <a:p>
            <a:pPr algn="ctr">
              <a:lnSpc>
                <a:spcPts val="743"/>
              </a:lnSpc>
            </a:pPr>
            <a:r>
              <a:rPr sz="759" dirty="0">
                <a:solidFill>
                  <a:srgbClr val="D6E8FF"/>
                </a:solidFill>
                <a:latin typeface="Arial"/>
              </a:rPr>
              <a:t>(for complex business logic)</a:t>
            </a:r>
          </a:p>
        </p:txBody>
      </p:sp>
      <p:sp>
        <p:nvSpPr>
          <p:cNvPr id="50" name="Freeform 49"/>
          <p:cNvSpPr/>
          <p:nvPr/>
        </p:nvSpPr>
        <p:spPr>
          <a:xfrm>
            <a:off x="4602280" y="1968872"/>
            <a:ext cx="294661" cy="93756"/>
          </a:xfrm>
          <a:custGeom>
            <a:avLst/>
            <a:gdLst/>
            <a:ahLst/>
            <a:cxnLst/>
            <a:rect l="l" t="t" r="r" b="b"/>
            <a:pathLst>
              <a:path w="44" h="14">
                <a:moveTo>
                  <a:pt x="0" y="14"/>
                </a:moveTo>
                <a:lnTo>
                  <a:pt x="7" y="14"/>
                </a:lnTo>
                <a:lnTo>
                  <a:pt x="10" y="14"/>
                </a:lnTo>
                <a:lnTo>
                  <a:pt x="12" y="12"/>
                </a:lnTo>
                <a:lnTo>
                  <a:pt x="14" y="10"/>
                </a:lnTo>
                <a:lnTo>
                  <a:pt x="14" y="7"/>
                </a:lnTo>
                <a:lnTo>
                  <a:pt x="14" y="4"/>
                </a:lnTo>
                <a:lnTo>
                  <a:pt x="14" y="2"/>
                </a:lnTo>
                <a:lnTo>
                  <a:pt x="15" y="1"/>
                </a:lnTo>
                <a:lnTo>
                  <a:pt x="16" y="0"/>
                </a:lnTo>
                <a:lnTo>
                  <a:pt x="17" y="0"/>
                </a:lnTo>
                <a:lnTo>
                  <a:pt x="44" y="0"/>
                </a:lnTo>
              </a:path>
            </a:pathLst>
          </a:custGeom>
          <a:noFill/>
          <a:ln w="15874" cap="rnd">
            <a:solidFill>
              <a:srgbClr val="AACFFF"/>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1" name="Freeform 50"/>
          <p:cNvSpPr/>
          <p:nvPr/>
        </p:nvSpPr>
        <p:spPr>
          <a:xfrm>
            <a:off x="4588886" y="2323805"/>
            <a:ext cx="294661" cy="120543"/>
          </a:xfrm>
          <a:custGeom>
            <a:avLst/>
            <a:gdLst/>
            <a:ahLst/>
            <a:cxnLst/>
            <a:rect l="l" t="t" r="r" b="b"/>
            <a:pathLst>
              <a:path w="44" h="18">
                <a:moveTo>
                  <a:pt x="0" y="0"/>
                </a:moveTo>
                <a:lnTo>
                  <a:pt x="7" y="0"/>
                </a:lnTo>
                <a:lnTo>
                  <a:pt x="10" y="0"/>
                </a:lnTo>
                <a:lnTo>
                  <a:pt x="12" y="2"/>
                </a:lnTo>
                <a:lnTo>
                  <a:pt x="14" y="4"/>
                </a:lnTo>
                <a:lnTo>
                  <a:pt x="14" y="7"/>
                </a:lnTo>
                <a:lnTo>
                  <a:pt x="14" y="13"/>
                </a:lnTo>
                <a:lnTo>
                  <a:pt x="14" y="15"/>
                </a:lnTo>
                <a:lnTo>
                  <a:pt x="15" y="17"/>
                </a:lnTo>
                <a:lnTo>
                  <a:pt x="17" y="18"/>
                </a:lnTo>
                <a:lnTo>
                  <a:pt x="19" y="18"/>
                </a:lnTo>
                <a:lnTo>
                  <a:pt x="44" y="18"/>
                </a:lnTo>
              </a:path>
            </a:pathLst>
          </a:custGeom>
          <a:noFill/>
          <a:ln w="15874" cap="rnd">
            <a:solidFill>
              <a:srgbClr val="AACFFF"/>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Rounded Rectangle 51"/>
          <p:cNvSpPr/>
          <p:nvPr/>
        </p:nvSpPr>
        <p:spPr>
          <a:xfrm>
            <a:off x="4863285" y="2960006"/>
            <a:ext cx="1232219" cy="502263"/>
          </a:xfrm>
          <a:prstGeom prst="roundRect">
            <a:avLst>
              <a:gd name="adj" fmla="val 6666"/>
            </a:avLst>
          </a:prstGeom>
          <a:solidFill>
            <a:srgbClr val="09192A"/>
          </a:solidFill>
          <a:ln w="7937" cap="rnd">
            <a:solidFill>
              <a:srgbClr val="AABBD0"/>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53" name="Picture 52" descr="pic_53.png"/>
          <p:cNvPicPr>
            <a:picLocks noChangeAspect="1"/>
          </p:cNvPicPr>
          <p:nvPr/>
        </p:nvPicPr>
        <p:blipFill>
          <a:blip r:embed="rId5"/>
          <a:stretch>
            <a:fillRect/>
          </a:stretch>
        </p:blipFill>
        <p:spPr>
          <a:xfrm>
            <a:off x="4862671" y="3074654"/>
            <a:ext cx="279660" cy="310734"/>
          </a:xfrm>
          <a:prstGeom prst="rect">
            <a:avLst/>
          </a:prstGeom>
          <a:effectLst/>
        </p:spPr>
      </p:pic>
      <p:sp>
        <p:nvSpPr>
          <p:cNvPr id="54" name="TextBox 53"/>
          <p:cNvSpPr txBox="1"/>
          <p:nvPr/>
        </p:nvSpPr>
        <p:spPr>
          <a:xfrm>
            <a:off x="5174626" y="3049914"/>
            <a:ext cx="890680" cy="307777"/>
          </a:xfrm>
          <a:prstGeom prst="rect">
            <a:avLst/>
          </a:prstGeom>
          <a:noFill/>
        </p:spPr>
        <p:txBody>
          <a:bodyPr wrap="square" lIns="0" tIns="0" rIns="0" bIns="0" anchor="t">
            <a:spAutoFit/>
          </a:bodyPr>
          <a:lstStyle/>
          <a:p>
            <a:pPr algn="ctr">
              <a:lnSpc>
                <a:spcPts val="817"/>
              </a:lnSpc>
            </a:pPr>
            <a:r>
              <a:rPr sz="759" b="1" dirty="0">
                <a:solidFill>
                  <a:srgbClr val="FBF7FF"/>
                </a:solidFill>
                <a:latin typeface="Arial"/>
              </a:rPr>
              <a:t>Optional</a:t>
            </a:r>
          </a:p>
          <a:p>
            <a:pPr algn="ctr">
              <a:lnSpc>
                <a:spcPts val="817"/>
              </a:lnSpc>
            </a:pPr>
            <a:r>
              <a:rPr sz="759" b="1" dirty="0" err="1">
                <a:solidFill>
                  <a:srgbClr val="FBF7FF"/>
                </a:solidFill>
                <a:latin typeface="Arial"/>
              </a:rPr>
              <a:t>AppSync</a:t>
            </a:r>
            <a:r>
              <a:rPr sz="759" b="1" dirty="0">
                <a:solidFill>
                  <a:srgbClr val="FBF7FF"/>
                </a:solidFill>
                <a:latin typeface="Arial"/>
              </a:rPr>
              <a:t> Caching</a:t>
            </a:r>
          </a:p>
          <a:p>
            <a:pPr algn="ctr">
              <a:lnSpc>
                <a:spcPts val="817"/>
              </a:lnSpc>
            </a:pPr>
            <a:r>
              <a:rPr sz="759" dirty="0">
                <a:solidFill>
                  <a:srgbClr val="D7E6F5"/>
                </a:solidFill>
                <a:latin typeface="Arial"/>
              </a:rPr>
              <a:t>(for cached queries)</a:t>
            </a:r>
          </a:p>
        </p:txBody>
      </p:sp>
      <p:cxnSp>
        <p:nvCxnSpPr>
          <p:cNvPr id="56" name="Connector 55"/>
          <p:cNvCxnSpPr/>
          <p:nvPr/>
        </p:nvCxnSpPr>
        <p:spPr>
          <a:xfrm>
            <a:off x="4073229" y="3104657"/>
            <a:ext cx="0" cy="703169"/>
          </a:xfrm>
          <a:prstGeom prst="line">
            <a:avLst/>
          </a:prstGeom>
          <a:ln w="7937" cap="rnd">
            <a:solidFill>
              <a:srgbClr val="C4D3EB"/>
            </a:solidFill>
            <a:prstDash val="dash"/>
            <a:round/>
            <a:headEnd type="triangle" w="med" len="med"/>
            <a:tailEnd type="triangle" w="med" len="med"/>
          </a:ln>
          <a:effectLst/>
        </p:spPr>
        <p:style>
          <a:lnRef idx="2">
            <a:schemeClr val="accent1"/>
          </a:lnRef>
          <a:fillRef idx="0">
            <a:schemeClr val="accent1"/>
          </a:fillRef>
          <a:effectRef idx="0">
            <a:schemeClr val="accent1"/>
          </a:effectRef>
          <a:fontRef idx="minor">
            <a:schemeClr val="tx1"/>
          </a:fontRef>
        </p:style>
      </p:cxnSp>
      <p:sp>
        <p:nvSpPr>
          <p:cNvPr id="57" name="Rounded Rectangle 56"/>
          <p:cNvSpPr/>
          <p:nvPr/>
        </p:nvSpPr>
        <p:spPr>
          <a:xfrm>
            <a:off x="1153976" y="3883825"/>
            <a:ext cx="1407609" cy="565718"/>
          </a:xfrm>
          <a:prstGeom prst="roundRect">
            <a:avLst>
              <a:gd name="adj" fmla="val 1754"/>
            </a:avLst>
          </a:prstGeom>
          <a:solidFill>
            <a:srgbClr val="0D1D2D"/>
          </a:solidFill>
          <a:ln w="7937" cap="rnd">
            <a:solidFill>
              <a:srgbClr val="B4C9E4"/>
            </a:solidFill>
            <a:prstDash val="dash"/>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ln w="76200">
                <a:solidFill>
                  <a:schemeClr val="tx1"/>
                </a:solidFill>
              </a:ln>
            </a:endParaRPr>
          </a:p>
        </p:txBody>
      </p:sp>
      <p:sp>
        <p:nvSpPr>
          <p:cNvPr id="58" name="icon monitor"/>
          <p:cNvSpPr/>
          <p:nvPr/>
        </p:nvSpPr>
        <p:spPr>
          <a:xfrm>
            <a:off x="1208711" y="3976308"/>
            <a:ext cx="411743" cy="411743"/>
          </a:xfrm>
          <a:custGeom>
            <a:avLst/>
            <a:gdLst/>
            <a:ahLst/>
            <a:cxnLst/>
            <a:rect l="0" t="0" r="0" b="0"/>
            <a:pathLst>
              <a:path w="100000" h="100000" fill="none">
                <a:moveTo>
                  <a:pt x="16667" y="12500"/>
                </a:moveTo>
                <a:lnTo>
                  <a:pt x="83333" y="12500"/>
                </a:lnTo>
                <a:cubicBezTo>
                  <a:pt x="84796" y="12500"/>
                  <a:pt x="86233" y="12885"/>
                  <a:pt x="87500" y="13616"/>
                </a:cubicBezTo>
                <a:cubicBezTo>
                  <a:pt x="88767" y="14348"/>
                  <a:pt x="89819" y="15400"/>
                  <a:pt x="90550" y="16667"/>
                </a:cubicBezTo>
                <a:cubicBezTo>
                  <a:pt x="91282" y="17933"/>
                  <a:pt x="91667" y="19371"/>
                  <a:pt x="91667" y="20833"/>
                </a:cubicBezTo>
                <a:lnTo>
                  <a:pt x="91667" y="62500"/>
                </a:lnTo>
                <a:cubicBezTo>
                  <a:pt x="91667" y="63963"/>
                  <a:pt x="91282" y="65400"/>
                  <a:pt x="90550" y="66667"/>
                </a:cubicBezTo>
                <a:cubicBezTo>
                  <a:pt x="89819" y="67933"/>
                  <a:pt x="88767" y="68986"/>
                  <a:pt x="87500" y="69717"/>
                </a:cubicBezTo>
                <a:cubicBezTo>
                  <a:pt x="86233" y="70448"/>
                  <a:pt x="84796" y="70833"/>
                  <a:pt x="83333" y="70833"/>
                </a:cubicBezTo>
                <a:lnTo>
                  <a:pt x="16667" y="70833"/>
                </a:lnTo>
                <a:cubicBezTo>
                  <a:pt x="15204" y="70833"/>
                  <a:pt x="13767" y="70448"/>
                  <a:pt x="12500" y="69717"/>
                </a:cubicBezTo>
                <a:cubicBezTo>
                  <a:pt x="11233" y="68986"/>
                  <a:pt x="10181" y="67933"/>
                  <a:pt x="9450" y="66667"/>
                </a:cubicBezTo>
                <a:cubicBezTo>
                  <a:pt x="8718" y="65400"/>
                  <a:pt x="8333" y="63963"/>
                  <a:pt x="8333" y="62500"/>
                </a:cubicBezTo>
                <a:lnTo>
                  <a:pt x="8333" y="20833"/>
                </a:lnTo>
                <a:cubicBezTo>
                  <a:pt x="8333" y="19371"/>
                  <a:pt x="8718" y="17933"/>
                  <a:pt x="9450" y="16667"/>
                </a:cubicBezTo>
                <a:cubicBezTo>
                  <a:pt x="10181" y="15400"/>
                  <a:pt x="11233" y="14348"/>
                  <a:pt x="12500" y="13616"/>
                </a:cubicBezTo>
                <a:cubicBezTo>
                  <a:pt x="13767" y="12885"/>
                  <a:pt x="15204" y="12500"/>
                  <a:pt x="16667" y="12500"/>
                </a:cubicBezTo>
                <a:close/>
                <a:moveTo>
                  <a:pt x="33333" y="87500"/>
                </a:moveTo>
                <a:lnTo>
                  <a:pt x="66667" y="87500"/>
                </a:lnTo>
                <a:moveTo>
                  <a:pt x="50000" y="70833"/>
                </a:moveTo>
                <a:lnTo>
                  <a:pt x="50000" y="87500"/>
                </a:lnTo>
              </a:path>
            </a:pathLst>
          </a:custGeom>
          <a:noFill/>
          <a:ln w="24450" cap="rnd">
            <a:solidFill>
              <a:srgbClr val="F6F7FF"/>
            </a:solidFill>
            <a:round/>
          </a:ln>
        </p:spPr>
        <p:txBody>
          <a:bodyPr/>
          <a:lstStyle/>
          <a:p>
            <a:endParaRPr/>
          </a:p>
        </p:txBody>
      </p:sp>
      <p:sp>
        <p:nvSpPr>
          <p:cNvPr id="59" name="TextBox 58"/>
          <p:cNvSpPr txBox="1"/>
          <p:nvPr/>
        </p:nvSpPr>
        <p:spPr>
          <a:xfrm>
            <a:off x="1655995" y="4076895"/>
            <a:ext cx="890680" cy="307777"/>
          </a:xfrm>
          <a:prstGeom prst="rect">
            <a:avLst/>
          </a:prstGeom>
          <a:noFill/>
        </p:spPr>
        <p:txBody>
          <a:bodyPr wrap="square" lIns="0" tIns="0" rIns="0" bIns="0" anchor="t">
            <a:spAutoFit/>
          </a:bodyPr>
          <a:lstStyle/>
          <a:p>
            <a:pPr algn="ctr">
              <a:lnSpc>
                <a:spcPts val="753"/>
              </a:lnSpc>
            </a:pPr>
            <a:r>
              <a:rPr sz="759" b="1" dirty="0">
                <a:solidFill>
                  <a:srgbClr val="FFBA51"/>
                </a:solidFill>
                <a:latin typeface="Arial"/>
              </a:rPr>
              <a:t>Optional: External</a:t>
            </a:r>
          </a:p>
          <a:p>
            <a:pPr algn="ctr">
              <a:lnSpc>
                <a:spcPts val="753"/>
              </a:lnSpc>
            </a:pPr>
            <a:r>
              <a:rPr sz="759" b="1" dirty="0">
                <a:solidFill>
                  <a:srgbClr val="FFBA51"/>
                </a:solidFill>
                <a:latin typeface="Arial"/>
              </a:rPr>
              <a:t>REST Clients</a:t>
            </a:r>
          </a:p>
          <a:p>
            <a:pPr algn="ctr">
              <a:lnSpc>
                <a:spcPts val="753"/>
              </a:lnSpc>
            </a:pPr>
            <a:r>
              <a:rPr sz="759" dirty="0">
                <a:solidFill>
                  <a:srgbClr val="D8E3F4"/>
                </a:solidFill>
                <a:latin typeface="Arial"/>
              </a:rPr>
              <a:t>(Legacy systems)</a:t>
            </a:r>
          </a:p>
        </p:txBody>
      </p:sp>
      <p:cxnSp>
        <p:nvCxnSpPr>
          <p:cNvPr id="60" name="Connector 59"/>
          <p:cNvCxnSpPr>
            <a:stCxn id="57" idx="3"/>
            <a:endCxn id="62" idx="1"/>
          </p:cNvCxnSpPr>
          <p:nvPr/>
        </p:nvCxnSpPr>
        <p:spPr>
          <a:xfrm flipV="1">
            <a:off x="2561585" y="4158740"/>
            <a:ext cx="1083047" cy="7944"/>
          </a:xfrm>
          <a:prstGeom prst="line">
            <a:avLst/>
          </a:prstGeom>
          <a:ln w="15874" cap="rnd">
            <a:solidFill>
              <a:srgbClr val="B56DFF"/>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2618046" y="3968949"/>
            <a:ext cx="725315" cy="153888"/>
          </a:xfrm>
          <a:prstGeom prst="rect">
            <a:avLst/>
          </a:prstGeom>
          <a:noFill/>
        </p:spPr>
        <p:txBody>
          <a:bodyPr wrap="square" lIns="0" tIns="0" rIns="0" bIns="0" anchor="t">
            <a:spAutoFit/>
          </a:bodyPr>
          <a:lstStyle/>
          <a:p>
            <a:pPr algn="ctr">
              <a:lnSpc>
                <a:spcPts val="634"/>
              </a:lnSpc>
            </a:pPr>
            <a:r>
              <a:rPr sz="759" b="1" dirty="0">
                <a:solidFill>
                  <a:srgbClr val="B465EB"/>
                </a:solidFill>
                <a:latin typeface="Arial"/>
              </a:rPr>
              <a:t>REST / HTTP</a:t>
            </a:r>
          </a:p>
          <a:p>
            <a:pPr algn="ctr">
              <a:lnSpc>
                <a:spcPts val="634"/>
              </a:lnSpc>
            </a:pPr>
            <a:r>
              <a:rPr sz="759" b="1" dirty="0">
                <a:solidFill>
                  <a:srgbClr val="B465EB"/>
                </a:solidFill>
                <a:latin typeface="Arial"/>
              </a:rPr>
              <a:t>(HTTPS)</a:t>
            </a:r>
          </a:p>
        </p:txBody>
      </p:sp>
      <p:sp>
        <p:nvSpPr>
          <p:cNvPr id="62" name="Rounded Rectangle 61"/>
          <p:cNvSpPr/>
          <p:nvPr/>
        </p:nvSpPr>
        <p:spPr>
          <a:xfrm>
            <a:off x="3644632" y="3850685"/>
            <a:ext cx="756743" cy="616110"/>
          </a:xfrm>
          <a:prstGeom prst="roundRect">
            <a:avLst>
              <a:gd name="adj" fmla="val 5434"/>
            </a:avLst>
          </a:prstGeom>
          <a:solidFill>
            <a:srgbClr val="812DF1"/>
          </a:solidFill>
          <a:ln w="7937" cap="rnd">
            <a:solidFill>
              <a:srgbClr val="A66AFF"/>
            </a:solidFill>
            <a:round/>
          </a:ln>
          <a:effectLst>
            <a:outerShdw blurRad="90000" dist="25400" dir="5400000"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63" name="Picture 62" descr="pic_63.png"/>
          <p:cNvPicPr>
            <a:picLocks noChangeAspect="1"/>
          </p:cNvPicPr>
          <p:nvPr/>
        </p:nvPicPr>
        <p:blipFill>
          <a:blip r:embed="rId6"/>
          <a:stretch>
            <a:fillRect/>
          </a:stretch>
        </p:blipFill>
        <p:spPr>
          <a:xfrm>
            <a:off x="3754996" y="3915779"/>
            <a:ext cx="536015" cy="512711"/>
          </a:xfrm>
          <a:prstGeom prst="rect">
            <a:avLst/>
          </a:prstGeom>
          <a:effectLst/>
        </p:spPr>
      </p:pic>
      <p:sp>
        <p:nvSpPr>
          <p:cNvPr id="64" name="TextBox 63"/>
          <p:cNvSpPr txBox="1"/>
          <p:nvPr/>
        </p:nvSpPr>
        <p:spPr>
          <a:xfrm>
            <a:off x="3445334" y="4502662"/>
            <a:ext cx="1222308" cy="230832"/>
          </a:xfrm>
          <a:prstGeom prst="rect">
            <a:avLst/>
          </a:prstGeom>
          <a:noFill/>
        </p:spPr>
        <p:txBody>
          <a:bodyPr wrap="square" lIns="0" tIns="0" rIns="0" bIns="0" anchor="t">
            <a:spAutoFit/>
          </a:bodyPr>
          <a:lstStyle/>
          <a:p>
            <a:pPr algn="ctr">
              <a:lnSpc>
                <a:spcPts val="895"/>
              </a:lnSpc>
            </a:pPr>
            <a:r>
              <a:rPr sz="759" b="1" dirty="0">
                <a:solidFill>
                  <a:srgbClr val="EEF0FF"/>
                </a:solidFill>
                <a:latin typeface="Arial"/>
              </a:rPr>
              <a:t>Amazon API Gateway</a:t>
            </a:r>
          </a:p>
          <a:p>
            <a:pPr algn="ctr">
              <a:lnSpc>
                <a:spcPts val="895"/>
              </a:lnSpc>
            </a:pPr>
            <a:r>
              <a:rPr sz="759" dirty="0">
                <a:solidFill>
                  <a:srgbClr val="E4E9FC"/>
                </a:solidFill>
                <a:latin typeface="Arial"/>
              </a:rPr>
              <a:t>(Optional - for REST/HTTP)</a:t>
            </a:r>
          </a:p>
        </p:txBody>
      </p:sp>
      <p:cxnSp>
        <p:nvCxnSpPr>
          <p:cNvPr id="65" name="Connector 64"/>
          <p:cNvCxnSpPr>
            <a:stCxn id="62" idx="3"/>
            <a:endCxn id="66" idx="1"/>
          </p:cNvCxnSpPr>
          <p:nvPr/>
        </p:nvCxnSpPr>
        <p:spPr>
          <a:xfrm flipV="1">
            <a:off x="4401375" y="4152043"/>
            <a:ext cx="596019" cy="6697"/>
          </a:xfrm>
          <a:prstGeom prst="line">
            <a:avLst/>
          </a:prstGeom>
          <a:ln w="15874" cap="rnd">
            <a:solidFill>
              <a:srgbClr val="AF68F7"/>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66" name="Rounded Rectangle 65"/>
          <p:cNvSpPr/>
          <p:nvPr/>
        </p:nvSpPr>
        <p:spPr>
          <a:xfrm>
            <a:off x="4997394" y="3857382"/>
            <a:ext cx="596019" cy="589322"/>
          </a:xfrm>
          <a:prstGeom prst="roundRect">
            <a:avLst>
              <a:gd name="adj" fmla="val 5681"/>
            </a:avLst>
          </a:prstGeom>
          <a:solidFill>
            <a:srgbClr val="E76414"/>
          </a:solidFill>
          <a:ln w="7937" cap="rnd">
            <a:solidFill>
              <a:srgbClr val="FFB64A"/>
            </a:solidFill>
            <a:round/>
          </a:ln>
          <a:effectLst>
            <a:outerShdw blurRad="90000" dist="25400" dir="5400000"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67" name="Picture 66" descr="pic_67.png"/>
          <p:cNvPicPr>
            <a:picLocks noChangeAspect="1"/>
          </p:cNvPicPr>
          <p:nvPr/>
        </p:nvPicPr>
        <p:blipFill>
          <a:blip r:embed="rId7"/>
          <a:stretch>
            <a:fillRect/>
          </a:stretch>
        </p:blipFill>
        <p:spPr>
          <a:xfrm>
            <a:off x="5072398" y="3906135"/>
            <a:ext cx="466100" cy="458332"/>
          </a:xfrm>
          <a:prstGeom prst="rect">
            <a:avLst/>
          </a:prstGeom>
          <a:effectLst/>
        </p:spPr>
      </p:pic>
      <p:sp>
        <p:nvSpPr>
          <p:cNvPr id="68" name="TextBox 67"/>
          <p:cNvSpPr txBox="1"/>
          <p:nvPr/>
        </p:nvSpPr>
        <p:spPr>
          <a:xfrm>
            <a:off x="4838410" y="4495014"/>
            <a:ext cx="963007" cy="461665"/>
          </a:xfrm>
          <a:prstGeom prst="rect">
            <a:avLst/>
          </a:prstGeom>
          <a:noFill/>
        </p:spPr>
        <p:txBody>
          <a:bodyPr wrap="square" lIns="0" tIns="0" rIns="0" bIns="0" anchor="t">
            <a:spAutoFit/>
          </a:bodyPr>
          <a:lstStyle/>
          <a:p>
            <a:pPr algn="ctr">
              <a:lnSpc>
                <a:spcPts val="860"/>
              </a:lnSpc>
            </a:pPr>
            <a:r>
              <a:rPr sz="759" b="1" dirty="0">
                <a:solidFill>
                  <a:srgbClr val="FFF6EB"/>
                </a:solidFill>
                <a:latin typeface="Arial"/>
              </a:rPr>
              <a:t>Lambda</a:t>
            </a:r>
          </a:p>
          <a:p>
            <a:pPr algn="ctr">
              <a:lnSpc>
                <a:spcPts val="860"/>
              </a:lnSpc>
            </a:pPr>
            <a:r>
              <a:rPr sz="759" b="1" dirty="0">
                <a:solidFill>
                  <a:srgbClr val="FFF6EB"/>
                </a:solidFill>
                <a:latin typeface="Arial"/>
              </a:rPr>
              <a:t>(REST API Handler)</a:t>
            </a:r>
          </a:p>
          <a:p>
            <a:pPr algn="ctr">
              <a:lnSpc>
                <a:spcPts val="860"/>
              </a:lnSpc>
            </a:pPr>
            <a:r>
              <a:rPr sz="759" dirty="0">
                <a:solidFill>
                  <a:srgbClr val="DCE7F5"/>
                </a:solidFill>
                <a:latin typeface="Arial"/>
              </a:rPr>
              <a:t>For legacy or external</a:t>
            </a:r>
          </a:p>
          <a:p>
            <a:pPr algn="ctr">
              <a:lnSpc>
                <a:spcPts val="860"/>
              </a:lnSpc>
            </a:pPr>
            <a:r>
              <a:rPr sz="759" dirty="0">
                <a:solidFill>
                  <a:srgbClr val="DCE7F5"/>
                </a:solidFill>
                <a:latin typeface="Arial"/>
              </a:rPr>
              <a:t>REST clients only</a:t>
            </a:r>
          </a:p>
        </p:txBody>
      </p:sp>
      <p:sp>
        <p:nvSpPr>
          <p:cNvPr id="69" name="Rounded Rectangle 68"/>
          <p:cNvSpPr/>
          <p:nvPr/>
        </p:nvSpPr>
        <p:spPr>
          <a:xfrm>
            <a:off x="7234139" y="1004527"/>
            <a:ext cx="1392944" cy="803621"/>
          </a:xfrm>
          <a:prstGeom prst="roundRect">
            <a:avLst>
              <a:gd name="adj" fmla="val 5000"/>
            </a:avLst>
          </a:prstGeom>
          <a:solidFill>
            <a:srgbClr val="102B49"/>
          </a:solidFill>
          <a:ln w="7937" cap="rnd">
            <a:solidFill>
              <a:srgbClr val="267CF0"/>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0" name="Rounded Rectangle 69"/>
          <p:cNvSpPr/>
          <p:nvPr/>
        </p:nvSpPr>
        <p:spPr>
          <a:xfrm>
            <a:off x="7730376" y="1031125"/>
            <a:ext cx="427259" cy="427259"/>
          </a:xfrm>
          <a:prstGeom prst="roundRect">
            <a:avLst>
              <a:gd name="adj" fmla="val 7836"/>
            </a:avLst>
          </a:prstGeom>
          <a:solidFill>
            <a:srgbClr val="2548EF"/>
          </a:solidFill>
          <a:ln>
            <a:noFill/>
          </a:ln>
          <a:effectLst>
            <a:outerShdw blurRad="90000" dist="25400" dir="5400000"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71" name="Picture 70" descr="pic_71.png"/>
          <p:cNvPicPr>
            <a:picLocks noChangeAspect="1"/>
          </p:cNvPicPr>
          <p:nvPr/>
        </p:nvPicPr>
        <p:blipFill>
          <a:blip r:embed="rId8"/>
          <a:stretch>
            <a:fillRect/>
          </a:stretch>
        </p:blipFill>
        <p:spPr>
          <a:xfrm>
            <a:off x="7812823" y="1073851"/>
            <a:ext cx="295197" cy="341807"/>
          </a:xfrm>
          <a:prstGeom prst="rect">
            <a:avLst/>
          </a:prstGeom>
          <a:effectLst/>
        </p:spPr>
      </p:pic>
      <p:sp>
        <p:nvSpPr>
          <p:cNvPr id="72" name="TextBox 71"/>
          <p:cNvSpPr txBox="1"/>
          <p:nvPr/>
        </p:nvSpPr>
        <p:spPr>
          <a:xfrm>
            <a:off x="7476330" y="1468236"/>
            <a:ext cx="1034260" cy="205184"/>
          </a:xfrm>
          <a:prstGeom prst="rect">
            <a:avLst/>
          </a:prstGeom>
          <a:noFill/>
        </p:spPr>
        <p:txBody>
          <a:bodyPr wrap="square" lIns="0" tIns="0" rIns="0" bIns="0" anchor="t">
            <a:spAutoFit/>
          </a:bodyPr>
          <a:lstStyle/>
          <a:p>
            <a:pPr algn="ctr">
              <a:lnSpc>
                <a:spcPts val="840"/>
              </a:lnSpc>
            </a:pPr>
            <a:r>
              <a:rPr sz="759" b="1" dirty="0">
                <a:solidFill>
                  <a:srgbClr val="F7FBFF"/>
                </a:solidFill>
                <a:latin typeface="Arial"/>
              </a:rPr>
              <a:t>Amazon </a:t>
            </a:r>
            <a:r>
              <a:rPr sz="759" b="1" dirty="0" err="1">
                <a:solidFill>
                  <a:srgbClr val="F7FBFF"/>
                </a:solidFill>
                <a:latin typeface="Arial"/>
              </a:rPr>
              <a:t>DynamoDB</a:t>
            </a:r>
            <a:endParaRPr sz="759" b="1" dirty="0">
              <a:solidFill>
                <a:srgbClr val="F7FBFF"/>
              </a:solidFill>
              <a:latin typeface="Arial"/>
            </a:endParaRPr>
          </a:p>
          <a:p>
            <a:pPr algn="ctr">
              <a:lnSpc>
                <a:spcPts val="840"/>
              </a:lnSpc>
            </a:pPr>
            <a:r>
              <a:rPr sz="759" dirty="0">
                <a:solidFill>
                  <a:srgbClr val="E5EDFF"/>
                </a:solidFill>
                <a:latin typeface="Arial"/>
              </a:rPr>
              <a:t>(Orders Table)</a:t>
            </a:r>
          </a:p>
        </p:txBody>
      </p:sp>
      <p:sp>
        <p:nvSpPr>
          <p:cNvPr id="73" name="Freeform 72"/>
          <p:cNvSpPr/>
          <p:nvPr/>
        </p:nvSpPr>
        <p:spPr>
          <a:xfrm>
            <a:off x="6303758" y="1453215"/>
            <a:ext cx="930381" cy="506323"/>
          </a:xfrm>
          <a:custGeom>
            <a:avLst/>
            <a:gdLst/>
            <a:ahLst/>
            <a:cxnLst/>
            <a:rect l="l" t="t" r="r" b="b"/>
            <a:pathLst>
              <a:path w="128" h="74">
                <a:moveTo>
                  <a:pt x="0" y="74"/>
                </a:moveTo>
                <a:lnTo>
                  <a:pt x="47" y="74"/>
                </a:lnTo>
                <a:lnTo>
                  <a:pt x="51" y="73"/>
                </a:lnTo>
                <a:lnTo>
                  <a:pt x="54" y="72"/>
                </a:lnTo>
                <a:lnTo>
                  <a:pt x="55" y="69"/>
                </a:lnTo>
                <a:lnTo>
                  <a:pt x="56" y="65"/>
                </a:lnTo>
                <a:lnTo>
                  <a:pt x="56" y="9"/>
                </a:lnTo>
                <a:lnTo>
                  <a:pt x="57" y="5"/>
                </a:lnTo>
                <a:lnTo>
                  <a:pt x="58" y="2"/>
                </a:lnTo>
                <a:lnTo>
                  <a:pt x="61" y="1"/>
                </a:lnTo>
                <a:lnTo>
                  <a:pt x="65" y="0"/>
                </a:lnTo>
                <a:lnTo>
                  <a:pt x="128" y="0"/>
                </a:lnTo>
              </a:path>
            </a:pathLst>
          </a:custGeom>
          <a:noFill/>
          <a:ln w="15874" cap="rnd">
            <a:solidFill>
              <a:srgbClr val="A6D4FF"/>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4" name="Freeform 73"/>
          <p:cNvSpPr/>
          <p:nvPr/>
        </p:nvSpPr>
        <p:spPr>
          <a:xfrm>
            <a:off x="6296581" y="1453216"/>
            <a:ext cx="937558" cy="984436"/>
          </a:xfrm>
          <a:custGeom>
            <a:avLst/>
            <a:gdLst/>
            <a:ahLst/>
            <a:cxnLst/>
            <a:rect l="l" t="t" r="r" b="b"/>
            <a:pathLst>
              <a:path w="140" h="147">
                <a:moveTo>
                  <a:pt x="0" y="147"/>
                </a:moveTo>
                <a:lnTo>
                  <a:pt x="59" y="147"/>
                </a:lnTo>
                <a:lnTo>
                  <a:pt x="63" y="146"/>
                </a:lnTo>
                <a:lnTo>
                  <a:pt x="66" y="145"/>
                </a:lnTo>
                <a:lnTo>
                  <a:pt x="67" y="142"/>
                </a:lnTo>
                <a:lnTo>
                  <a:pt x="68" y="138"/>
                </a:lnTo>
                <a:lnTo>
                  <a:pt x="68" y="9"/>
                </a:lnTo>
                <a:lnTo>
                  <a:pt x="69" y="5"/>
                </a:lnTo>
                <a:lnTo>
                  <a:pt x="70" y="2"/>
                </a:lnTo>
                <a:lnTo>
                  <a:pt x="73" y="1"/>
                </a:lnTo>
                <a:lnTo>
                  <a:pt x="77" y="0"/>
                </a:lnTo>
                <a:lnTo>
                  <a:pt x="140" y="0"/>
                </a:lnTo>
              </a:path>
            </a:pathLst>
          </a:custGeom>
          <a:noFill/>
          <a:ln w="15874" cap="rnd">
            <a:solidFill>
              <a:srgbClr val="A6D4FF"/>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5" name="TextBox 74"/>
          <p:cNvSpPr txBox="1"/>
          <p:nvPr/>
        </p:nvSpPr>
        <p:spPr>
          <a:xfrm>
            <a:off x="6711786" y="1163006"/>
            <a:ext cx="375023" cy="230832"/>
          </a:xfrm>
          <a:prstGeom prst="rect">
            <a:avLst/>
          </a:prstGeom>
          <a:noFill/>
        </p:spPr>
        <p:txBody>
          <a:bodyPr wrap="square" lIns="0" tIns="0" rIns="0" bIns="0" anchor="t">
            <a:spAutoFit/>
          </a:bodyPr>
          <a:lstStyle/>
          <a:p>
            <a:pPr>
              <a:lnSpc>
                <a:spcPts val="874"/>
              </a:lnSpc>
            </a:pPr>
            <a:r>
              <a:rPr sz="759" b="1" dirty="0">
                <a:solidFill>
                  <a:srgbClr val="E8F6FF"/>
                </a:solidFill>
                <a:latin typeface="Arial"/>
              </a:rPr>
              <a:t>Writes</a:t>
            </a:r>
          </a:p>
          <a:p>
            <a:pPr>
              <a:lnSpc>
                <a:spcPts val="874"/>
              </a:lnSpc>
            </a:pPr>
            <a:r>
              <a:rPr sz="759" dirty="0">
                <a:solidFill>
                  <a:srgbClr val="E8F6FF"/>
                </a:solidFill>
                <a:latin typeface="Arial"/>
              </a:rPr>
              <a:t>(Orders)</a:t>
            </a:r>
          </a:p>
        </p:txBody>
      </p:sp>
      <p:sp>
        <p:nvSpPr>
          <p:cNvPr id="76" name="Rounded Rectangle 75"/>
          <p:cNvSpPr/>
          <p:nvPr/>
        </p:nvSpPr>
        <p:spPr>
          <a:xfrm>
            <a:off x="8834685" y="1011224"/>
            <a:ext cx="2183171" cy="636200"/>
          </a:xfrm>
          <a:prstGeom prst="roundRect">
            <a:avLst>
              <a:gd name="adj" fmla="val 5263"/>
            </a:avLst>
          </a:prstGeom>
          <a:solidFill>
            <a:srgbClr val="0C2330"/>
          </a:solidFill>
          <a:ln w="7937" cap="rnd">
            <a:solidFill>
              <a:srgbClr val="9FB6CD"/>
            </a:solidFill>
            <a:prstDash val="dash"/>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ln>
                <a:solidFill>
                  <a:schemeClr val="tx1"/>
                </a:solidFill>
                <a:prstDash val="dash"/>
              </a:ln>
            </a:endParaRPr>
          </a:p>
        </p:txBody>
      </p:sp>
      <p:pic>
        <p:nvPicPr>
          <p:cNvPr id="77" name="Picture 76" descr="pic_77.png"/>
          <p:cNvPicPr>
            <a:picLocks noChangeAspect="1"/>
          </p:cNvPicPr>
          <p:nvPr/>
        </p:nvPicPr>
        <p:blipFill>
          <a:blip r:embed="rId9"/>
          <a:stretch>
            <a:fillRect/>
          </a:stretch>
        </p:blipFill>
        <p:spPr>
          <a:xfrm>
            <a:off x="8905136" y="1096676"/>
            <a:ext cx="435027" cy="411722"/>
          </a:xfrm>
          <a:prstGeom prst="rect">
            <a:avLst/>
          </a:prstGeom>
          <a:effectLst/>
        </p:spPr>
      </p:pic>
      <p:sp>
        <p:nvSpPr>
          <p:cNvPr id="78" name="TextBox 77"/>
          <p:cNvSpPr txBox="1"/>
          <p:nvPr/>
        </p:nvSpPr>
        <p:spPr>
          <a:xfrm>
            <a:off x="9360626" y="1134973"/>
            <a:ext cx="1536152" cy="461665"/>
          </a:xfrm>
          <a:prstGeom prst="rect">
            <a:avLst/>
          </a:prstGeom>
          <a:noFill/>
        </p:spPr>
        <p:txBody>
          <a:bodyPr wrap="square" lIns="0" tIns="0" rIns="0" bIns="0" anchor="t">
            <a:spAutoFit/>
          </a:bodyPr>
          <a:lstStyle/>
          <a:p>
            <a:pPr algn="ctr">
              <a:lnSpc>
                <a:spcPts val="918"/>
              </a:lnSpc>
            </a:pPr>
            <a:r>
              <a:rPr sz="759" b="1" dirty="0">
                <a:solidFill>
                  <a:srgbClr val="FBFBFF"/>
                </a:solidFill>
                <a:latin typeface="Arial"/>
              </a:rPr>
              <a:t>Optional: </a:t>
            </a:r>
            <a:r>
              <a:rPr sz="759" b="1" dirty="0" err="1">
                <a:solidFill>
                  <a:srgbClr val="FBFBFF"/>
                </a:solidFill>
                <a:latin typeface="Arial"/>
              </a:rPr>
              <a:t>DynamoDB</a:t>
            </a:r>
            <a:r>
              <a:rPr sz="759" b="1" dirty="0">
                <a:solidFill>
                  <a:srgbClr val="FBFBFF"/>
                </a:solidFill>
                <a:latin typeface="Arial"/>
              </a:rPr>
              <a:t> Accelerator</a:t>
            </a:r>
            <a:r>
              <a:rPr lang="en-US" sz="759" b="1" dirty="0">
                <a:solidFill>
                  <a:srgbClr val="FBFBFF"/>
                </a:solidFill>
                <a:latin typeface="Arial"/>
              </a:rPr>
              <a:t> </a:t>
            </a:r>
            <a:r>
              <a:rPr sz="759" b="1" dirty="0">
                <a:solidFill>
                  <a:srgbClr val="FBFBFF"/>
                </a:solidFill>
                <a:latin typeface="Arial"/>
              </a:rPr>
              <a:t>(DAX)</a:t>
            </a:r>
          </a:p>
          <a:p>
            <a:pPr algn="ctr">
              <a:lnSpc>
                <a:spcPts val="918"/>
              </a:lnSpc>
            </a:pPr>
            <a:r>
              <a:rPr sz="759" b="1" dirty="0">
                <a:solidFill>
                  <a:srgbClr val="DCE9F4"/>
                </a:solidFill>
                <a:latin typeface="Arial"/>
              </a:rPr>
              <a:t>(</a:t>
            </a:r>
            <a:r>
              <a:rPr sz="759" dirty="0">
                <a:solidFill>
                  <a:srgbClr val="DCE9F4"/>
                </a:solidFill>
                <a:latin typeface="Arial"/>
              </a:rPr>
              <a:t>Only for demonstrated</a:t>
            </a:r>
          </a:p>
          <a:p>
            <a:pPr algn="ctr">
              <a:lnSpc>
                <a:spcPts val="918"/>
              </a:lnSpc>
            </a:pPr>
            <a:r>
              <a:rPr sz="759" dirty="0">
                <a:solidFill>
                  <a:srgbClr val="DCE9F4"/>
                </a:solidFill>
                <a:latin typeface="Arial"/>
              </a:rPr>
              <a:t>read-latency/throughput need)</a:t>
            </a:r>
          </a:p>
        </p:txBody>
      </p:sp>
      <p:cxnSp>
        <p:nvCxnSpPr>
          <p:cNvPr id="79" name="Connector 78"/>
          <p:cNvCxnSpPr/>
          <p:nvPr/>
        </p:nvCxnSpPr>
        <p:spPr>
          <a:xfrm>
            <a:off x="8627083" y="1325975"/>
            <a:ext cx="207602" cy="0"/>
          </a:xfrm>
          <a:prstGeom prst="line">
            <a:avLst/>
          </a:prstGeom>
          <a:ln w="7937" cap="rnd">
            <a:solidFill>
              <a:srgbClr val="B5D7FF"/>
            </a:solidFill>
            <a:prstDash val="dash"/>
            <a:round/>
            <a:headEnd type="triangle" w="med" len="med"/>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a:off x="7883734" y="1816810"/>
            <a:ext cx="6418" cy="135932"/>
          </a:xfrm>
          <a:prstGeom prst="line">
            <a:avLst/>
          </a:prstGeom>
          <a:ln w="15874" cap="rnd">
            <a:solidFill>
              <a:srgbClr val="9EE6CF"/>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7242607" y="1696018"/>
            <a:ext cx="1403210" cy="89768"/>
          </a:xfrm>
          <a:prstGeom prst="rect">
            <a:avLst/>
          </a:prstGeom>
          <a:noFill/>
        </p:spPr>
        <p:txBody>
          <a:bodyPr wrap="square" lIns="0" tIns="0" rIns="0" bIns="0" anchor="t">
            <a:spAutoFit/>
          </a:bodyPr>
          <a:lstStyle/>
          <a:p>
            <a:pPr algn="ctr">
              <a:lnSpc>
                <a:spcPts val="713"/>
              </a:lnSpc>
            </a:pPr>
            <a:r>
              <a:rPr sz="759" dirty="0">
                <a:solidFill>
                  <a:srgbClr val="D1F9E8"/>
                </a:solidFill>
                <a:latin typeface="Arial"/>
              </a:rPr>
              <a:t>INSERT / MODIFY / REMOVE</a:t>
            </a:r>
          </a:p>
        </p:txBody>
      </p:sp>
      <p:sp>
        <p:nvSpPr>
          <p:cNvPr id="84" name="TextBox 83"/>
          <p:cNvSpPr txBox="1"/>
          <p:nvPr/>
        </p:nvSpPr>
        <p:spPr>
          <a:xfrm>
            <a:off x="6958631" y="2783721"/>
            <a:ext cx="1882751" cy="307777"/>
          </a:xfrm>
          <a:prstGeom prst="rect">
            <a:avLst/>
          </a:prstGeom>
          <a:noFill/>
        </p:spPr>
        <p:txBody>
          <a:bodyPr wrap="square" lIns="0" tIns="0" rIns="0" bIns="0" anchor="t">
            <a:spAutoFit/>
          </a:bodyPr>
          <a:lstStyle/>
          <a:p>
            <a:pPr algn="ctr">
              <a:lnSpc>
                <a:spcPts val="806"/>
              </a:lnSpc>
            </a:pPr>
            <a:r>
              <a:rPr sz="770" b="1" dirty="0">
                <a:solidFill>
                  <a:srgbClr val="FFF9EF"/>
                </a:solidFill>
                <a:latin typeface="Arial"/>
              </a:rPr>
              <a:t>Stream Processing Lambda</a:t>
            </a:r>
          </a:p>
          <a:p>
            <a:pPr algn="ctr">
              <a:lnSpc>
                <a:spcPts val="806"/>
              </a:lnSpc>
            </a:pPr>
            <a:r>
              <a:rPr sz="770" dirty="0">
                <a:solidFill>
                  <a:srgbClr val="E2F1F3"/>
                </a:solidFill>
                <a:latin typeface="Arial"/>
              </a:rPr>
              <a:t>(Validate, Transform,</a:t>
            </a:r>
          </a:p>
          <a:p>
            <a:pPr algn="ctr">
              <a:lnSpc>
                <a:spcPts val="806"/>
              </a:lnSpc>
            </a:pPr>
            <a:r>
              <a:rPr sz="770" dirty="0" err="1">
                <a:solidFill>
                  <a:srgbClr val="E2F1F3"/>
                </a:solidFill>
                <a:latin typeface="Arial"/>
              </a:rPr>
              <a:t>Idempotency</a:t>
            </a:r>
            <a:r>
              <a:rPr sz="770" dirty="0">
                <a:solidFill>
                  <a:srgbClr val="E2F1F3"/>
                </a:solidFill>
                <a:latin typeface="Arial"/>
              </a:rPr>
              <a:t>, Enrich)</a:t>
            </a:r>
          </a:p>
        </p:txBody>
      </p:sp>
      <p:cxnSp>
        <p:nvCxnSpPr>
          <p:cNvPr id="85" name="Connector 84"/>
          <p:cNvCxnSpPr/>
          <p:nvPr/>
        </p:nvCxnSpPr>
        <p:spPr>
          <a:xfrm>
            <a:off x="8128169" y="2484529"/>
            <a:ext cx="1615144" cy="0"/>
          </a:xfrm>
          <a:prstGeom prst="line">
            <a:avLst/>
          </a:prstGeom>
          <a:ln w="15874" cap="rnd">
            <a:solidFill>
              <a:srgbClr val="F454AE"/>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8154503" y="2199167"/>
            <a:ext cx="1549433" cy="269304"/>
          </a:xfrm>
          <a:prstGeom prst="rect">
            <a:avLst/>
          </a:prstGeom>
          <a:noFill/>
        </p:spPr>
        <p:txBody>
          <a:bodyPr wrap="square" lIns="0" tIns="0" rIns="0" bIns="0" anchor="t">
            <a:spAutoFit/>
          </a:bodyPr>
          <a:lstStyle/>
          <a:p>
            <a:pPr algn="ctr">
              <a:lnSpc>
                <a:spcPts val="694"/>
              </a:lnSpc>
            </a:pPr>
            <a:r>
              <a:rPr sz="759" b="1" dirty="0">
                <a:solidFill>
                  <a:srgbClr val="FFB5DD"/>
                </a:solidFill>
                <a:latin typeface="Arial"/>
              </a:rPr>
              <a:t>Lambda publishes</a:t>
            </a:r>
            <a:r>
              <a:rPr lang="en-US" sz="759" b="1" dirty="0">
                <a:solidFill>
                  <a:srgbClr val="FFB5DD"/>
                </a:solidFill>
                <a:latin typeface="Arial"/>
              </a:rPr>
              <a:t> </a:t>
            </a:r>
            <a:r>
              <a:rPr sz="759" b="1" dirty="0" err="1">
                <a:solidFill>
                  <a:srgbClr val="FFB5DD"/>
                </a:solidFill>
                <a:latin typeface="Arial"/>
              </a:rPr>
              <a:t>AppSync</a:t>
            </a:r>
            <a:r>
              <a:rPr sz="759" b="1" dirty="0">
                <a:solidFill>
                  <a:srgbClr val="FFB5DD"/>
                </a:solidFill>
                <a:latin typeface="Arial"/>
              </a:rPr>
              <a:t> mutation</a:t>
            </a:r>
          </a:p>
          <a:p>
            <a:pPr algn="ctr">
              <a:lnSpc>
                <a:spcPts val="694"/>
              </a:lnSpc>
            </a:pPr>
            <a:r>
              <a:rPr sz="759" dirty="0">
                <a:solidFill>
                  <a:srgbClr val="FFB5DD"/>
                </a:solidFill>
                <a:latin typeface="Arial"/>
              </a:rPr>
              <a:t>(e.g. </a:t>
            </a:r>
            <a:r>
              <a:rPr sz="759" dirty="0" err="1">
                <a:solidFill>
                  <a:srgbClr val="FFB5DD"/>
                </a:solidFill>
                <a:latin typeface="Arial"/>
              </a:rPr>
              <a:t>publishOrderUpdate</a:t>
            </a:r>
            <a:r>
              <a:rPr sz="759" dirty="0">
                <a:solidFill>
                  <a:srgbClr val="FFB5DD"/>
                </a:solidFill>
                <a:latin typeface="Arial"/>
              </a:rPr>
              <a:t>)</a:t>
            </a:r>
          </a:p>
        </p:txBody>
      </p:sp>
      <p:pic>
        <p:nvPicPr>
          <p:cNvPr id="87" name="Picture 86" descr="pic_87.png"/>
          <p:cNvPicPr>
            <a:picLocks noChangeAspect="1"/>
          </p:cNvPicPr>
          <p:nvPr/>
        </p:nvPicPr>
        <p:blipFill>
          <a:blip r:embed="rId10"/>
          <a:stretch>
            <a:fillRect/>
          </a:stretch>
        </p:blipFill>
        <p:spPr>
          <a:xfrm>
            <a:off x="9804656" y="2236211"/>
            <a:ext cx="403954" cy="396185"/>
          </a:xfrm>
          <a:prstGeom prst="rect">
            <a:avLst/>
          </a:prstGeom>
          <a:effectLst/>
        </p:spPr>
      </p:pic>
      <p:cxnSp>
        <p:nvCxnSpPr>
          <p:cNvPr id="88" name="Connector 87"/>
          <p:cNvCxnSpPr/>
          <p:nvPr/>
        </p:nvCxnSpPr>
        <p:spPr>
          <a:xfrm>
            <a:off x="9986542" y="2705525"/>
            <a:ext cx="0" cy="683078"/>
          </a:xfrm>
          <a:prstGeom prst="line">
            <a:avLst/>
          </a:prstGeom>
          <a:ln w="15874" cap="rnd">
            <a:solidFill>
              <a:srgbClr val="8AF5A8"/>
            </a:solidFill>
            <a:prstDash val="dash"/>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89" name="TextBox 88"/>
          <p:cNvSpPr txBox="1"/>
          <p:nvPr/>
        </p:nvSpPr>
        <p:spPr>
          <a:xfrm>
            <a:off x="10093692" y="2792675"/>
            <a:ext cx="990865" cy="461665"/>
          </a:xfrm>
          <a:prstGeom prst="rect">
            <a:avLst/>
          </a:prstGeom>
          <a:noFill/>
        </p:spPr>
        <p:txBody>
          <a:bodyPr wrap="square" lIns="0" tIns="0" rIns="0" bIns="0" anchor="t">
            <a:spAutoFit/>
          </a:bodyPr>
          <a:lstStyle/>
          <a:p>
            <a:pPr algn="ctr">
              <a:lnSpc>
                <a:spcPts val="862"/>
              </a:lnSpc>
            </a:pPr>
            <a:r>
              <a:rPr sz="759" b="1" dirty="0" err="1">
                <a:solidFill>
                  <a:srgbClr val="A8E9C5"/>
                </a:solidFill>
                <a:latin typeface="Arial"/>
              </a:rPr>
              <a:t>GraphQL</a:t>
            </a:r>
            <a:r>
              <a:rPr sz="759" b="1" dirty="0">
                <a:solidFill>
                  <a:srgbClr val="A8E9C5"/>
                </a:solidFill>
                <a:latin typeface="Arial"/>
              </a:rPr>
              <a:t> Subscriptions</a:t>
            </a:r>
          </a:p>
          <a:p>
            <a:pPr algn="ctr">
              <a:lnSpc>
                <a:spcPts val="862"/>
              </a:lnSpc>
            </a:pPr>
            <a:r>
              <a:rPr sz="759" dirty="0">
                <a:solidFill>
                  <a:srgbClr val="A8E9C5"/>
                </a:solidFill>
                <a:latin typeface="Arial"/>
              </a:rPr>
              <a:t>(Real-time updates</a:t>
            </a:r>
          </a:p>
          <a:p>
            <a:pPr algn="ctr">
              <a:lnSpc>
                <a:spcPts val="862"/>
              </a:lnSpc>
            </a:pPr>
            <a:r>
              <a:rPr sz="759" dirty="0">
                <a:solidFill>
                  <a:srgbClr val="A8E9C5"/>
                </a:solidFill>
                <a:latin typeface="Arial"/>
              </a:rPr>
              <a:t>to connected clients)</a:t>
            </a:r>
          </a:p>
        </p:txBody>
      </p:sp>
      <p:cxnSp>
        <p:nvCxnSpPr>
          <p:cNvPr id="90" name="Connector 89"/>
          <p:cNvCxnSpPr/>
          <p:nvPr/>
        </p:nvCxnSpPr>
        <p:spPr>
          <a:xfrm>
            <a:off x="7859109" y="3136972"/>
            <a:ext cx="0" cy="267200"/>
          </a:xfrm>
          <a:prstGeom prst="line">
            <a:avLst/>
          </a:prstGeom>
          <a:ln w="15874" cap="rnd">
            <a:solidFill>
              <a:srgbClr val="9BE8D2"/>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6598546" y="3172052"/>
            <a:ext cx="1236773" cy="307777"/>
          </a:xfrm>
          <a:prstGeom prst="rect">
            <a:avLst/>
          </a:prstGeom>
          <a:noFill/>
        </p:spPr>
        <p:txBody>
          <a:bodyPr wrap="square" lIns="0" tIns="0" rIns="0" bIns="0" anchor="t">
            <a:spAutoFit/>
          </a:bodyPr>
          <a:lstStyle/>
          <a:p>
            <a:pPr algn="ctr">
              <a:lnSpc>
                <a:spcPts val="761"/>
              </a:lnSpc>
            </a:pPr>
            <a:r>
              <a:rPr sz="759" dirty="0">
                <a:solidFill>
                  <a:srgbClr val="E1FFF5"/>
                </a:solidFill>
                <a:latin typeface="Arial"/>
              </a:rPr>
              <a:t>Publish domain events</a:t>
            </a:r>
          </a:p>
          <a:p>
            <a:pPr algn="ctr">
              <a:lnSpc>
                <a:spcPts val="761"/>
              </a:lnSpc>
            </a:pPr>
            <a:r>
              <a:rPr sz="759" dirty="0">
                <a:solidFill>
                  <a:srgbClr val="D2F4E7"/>
                </a:solidFill>
                <a:latin typeface="Arial"/>
              </a:rPr>
              <a:t>(</a:t>
            </a:r>
            <a:r>
              <a:rPr sz="759" dirty="0" err="1">
                <a:solidFill>
                  <a:srgbClr val="D2F4E7"/>
                </a:solidFill>
                <a:latin typeface="Arial"/>
              </a:rPr>
              <a:t>OrderCreated</a:t>
            </a:r>
            <a:r>
              <a:rPr sz="759" dirty="0">
                <a:solidFill>
                  <a:srgbClr val="D2F4E7"/>
                </a:solidFill>
                <a:latin typeface="Arial"/>
              </a:rPr>
              <a:t>/Updated/Deleted)</a:t>
            </a:r>
          </a:p>
        </p:txBody>
      </p:sp>
      <p:sp>
        <p:nvSpPr>
          <p:cNvPr id="92" name="Rounded Rectangle 91"/>
          <p:cNvSpPr/>
          <p:nvPr/>
        </p:nvSpPr>
        <p:spPr>
          <a:xfrm>
            <a:off x="7615692" y="3395133"/>
            <a:ext cx="475811" cy="475811"/>
          </a:xfrm>
          <a:prstGeom prst="roundRect">
            <a:avLst>
              <a:gd name="adj" fmla="val 7037"/>
            </a:avLst>
          </a:prstGeom>
          <a:solidFill>
            <a:srgbClr val="DC1461"/>
          </a:solidFill>
          <a:ln w="7937" cap="rnd">
            <a:solidFill>
              <a:srgbClr val="FF5592"/>
            </a:solidFill>
            <a:round/>
          </a:ln>
          <a:effectLst>
            <a:outerShdw blurRad="90000" dist="25400" dir="5400000"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93" name="Picture 92" descr="pic_93.png"/>
          <p:cNvPicPr>
            <a:picLocks noChangeAspect="1"/>
          </p:cNvPicPr>
          <p:nvPr/>
        </p:nvPicPr>
        <p:blipFill>
          <a:blip r:embed="rId11"/>
          <a:stretch>
            <a:fillRect/>
          </a:stretch>
        </p:blipFill>
        <p:spPr>
          <a:xfrm>
            <a:off x="7663273" y="3458251"/>
            <a:ext cx="380649" cy="349575"/>
          </a:xfrm>
          <a:prstGeom prst="rect">
            <a:avLst/>
          </a:prstGeom>
          <a:effectLst/>
        </p:spPr>
      </p:pic>
      <p:sp>
        <p:nvSpPr>
          <p:cNvPr id="94" name="TextBox 93"/>
          <p:cNvSpPr txBox="1"/>
          <p:nvPr/>
        </p:nvSpPr>
        <p:spPr>
          <a:xfrm>
            <a:off x="8124550" y="3517426"/>
            <a:ext cx="752190" cy="230832"/>
          </a:xfrm>
          <a:prstGeom prst="rect">
            <a:avLst/>
          </a:prstGeom>
          <a:noFill/>
        </p:spPr>
        <p:txBody>
          <a:bodyPr wrap="square" lIns="0" tIns="0" rIns="0" bIns="0" anchor="t">
            <a:spAutoFit/>
          </a:bodyPr>
          <a:lstStyle/>
          <a:p>
            <a:pPr>
              <a:lnSpc>
                <a:spcPts val="895"/>
              </a:lnSpc>
            </a:pPr>
            <a:r>
              <a:rPr sz="759" b="1" dirty="0">
                <a:solidFill>
                  <a:srgbClr val="FDF5FB"/>
                </a:solidFill>
                <a:latin typeface="Arial"/>
              </a:rPr>
              <a:t>Amazon SNS</a:t>
            </a:r>
          </a:p>
          <a:p>
            <a:pPr>
              <a:lnSpc>
                <a:spcPts val="895"/>
              </a:lnSpc>
            </a:pPr>
            <a:r>
              <a:rPr sz="759" dirty="0">
                <a:solidFill>
                  <a:srgbClr val="DBEEF5"/>
                </a:solidFill>
                <a:latin typeface="Arial"/>
              </a:rPr>
              <a:t>(Topic - Fan-out)</a:t>
            </a:r>
          </a:p>
        </p:txBody>
      </p:sp>
      <p:cxnSp>
        <p:nvCxnSpPr>
          <p:cNvPr id="95" name="Connector 94"/>
          <p:cNvCxnSpPr/>
          <p:nvPr/>
        </p:nvCxnSpPr>
        <p:spPr>
          <a:xfrm flipV="1">
            <a:off x="8863323" y="3649780"/>
            <a:ext cx="446815" cy="3495"/>
          </a:xfrm>
          <a:prstGeom prst="line">
            <a:avLst/>
          </a:prstGeom>
          <a:ln w="7937" cap="rnd">
            <a:solidFill>
              <a:srgbClr val="B8D8EB"/>
            </a:solidFill>
            <a:prstDash val="dash"/>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96" name="Rounded Rectangle 95"/>
          <p:cNvSpPr/>
          <p:nvPr/>
        </p:nvSpPr>
        <p:spPr>
          <a:xfrm>
            <a:off x="9323555" y="3381906"/>
            <a:ext cx="1613939" cy="529051"/>
          </a:xfrm>
          <a:prstGeom prst="roundRect">
            <a:avLst>
              <a:gd name="adj" fmla="val 6329"/>
            </a:avLst>
          </a:prstGeom>
          <a:solidFill>
            <a:srgbClr val="071B23"/>
          </a:solidFill>
          <a:ln w="7937" cap="rnd">
            <a:solidFill>
              <a:srgbClr val="9DB5C4"/>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7" name="Rounded Rectangle 96"/>
          <p:cNvSpPr/>
          <p:nvPr/>
        </p:nvSpPr>
        <p:spPr>
          <a:xfrm>
            <a:off x="9431375" y="3436151"/>
            <a:ext cx="427259" cy="427259"/>
          </a:xfrm>
          <a:prstGeom prst="roundRect">
            <a:avLst>
              <a:gd name="adj" fmla="val 6269"/>
            </a:avLst>
          </a:prstGeom>
          <a:solidFill>
            <a:srgbClr val="D3126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98" name="Picture 97" descr="pic_98.png"/>
          <p:cNvPicPr>
            <a:picLocks noChangeAspect="1"/>
          </p:cNvPicPr>
          <p:nvPr/>
        </p:nvPicPr>
        <p:blipFill>
          <a:blip r:embed="rId12"/>
          <a:stretch>
            <a:fillRect/>
          </a:stretch>
        </p:blipFill>
        <p:spPr>
          <a:xfrm>
            <a:off x="9474100" y="3478876"/>
            <a:ext cx="341807" cy="341807"/>
          </a:xfrm>
          <a:prstGeom prst="rect">
            <a:avLst/>
          </a:prstGeom>
          <a:effectLst/>
        </p:spPr>
      </p:pic>
      <p:sp>
        <p:nvSpPr>
          <p:cNvPr id="99" name="TextBox 98"/>
          <p:cNvSpPr txBox="1"/>
          <p:nvPr/>
        </p:nvSpPr>
        <p:spPr>
          <a:xfrm>
            <a:off x="9875232" y="3458452"/>
            <a:ext cx="1028099" cy="384721"/>
          </a:xfrm>
          <a:prstGeom prst="rect">
            <a:avLst/>
          </a:prstGeom>
          <a:noFill/>
        </p:spPr>
        <p:txBody>
          <a:bodyPr wrap="square" lIns="0" tIns="0" rIns="0" bIns="0" anchor="t">
            <a:spAutoFit/>
          </a:bodyPr>
          <a:lstStyle/>
          <a:p>
            <a:pPr algn="ctr">
              <a:lnSpc>
                <a:spcPts val="996"/>
              </a:lnSpc>
            </a:pPr>
            <a:r>
              <a:rPr sz="759" b="1" dirty="0">
                <a:solidFill>
                  <a:srgbClr val="F8FBFF"/>
                </a:solidFill>
                <a:latin typeface="Arial"/>
              </a:rPr>
              <a:t>Amazon </a:t>
            </a:r>
            <a:r>
              <a:rPr sz="759" b="1" dirty="0" err="1">
                <a:solidFill>
                  <a:srgbClr val="F8FBFF"/>
                </a:solidFill>
                <a:latin typeface="Arial"/>
              </a:rPr>
              <a:t>EventBridge</a:t>
            </a:r>
            <a:endParaRPr sz="759" b="1" dirty="0">
              <a:solidFill>
                <a:srgbClr val="F8FBFF"/>
              </a:solidFill>
              <a:latin typeface="Arial"/>
            </a:endParaRPr>
          </a:p>
          <a:p>
            <a:pPr algn="ctr">
              <a:lnSpc>
                <a:spcPts val="996"/>
              </a:lnSpc>
            </a:pPr>
            <a:r>
              <a:rPr sz="759" dirty="0">
                <a:solidFill>
                  <a:srgbClr val="D8EDF1"/>
                </a:solidFill>
                <a:latin typeface="Arial"/>
              </a:rPr>
              <a:t>(Optional - additional</a:t>
            </a:r>
          </a:p>
          <a:p>
            <a:pPr algn="ctr">
              <a:lnSpc>
                <a:spcPts val="996"/>
              </a:lnSpc>
            </a:pPr>
            <a:r>
              <a:rPr sz="759" dirty="0">
                <a:solidFill>
                  <a:srgbClr val="D8EDF1"/>
                </a:solidFill>
                <a:latin typeface="Arial"/>
              </a:rPr>
              <a:t>event routing)</a:t>
            </a:r>
          </a:p>
        </p:txBody>
      </p:sp>
      <p:sp>
        <p:nvSpPr>
          <p:cNvPr id="100" name="Freeform 99"/>
          <p:cNvSpPr/>
          <p:nvPr/>
        </p:nvSpPr>
        <p:spPr>
          <a:xfrm>
            <a:off x="7080112" y="3836560"/>
            <a:ext cx="763440" cy="341539"/>
          </a:xfrm>
          <a:custGeom>
            <a:avLst/>
            <a:gdLst/>
            <a:ahLst/>
            <a:cxnLst/>
            <a:rect l="l" t="t" r="r" b="b"/>
            <a:pathLst>
              <a:path w="114" h="51">
                <a:moveTo>
                  <a:pt x="114" y="0"/>
                </a:moveTo>
                <a:lnTo>
                  <a:pt x="114" y="15"/>
                </a:lnTo>
                <a:lnTo>
                  <a:pt x="113" y="19"/>
                </a:lnTo>
                <a:lnTo>
                  <a:pt x="112" y="22"/>
                </a:lnTo>
                <a:lnTo>
                  <a:pt x="109" y="23"/>
                </a:lnTo>
                <a:lnTo>
                  <a:pt x="105" y="24"/>
                </a:lnTo>
                <a:lnTo>
                  <a:pt x="9" y="24"/>
                </a:lnTo>
                <a:lnTo>
                  <a:pt x="5" y="25"/>
                </a:lnTo>
                <a:lnTo>
                  <a:pt x="2" y="26"/>
                </a:lnTo>
                <a:lnTo>
                  <a:pt x="1" y="29"/>
                </a:lnTo>
                <a:lnTo>
                  <a:pt x="0" y="33"/>
                </a:lnTo>
                <a:lnTo>
                  <a:pt x="0" y="51"/>
                </a:lnTo>
              </a:path>
            </a:pathLst>
          </a:custGeom>
          <a:noFill/>
          <a:ln w="15874" cap="rnd">
            <a:solidFill>
              <a:srgbClr val="FB72B4"/>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1" name="Rectangle 100"/>
          <p:cNvSpPr/>
          <p:nvPr/>
        </p:nvSpPr>
        <p:spPr>
          <a:xfrm>
            <a:off x="8031064" y="4172134"/>
            <a:ext cx="1473306" cy="1151857"/>
          </a:xfrm>
          <a:prstGeom prst="rect">
            <a:avLst/>
          </a:prstGeom>
          <a:solidFill>
            <a:srgbClr val="0C2530"/>
          </a:solidFill>
          <a:ln w="7937" cap="rnd">
            <a:solidFill>
              <a:srgbClr val="375A6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2" name="Freeform 101"/>
          <p:cNvSpPr/>
          <p:nvPr/>
        </p:nvSpPr>
        <p:spPr>
          <a:xfrm>
            <a:off x="7850249" y="3830595"/>
            <a:ext cx="683078" cy="341539"/>
          </a:xfrm>
          <a:custGeom>
            <a:avLst/>
            <a:gdLst/>
            <a:ahLst/>
            <a:cxnLst/>
            <a:rect l="l" t="t" r="r" b="b"/>
            <a:pathLst>
              <a:path w="102" h="51">
                <a:moveTo>
                  <a:pt x="0" y="0"/>
                </a:moveTo>
                <a:lnTo>
                  <a:pt x="0" y="15"/>
                </a:lnTo>
                <a:lnTo>
                  <a:pt x="1" y="19"/>
                </a:lnTo>
                <a:lnTo>
                  <a:pt x="2" y="22"/>
                </a:lnTo>
                <a:lnTo>
                  <a:pt x="5" y="23"/>
                </a:lnTo>
                <a:lnTo>
                  <a:pt x="9" y="24"/>
                </a:lnTo>
                <a:lnTo>
                  <a:pt x="93" y="24"/>
                </a:lnTo>
                <a:lnTo>
                  <a:pt x="97" y="25"/>
                </a:lnTo>
                <a:lnTo>
                  <a:pt x="100" y="26"/>
                </a:lnTo>
                <a:lnTo>
                  <a:pt x="101" y="29"/>
                </a:lnTo>
                <a:lnTo>
                  <a:pt x="102" y="33"/>
                </a:lnTo>
                <a:lnTo>
                  <a:pt x="102" y="51"/>
                </a:lnTo>
              </a:path>
            </a:pathLst>
          </a:custGeom>
          <a:noFill/>
          <a:ln w="15874" cap="rnd">
            <a:solidFill>
              <a:srgbClr val="FB72B4"/>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Freeform 102"/>
          <p:cNvSpPr/>
          <p:nvPr/>
        </p:nvSpPr>
        <p:spPr>
          <a:xfrm>
            <a:off x="7845068" y="3830595"/>
            <a:ext cx="2230049" cy="341539"/>
          </a:xfrm>
          <a:custGeom>
            <a:avLst/>
            <a:gdLst/>
            <a:ahLst/>
            <a:cxnLst/>
            <a:rect l="l" t="t" r="r" b="b"/>
            <a:pathLst>
              <a:path w="333" h="51">
                <a:moveTo>
                  <a:pt x="0" y="0"/>
                </a:moveTo>
                <a:lnTo>
                  <a:pt x="0" y="15"/>
                </a:lnTo>
                <a:lnTo>
                  <a:pt x="1" y="19"/>
                </a:lnTo>
                <a:lnTo>
                  <a:pt x="2" y="22"/>
                </a:lnTo>
                <a:lnTo>
                  <a:pt x="5" y="23"/>
                </a:lnTo>
                <a:lnTo>
                  <a:pt x="9" y="24"/>
                </a:lnTo>
                <a:lnTo>
                  <a:pt x="324" y="24"/>
                </a:lnTo>
                <a:lnTo>
                  <a:pt x="328" y="25"/>
                </a:lnTo>
                <a:lnTo>
                  <a:pt x="331" y="26"/>
                </a:lnTo>
                <a:lnTo>
                  <a:pt x="332" y="29"/>
                </a:lnTo>
                <a:lnTo>
                  <a:pt x="333" y="33"/>
                </a:lnTo>
                <a:lnTo>
                  <a:pt x="333" y="51"/>
                </a:lnTo>
              </a:path>
            </a:pathLst>
          </a:custGeom>
          <a:noFill/>
          <a:ln w="15874" cap="rnd">
            <a:solidFill>
              <a:srgbClr val="FB72B4"/>
            </a:solidFill>
            <a:round/>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4" name="Rectangle 103"/>
          <p:cNvSpPr/>
          <p:nvPr/>
        </p:nvSpPr>
        <p:spPr>
          <a:xfrm>
            <a:off x="6604636" y="4172134"/>
            <a:ext cx="1366156" cy="1151857"/>
          </a:xfrm>
          <a:prstGeom prst="rect">
            <a:avLst/>
          </a:prstGeom>
          <a:solidFill>
            <a:srgbClr val="0C2530"/>
          </a:solidFill>
          <a:ln w="7937" cap="rnd">
            <a:solidFill>
              <a:srgbClr val="375A6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Rectangle 104"/>
          <p:cNvSpPr/>
          <p:nvPr/>
        </p:nvSpPr>
        <p:spPr>
          <a:xfrm>
            <a:off x="9564642" y="4172134"/>
            <a:ext cx="1480002" cy="1151857"/>
          </a:xfrm>
          <a:prstGeom prst="rect">
            <a:avLst/>
          </a:prstGeom>
          <a:solidFill>
            <a:srgbClr val="061D23"/>
          </a:solidFill>
          <a:ln w="7937" cap="rnd">
            <a:solidFill>
              <a:srgbClr val="375A67"/>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8" name="TextBox 107"/>
          <p:cNvSpPr txBox="1"/>
          <p:nvPr/>
        </p:nvSpPr>
        <p:spPr>
          <a:xfrm>
            <a:off x="7120347" y="4256514"/>
            <a:ext cx="823712" cy="205184"/>
          </a:xfrm>
          <a:prstGeom prst="rect">
            <a:avLst/>
          </a:prstGeom>
          <a:noFill/>
        </p:spPr>
        <p:txBody>
          <a:bodyPr wrap="square" lIns="0" tIns="0" rIns="0" bIns="0" anchor="t">
            <a:spAutoFit/>
          </a:bodyPr>
          <a:lstStyle/>
          <a:p>
            <a:pPr>
              <a:lnSpc>
                <a:spcPts val="753"/>
              </a:lnSpc>
            </a:pPr>
            <a:r>
              <a:rPr sz="759" b="1" dirty="0">
                <a:solidFill>
                  <a:srgbClr val="F6FBFF"/>
                </a:solidFill>
                <a:latin typeface="Arial"/>
              </a:rPr>
              <a:t>SQS Queue</a:t>
            </a:r>
          </a:p>
          <a:p>
            <a:pPr>
              <a:lnSpc>
                <a:spcPts val="753"/>
              </a:lnSpc>
            </a:pPr>
            <a:r>
              <a:rPr sz="759" dirty="0">
                <a:solidFill>
                  <a:srgbClr val="DBEAF1"/>
                </a:solidFill>
                <a:latin typeface="Arial"/>
              </a:rPr>
              <a:t>(Order </a:t>
            </a:r>
            <a:r>
              <a:rPr lang="en-US" sz="759" dirty="0">
                <a:solidFill>
                  <a:srgbClr val="DBEAF1"/>
                </a:solidFill>
                <a:latin typeface="Arial"/>
              </a:rPr>
              <a:t>P</a:t>
            </a:r>
            <a:r>
              <a:rPr sz="759" dirty="0">
                <a:solidFill>
                  <a:srgbClr val="DBEAF1"/>
                </a:solidFill>
                <a:latin typeface="Arial"/>
              </a:rPr>
              <a:t>rocessor)</a:t>
            </a:r>
          </a:p>
        </p:txBody>
      </p:sp>
      <p:cxnSp>
        <p:nvCxnSpPr>
          <p:cNvPr id="109" name="Connector 108"/>
          <p:cNvCxnSpPr/>
          <p:nvPr/>
        </p:nvCxnSpPr>
        <p:spPr>
          <a:xfrm>
            <a:off x="6939573" y="4419772"/>
            <a:ext cx="0" cy="160724"/>
          </a:xfrm>
          <a:prstGeom prst="line">
            <a:avLst/>
          </a:prstGeom>
          <a:ln w="15874" cap="rnd">
            <a:solidFill>
              <a:srgbClr val="FF73B5"/>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10" name="Rounded Rectangle 109"/>
          <p:cNvSpPr/>
          <p:nvPr/>
        </p:nvSpPr>
        <p:spPr>
          <a:xfrm>
            <a:off x="6752061" y="4570450"/>
            <a:ext cx="388417" cy="388417"/>
          </a:xfrm>
          <a:prstGeom prst="roundRect">
            <a:avLst>
              <a:gd name="adj" fmla="val 6896"/>
            </a:avLst>
          </a:prstGeom>
          <a:solidFill>
            <a:srgbClr val="ED750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11" name="Picture 110" descr="pic_111.png"/>
          <p:cNvPicPr>
            <a:picLocks noChangeAspect="1"/>
          </p:cNvPicPr>
          <p:nvPr/>
        </p:nvPicPr>
        <p:blipFill>
          <a:blip r:embed="rId13"/>
          <a:stretch>
            <a:fillRect/>
          </a:stretch>
        </p:blipFill>
        <p:spPr>
          <a:xfrm>
            <a:off x="6790904" y="4613177"/>
            <a:ext cx="310734" cy="302965"/>
          </a:xfrm>
          <a:prstGeom prst="rect">
            <a:avLst/>
          </a:prstGeom>
          <a:effectLst/>
        </p:spPr>
      </p:pic>
      <p:sp>
        <p:nvSpPr>
          <p:cNvPr id="112" name="TextBox 111"/>
          <p:cNvSpPr txBox="1"/>
          <p:nvPr/>
        </p:nvSpPr>
        <p:spPr>
          <a:xfrm>
            <a:off x="6627031" y="4996650"/>
            <a:ext cx="745376" cy="269304"/>
          </a:xfrm>
          <a:prstGeom prst="rect">
            <a:avLst/>
          </a:prstGeom>
          <a:noFill/>
        </p:spPr>
        <p:txBody>
          <a:bodyPr wrap="square" lIns="0" tIns="0" rIns="0" bIns="0" anchor="t">
            <a:spAutoFit/>
          </a:bodyPr>
          <a:lstStyle/>
          <a:p>
            <a:pPr algn="ctr">
              <a:lnSpc>
                <a:spcPts val="660"/>
              </a:lnSpc>
            </a:pPr>
            <a:r>
              <a:rPr sz="759" b="1" dirty="0">
                <a:solidFill>
                  <a:srgbClr val="F3FAFF"/>
                </a:solidFill>
                <a:latin typeface="Arial"/>
              </a:rPr>
              <a:t>Lambda </a:t>
            </a:r>
            <a:endParaRPr lang="en-US" sz="759" b="1" dirty="0">
              <a:solidFill>
                <a:srgbClr val="F3FAFF"/>
              </a:solidFill>
              <a:latin typeface="Arial"/>
            </a:endParaRPr>
          </a:p>
          <a:p>
            <a:pPr algn="ctr">
              <a:lnSpc>
                <a:spcPts val="660"/>
              </a:lnSpc>
            </a:pPr>
            <a:r>
              <a:rPr sz="759" b="1" dirty="0">
                <a:solidFill>
                  <a:srgbClr val="F3FAFF"/>
                </a:solidFill>
                <a:latin typeface="Arial"/>
              </a:rPr>
              <a:t>Consumer</a:t>
            </a:r>
          </a:p>
          <a:p>
            <a:pPr algn="ctr">
              <a:lnSpc>
                <a:spcPts val="660"/>
              </a:lnSpc>
            </a:pPr>
            <a:r>
              <a:rPr sz="759" dirty="0">
                <a:solidFill>
                  <a:srgbClr val="DCECF2"/>
                </a:solidFill>
                <a:latin typeface="Arial"/>
              </a:rPr>
              <a:t>(Order Service)</a:t>
            </a:r>
          </a:p>
        </p:txBody>
      </p:sp>
      <p:sp>
        <p:nvSpPr>
          <p:cNvPr id="116" name="TextBox 115"/>
          <p:cNvSpPr txBox="1"/>
          <p:nvPr/>
        </p:nvSpPr>
        <p:spPr>
          <a:xfrm>
            <a:off x="7446072" y="4930039"/>
            <a:ext cx="518024" cy="179536"/>
          </a:xfrm>
          <a:prstGeom prst="rect">
            <a:avLst/>
          </a:prstGeom>
          <a:noFill/>
        </p:spPr>
        <p:txBody>
          <a:bodyPr wrap="square" lIns="0" tIns="0" rIns="0" bIns="0" anchor="t">
            <a:spAutoFit/>
          </a:bodyPr>
          <a:lstStyle/>
          <a:p>
            <a:pPr algn="ctr">
              <a:lnSpc>
                <a:spcPts val="672"/>
              </a:lnSpc>
            </a:pPr>
            <a:r>
              <a:rPr sz="759" b="1" dirty="0">
                <a:solidFill>
                  <a:srgbClr val="F5FBFF"/>
                </a:solidFill>
                <a:latin typeface="Arial"/>
              </a:rPr>
              <a:t>DLQ</a:t>
            </a:r>
          </a:p>
          <a:p>
            <a:pPr algn="ctr">
              <a:lnSpc>
                <a:spcPts val="672"/>
              </a:lnSpc>
            </a:pPr>
            <a:r>
              <a:rPr sz="759" dirty="0">
                <a:solidFill>
                  <a:srgbClr val="DCEBF2"/>
                </a:solidFill>
                <a:latin typeface="Arial"/>
              </a:rPr>
              <a:t>(on failure)</a:t>
            </a:r>
          </a:p>
        </p:txBody>
      </p:sp>
      <p:sp>
        <p:nvSpPr>
          <p:cNvPr id="119" name="TextBox 118"/>
          <p:cNvSpPr txBox="1"/>
          <p:nvPr/>
        </p:nvSpPr>
        <p:spPr>
          <a:xfrm>
            <a:off x="8580205" y="4227788"/>
            <a:ext cx="833757" cy="205184"/>
          </a:xfrm>
          <a:prstGeom prst="rect">
            <a:avLst/>
          </a:prstGeom>
          <a:noFill/>
        </p:spPr>
        <p:txBody>
          <a:bodyPr wrap="square" lIns="0" tIns="0" rIns="0" bIns="0" anchor="t">
            <a:spAutoFit/>
          </a:bodyPr>
          <a:lstStyle/>
          <a:p>
            <a:pPr>
              <a:lnSpc>
                <a:spcPts val="840"/>
              </a:lnSpc>
            </a:pPr>
            <a:r>
              <a:rPr sz="759" b="1" dirty="0">
                <a:solidFill>
                  <a:srgbClr val="F6FBFF"/>
                </a:solidFill>
                <a:latin typeface="Arial"/>
              </a:rPr>
              <a:t>SQS Queue</a:t>
            </a:r>
          </a:p>
          <a:p>
            <a:pPr>
              <a:lnSpc>
                <a:spcPts val="840"/>
              </a:lnSpc>
            </a:pPr>
            <a:r>
              <a:rPr sz="759" dirty="0">
                <a:solidFill>
                  <a:srgbClr val="DBEAF1"/>
                </a:solidFill>
                <a:latin typeface="Arial"/>
              </a:rPr>
              <a:t>(Inventory Service)</a:t>
            </a:r>
          </a:p>
        </p:txBody>
      </p:sp>
      <p:cxnSp>
        <p:nvCxnSpPr>
          <p:cNvPr id="120" name="Connector 119"/>
          <p:cNvCxnSpPr/>
          <p:nvPr/>
        </p:nvCxnSpPr>
        <p:spPr>
          <a:xfrm>
            <a:off x="8371601" y="4393827"/>
            <a:ext cx="0" cy="160724"/>
          </a:xfrm>
          <a:prstGeom prst="line">
            <a:avLst/>
          </a:prstGeom>
          <a:ln w="15874" cap="rnd">
            <a:solidFill>
              <a:srgbClr val="FF73B5"/>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21" name="Rounded Rectangle 120"/>
          <p:cNvSpPr/>
          <p:nvPr/>
        </p:nvSpPr>
        <p:spPr>
          <a:xfrm>
            <a:off x="8200831" y="4544505"/>
            <a:ext cx="388417" cy="388417"/>
          </a:xfrm>
          <a:prstGeom prst="roundRect">
            <a:avLst>
              <a:gd name="adj" fmla="val 6896"/>
            </a:avLst>
          </a:prstGeom>
          <a:solidFill>
            <a:srgbClr val="E5641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22" name="Picture 121" descr="pic_122.png"/>
          <p:cNvPicPr>
            <a:picLocks noChangeAspect="1"/>
          </p:cNvPicPr>
          <p:nvPr/>
        </p:nvPicPr>
        <p:blipFill>
          <a:blip r:embed="rId14"/>
          <a:stretch>
            <a:fillRect/>
          </a:stretch>
        </p:blipFill>
        <p:spPr>
          <a:xfrm>
            <a:off x="8243557" y="4587232"/>
            <a:ext cx="302965" cy="302965"/>
          </a:xfrm>
          <a:prstGeom prst="rect">
            <a:avLst/>
          </a:prstGeom>
          <a:effectLst/>
        </p:spPr>
      </p:pic>
      <p:sp>
        <p:nvSpPr>
          <p:cNvPr id="123" name="TextBox 122"/>
          <p:cNvSpPr txBox="1"/>
          <p:nvPr/>
        </p:nvSpPr>
        <p:spPr>
          <a:xfrm>
            <a:off x="8063313" y="4965265"/>
            <a:ext cx="844035" cy="230832"/>
          </a:xfrm>
          <a:prstGeom prst="rect">
            <a:avLst/>
          </a:prstGeom>
          <a:noFill/>
        </p:spPr>
        <p:txBody>
          <a:bodyPr wrap="square" lIns="0" tIns="0" rIns="0" bIns="0" anchor="t">
            <a:spAutoFit/>
          </a:bodyPr>
          <a:lstStyle/>
          <a:p>
            <a:pPr algn="ctr">
              <a:lnSpc>
                <a:spcPts val="621"/>
              </a:lnSpc>
            </a:pPr>
            <a:r>
              <a:rPr sz="759" b="1" dirty="0">
                <a:solidFill>
                  <a:srgbClr val="F3FAFF"/>
                </a:solidFill>
                <a:latin typeface="Arial"/>
              </a:rPr>
              <a:t>Lambda Consumer</a:t>
            </a:r>
          </a:p>
          <a:p>
            <a:pPr algn="ctr">
              <a:lnSpc>
                <a:spcPts val="621"/>
              </a:lnSpc>
            </a:pPr>
            <a:r>
              <a:rPr sz="759" dirty="0">
                <a:solidFill>
                  <a:srgbClr val="DCECF2"/>
                </a:solidFill>
                <a:latin typeface="Arial"/>
              </a:rPr>
              <a:t>(Inventory Service)</a:t>
            </a:r>
          </a:p>
        </p:txBody>
      </p:sp>
      <p:cxnSp>
        <p:nvCxnSpPr>
          <p:cNvPr id="124" name="Connector 123"/>
          <p:cNvCxnSpPr/>
          <p:nvPr/>
        </p:nvCxnSpPr>
        <p:spPr>
          <a:xfrm>
            <a:off x="8607245" y="4788243"/>
            <a:ext cx="394980" cy="0"/>
          </a:xfrm>
          <a:prstGeom prst="line">
            <a:avLst/>
          </a:prstGeom>
          <a:ln w="15874" cap="rnd">
            <a:solidFill>
              <a:srgbClr val="F965AE"/>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29" name="TextBox 128"/>
          <p:cNvSpPr txBox="1"/>
          <p:nvPr/>
        </p:nvSpPr>
        <p:spPr>
          <a:xfrm>
            <a:off x="10107085" y="4215829"/>
            <a:ext cx="904075" cy="230832"/>
          </a:xfrm>
          <a:prstGeom prst="rect">
            <a:avLst/>
          </a:prstGeom>
          <a:noFill/>
        </p:spPr>
        <p:txBody>
          <a:bodyPr wrap="square" lIns="0" tIns="0" rIns="0" bIns="0" anchor="t">
            <a:spAutoFit/>
          </a:bodyPr>
          <a:lstStyle/>
          <a:p>
            <a:pPr>
              <a:lnSpc>
                <a:spcPts val="867"/>
              </a:lnSpc>
            </a:pPr>
            <a:r>
              <a:rPr sz="759" b="1" dirty="0">
                <a:solidFill>
                  <a:srgbClr val="F6FBFF"/>
                </a:solidFill>
                <a:latin typeface="Arial"/>
              </a:rPr>
              <a:t>SQS Queue</a:t>
            </a:r>
          </a:p>
          <a:p>
            <a:pPr>
              <a:lnSpc>
                <a:spcPts val="867"/>
              </a:lnSpc>
            </a:pPr>
            <a:r>
              <a:rPr sz="759" dirty="0">
                <a:solidFill>
                  <a:srgbClr val="DBEAF1"/>
                </a:solidFill>
                <a:latin typeface="Arial"/>
              </a:rPr>
              <a:t>(Notification Service)</a:t>
            </a:r>
          </a:p>
        </p:txBody>
      </p:sp>
      <p:sp>
        <p:nvSpPr>
          <p:cNvPr id="131" name="Rounded Rectangle 130"/>
          <p:cNvSpPr/>
          <p:nvPr/>
        </p:nvSpPr>
        <p:spPr>
          <a:xfrm>
            <a:off x="9772436" y="4557036"/>
            <a:ext cx="388417" cy="388417"/>
          </a:xfrm>
          <a:prstGeom prst="roundRect">
            <a:avLst>
              <a:gd name="adj" fmla="val 6896"/>
            </a:avLst>
          </a:prstGeom>
          <a:solidFill>
            <a:srgbClr val="E5651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2" name="Picture 131" descr="pic_132.png"/>
          <p:cNvPicPr>
            <a:picLocks noChangeAspect="1"/>
          </p:cNvPicPr>
          <p:nvPr/>
        </p:nvPicPr>
        <p:blipFill>
          <a:blip r:embed="rId15"/>
          <a:stretch>
            <a:fillRect/>
          </a:stretch>
        </p:blipFill>
        <p:spPr>
          <a:xfrm>
            <a:off x="9811279" y="4599762"/>
            <a:ext cx="310734" cy="302965"/>
          </a:xfrm>
          <a:prstGeom prst="rect">
            <a:avLst/>
          </a:prstGeom>
          <a:effectLst/>
        </p:spPr>
      </p:pic>
      <p:sp>
        <p:nvSpPr>
          <p:cNvPr id="133" name="TextBox 132"/>
          <p:cNvSpPr txBox="1"/>
          <p:nvPr/>
        </p:nvSpPr>
        <p:spPr>
          <a:xfrm>
            <a:off x="9611519" y="4990343"/>
            <a:ext cx="894473" cy="153888"/>
          </a:xfrm>
          <a:prstGeom prst="rect">
            <a:avLst/>
          </a:prstGeom>
          <a:noFill/>
        </p:spPr>
        <p:txBody>
          <a:bodyPr wrap="square" lIns="0" tIns="0" rIns="0" bIns="0" anchor="t">
            <a:spAutoFit/>
          </a:bodyPr>
          <a:lstStyle/>
          <a:p>
            <a:pPr algn="ctr">
              <a:lnSpc>
                <a:spcPts val="597"/>
              </a:lnSpc>
            </a:pPr>
            <a:r>
              <a:rPr sz="759" b="1" dirty="0">
                <a:solidFill>
                  <a:srgbClr val="F3FAFF"/>
                </a:solidFill>
                <a:latin typeface="Arial"/>
              </a:rPr>
              <a:t>Lambda Consumer</a:t>
            </a:r>
          </a:p>
          <a:p>
            <a:pPr algn="ctr">
              <a:lnSpc>
                <a:spcPts val="597"/>
              </a:lnSpc>
            </a:pPr>
            <a:r>
              <a:rPr sz="759" dirty="0">
                <a:solidFill>
                  <a:srgbClr val="DCECF2"/>
                </a:solidFill>
                <a:latin typeface="Arial"/>
              </a:rPr>
              <a:t>(Notification Service)</a:t>
            </a:r>
          </a:p>
        </p:txBody>
      </p:sp>
      <p:sp>
        <p:nvSpPr>
          <p:cNvPr id="137" name="TextBox 136"/>
          <p:cNvSpPr txBox="1"/>
          <p:nvPr/>
        </p:nvSpPr>
        <p:spPr>
          <a:xfrm>
            <a:off x="1219220" y="5534626"/>
            <a:ext cx="3261899" cy="178895"/>
          </a:xfrm>
          <a:prstGeom prst="rect">
            <a:avLst/>
          </a:prstGeom>
          <a:noFill/>
        </p:spPr>
        <p:txBody>
          <a:bodyPr wrap="square" lIns="0" tIns="0" rIns="0" bIns="0" anchor="t">
            <a:spAutoFit/>
          </a:bodyPr>
          <a:lstStyle/>
          <a:p>
            <a:pPr algn="l">
              <a:lnSpc>
                <a:spcPct val="115000"/>
              </a:lnSpc>
            </a:pPr>
            <a:r>
              <a:rPr sz="1011" b="1" dirty="0">
                <a:solidFill>
                  <a:srgbClr val="FFFAF0"/>
                </a:solidFill>
                <a:latin typeface="Arial"/>
              </a:rPr>
              <a:t>Security &amp; Observability</a:t>
            </a:r>
            <a:r>
              <a:rPr sz="1011" b="1" dirty="0">
                <a:solidFill>
                  <a:srgbClr val="FFD66B"/>
                </a:solidFill>
                <a:latin typeface="Arial"/>
              </a:rPr>
              <a:t>  (Cross-Cutting Concerns)</a:t>
            </a:r>
          </a:p>
        </p:txBody>
      </p:sp>
      <p:cxnSp>
        <p:nvCxnSpPr>
          <p:cNvPr id="138" name="Connector 137"/>
          <p:cNvCxnSpPr/>
          <p:nvPr/>
        </p:nvCxnSpPr>
        <p:spPr>
          <a:xfrm>
            <a:off x="2700376" y="5738319"/>
            <a:ext cx="0" cy="751386"/>
          </a:xfrm>
          <a:prstGeom prst="line">
            <a:avLst/>
          </a:prstGeom>
          <a:ln w="7937" cap="rnd">
            <a:solidFill>
              <a:srgbClr val="668090"/>
            </a:solidFill>
            <a:round/>
          </a:ln>
          <a:effectLst/>
        </p:spPr>
        <p:style>
          <a:lnRef idx="2">
            <a:schemeClr val="accent1"/>
          </a:lnRef>
          <a:fillRef idx="0">
            <a:schemeClr val="accent1"/>
          </a:fillRef>
          <a:effectRef idx="0">
            <a:schemeClr val="accent1"/>
          </a:effectRef>
          <a:fontRef idx="minor">
            <a:schemeClr val="tx1"/>
          </a:fontRef>
        </p:style>
      </p:cxnSp>
      <p:cxnSp>
        <p:nvCxnSpPr>
          <p:cNvPr id="139" name="Connector 138"/>
          <p:cNvCxnSpPr/>
          <p:nvPr/>
        </p:nvCxnSpPr>
        <p:spPr>
          <a:xfrm>
            <a:off x="4146894" y="5738319"/>
            <a:ext cx="0" cy="751386"/>
          </a:xfrm>
          <a:prstGeom prst="line">
            <a:avLst/>
          </a:prstGeom>
          <a:ln w="7937" cap="rnd">
            <a:solidFill>
              <a:srgbClr val="668090"/>
            </a:solidFill>
            <a:round/>
          </a:ln>
          <a:effectLst/>
        </p:spPr>
        <p:style>
          <a:lnRef idx="2">
            <a:schemeClr val="accent1"/>
          </a:lnRef>
          <a:fillRef idx="0">
            <a:schemeClr val="accent1"/>
          </a:fillRef>
          <a:effectRef idx="0">
            <a:schemeClr val="accent1"/>
          </a:effectRef>
          <a:fontRef idx="minor">
            <a:schemeClr val="tx1"/>
          </a:fontRef>
        </p:style>
      </p:cxnSp>
      <p:cxnSp>
        <p:nvCxnSpPr>
          <p:cNvPr id="140" name="Connector 139"/>
          <p:cNvCxnSpPr/>
          <p:nvPr/>
        </p:nvCxnSpPr>
        <p:spPr>
          <a:xfrm>
            <a:off x="5479566" y="5731287"/>
            <a:ext cx="0" cy="758752"/>
          </a:xfrm>
          <a:prstGeom prst="line">
            <a:avLst/>
          </a:prstGeom>
          <a:ln w="7937" cap="rnd">
            <a:solidFill>
              <a:srgbClr val="668090"/>
            </a:solidFill>
            <a:round/>
          </a:ln>
          <a:effectLst/>
        </p:spPr>
        <p:style>
          <a:lnRef idx="2">
            <a:schemeClr val="accent1"/>
          </a:lnRef>
          <a:fillRef idx="0">
            <a:schemeClr val="accent1"/>
          </a:fillRef>
          <a:effectRef idx="0">
            <a:schemeClr val="accent1"/>
          </a:effectRef>
          <a:fontRef idx="minor">
            <a:schemeClr val="tx1"/>
          </a:fontRef>
        </p:style>
      </p:cxnSp>
      <p:sp>
        <p:nvSpPr>
          <p:cNvPr id="141" name="Rounded Rectangle 140"/>
          <p:cNvSpPr/>
          <p:nvPr/>
        </p:nvSpPr>
        <p:spPr>
          <a:xfrm>
            <a:off x="1183541" y="5791704"/>
            <a:ext cx="354933" cy="354933"/>
          </a:xfrm>
          <a:prstGeom prst="roundRect">
            <a:avLst>
              <a:gd name="adj" fmla="val 9433"/>
            </a:avLst>
          </a:prstGeom>
          <a:solidFill>
            <a:srgbClr val="E227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2" name="icon contact"/>
          <p:cNvSpPr/>
          <p:nvPr/>
        </p:nvSpPr>
        <p:spPr>
          <a:xfrm>
            <a:off x="1255281" y="5864554"/>
            <a:ext cx="194208" cy="194208"/>
          </a:xfrm>
          <a:custGeom>
            <a:avLst/>
            <a:gdLst/>
            <a:ahLst/>
            <a:cxnLst/>
            <a:rect l="0" t="0" r="0" b="0"/>
            <a:pathLst>
              <a:path w="100000" h="100000" fill="none">
                <a:moveTo>
                  <a:pt x="66667" y="8333"/>
                </a:moveTo>
                <a:lnTo>
                  <a:pt x="66667" y="16667"/>
                </a:lnTo>
                <a:moveTo>
                  <a:pt x="29167" y="91667"/>
                </a:moveTo>
                <a:lnTo>
                  <a:pt x="29167" y="83333"/>
                </a:lnTo>
                <a:cubicBezTo>
                  <a:pt x="29167" y="81871"/>
                  <a:pt x="29552" y="80433"/>
                  <a:pt x="30283" y="79167"/>
                </a:cubicBezTo>
                <a:cubicBezTo>
                  <a:pt x="31014" y="77900"/>
                  <a:pt x="32067" y="76848"/>
                  <a:pt x="33333" y="76116"/>
                </a:cubicBezTo>
                <a:cubicBezTo>
                  <a:pt x="34600" y="75385"/>
                  <a:pt x="36037" y="75000"/>
                  <a:pt x="37500" y="75000"/>
                </a:cubicBezTo>
                <a:lnTo>
                  <a:pt x="62500" y="75000"/>
                </a:lnTo>
                <a:cubicBezTo>
                  <a:pt x="63963" y="75000"/>
                  <a:pt x="65400" y="75385"/>
                  <a:pt x="66667" y="76116"/>
                </a:cubicBezTo>
                <a:cubicBezTo>
                  <a:pt x="67933" y="76848"/>
                  <a:pt x="68986" y="77900"/>
                  <a:pt x="69717" y="79167"/>
                </a:cubicBezTo>
                <a:cubicBezTo>
                  <a:pt x="70448" y="80433"/>
                  <a:pt x="70833" y="81871"/>
                  <a:pt x="70833" y="83333"/>
                </a:cubicBezTo>
                <a:lnTo>
                  <a:pt x="70833" y="91667"/>
                </a:lnTo>
                <a:moveTo>
                  <a:pt x="33333" y="8333"/>
                </a:moveTo>
                <a:lnTo>
                  <a:pt x="33333" y="16667"/>
                </a:lnTo>
                <a:moveTo>
                  <a:pt x="62500" y="45833"/>
                </a:moveTo>
                <a:cubicBezTo>
                  <a:pt x="62500" y="48027"/>
                  <a:pt x="61922" y="50183"/>
                  <a:pt x="60825" y="52083"/>
                </a:cubicBezTo>
                <a:cubicBezTo>
                  <a:pt x="59728" y="53983"/>
                  <a:pt x="58150" y="55562"/>
                  <a:pt x="56250" y="56659"/>
                </a:cubicBezTo>
                <a:cubicBezTo>
                  <a:pt x="54350" y="57756"/>
                  <a:pt x="52194" y="58333"/>
                  <a:pt x="50000" y="58333"/>
                </a:cubicBezTo>
                <a:cubicBezTo>
                  <a:pt x="47806" y="58333"/>
                  <a:pt x="45650" y="57756"/>
                  <a:pt x="43750" y="56659"/>
                </a:cubicBezTo>
                <a:cubicBezTo>
                  <a:pt x="41850" y="55562"/>
                  <a:pt x="40272" y="53983"/>
                  <a:pt x="39175" y="52083"/>
                </a:cubicBezTo>
                <a:cubicBezTo>
                  <a:pt x="38078" y="50183"/>
                  <a:pt x="37500" y="48027"/>
                  <a:pt x="37500" y="45833"/>
                </a:cubicBezTo>
                <a:cubicBezTo>
                  <a:pt x="37500" y="43639"/>
                  <a:pt x="38078" y="41483"/>
                  <a:pt x="39175" y="39583"/>
                </a:cubicBezTo>
                <a:cubicBezTo>
                  <a:pt x="40272" y="37683"/>
                  <a:pt x="41850" y="36105"/>
                  <a:pt x="43750" y="35008"/>
                </a:cubicBezTo>
                <a:cubicBezTo>
                  <a:pt x="45650" y="33911"/>
                  <a:pt x="47806" y="33333"/>
                  <a:pt x="50000" y="33333"/>
                </a:cubicBezTo>
                <a:cubicBezTo>
                  <a:pt x="52194" y="33333"/>
                  <a:pt x="54350" y="33911"/>
                  <a:pt x="56250" y="35008"/>
                </a:cubicBezTo>
                <a:cubicBezTo>
                  <a:pt x="58150" y="36105"/>
                  <a:pt x="59728" y="37683"/>
                  <a:pt x="60825" y="39583"/>
                </a:cubicBezTo>
                <a:cubicBezTo>
                  <a:pt x="61922" y="41483"/>
                  <a:pt x="62500" y="43639"/>
                  <a:pt x="62500" y="45833"/>
                </a:cubicBezTo>
                <a:close/>
                <a:moveTo>
                  <a:pt x="20833" y="16667"/>
                </a:moveTo>
                <a:lnTo>
                  <a:pt x="79167" y="16667"/>
                </a:lnTo>
                <a:cubicBezTo>
                  <a:pt x="80629" y="16667"/>
                  <a:pt x="82067" y="17052"/>
                  <a:pt x="83333" y="17783"/>
                </a:cubicBezTo>
                <a:cubicBezTo>
                  <a:pt x="84600" y="18514"/>
                  <a:pt x="85652" y="19567"/>
                  <a:pt x="86384" y="20833"/>
                </a:cubicBezTo>
                <a:cubicBezTo>
                  <a:pt x="87115" y="22100"/>
                  <a:pt x="87500" y="23537"/>
                  <a:pt x="87500" y="25000"/>
                </a:cubicBezTo>
                <a:lnTo>
                  <a:pt x="87500" y="83333"/>
                </a:lnTo>
                <a:cubicBezTo>
                  <a:pt x="87500" y="84796"/>
                  <a:pt x="87115" y="86233"/>
                  <a:pt x="86384" y="87500"/>
                </a:cubicBezTo>
                <a:cubicBezTo>
                  <a:pt x="85652" y="88767"/>
                  <a:pt x="84600" y="89819"/>
                  <a:pt x="83333" y="90550"/>
                </a:cubicBezTo>
                <a:cubicBezTo>
                  <a:pt x="82067" y="91282"/>
                  <a:pt x="80629" y="91667"/>
                  <a:pt x="79167" y="91667"/>
                </a:cubicBezTo>
                <a:lnTo>
                  <a:pt x="20833" y="91667"/>
                </a:lnTo>
                <a:cubicBezTo>
                  <a:pt x="19371" y="91667"/>
                  <a:pt x="17933" y="91282"/>
                  <a:pt x="16667" y="90550"/>
                </a:cubicBezTo>
                <a:cubicBezTo>
                  <a:pt x="15400" y="89819"/>
                  <a:pt x="14348" y="88767"/>
                  <a:pt x="13616" y="87500"/>
                </a:cubicBezTo>
                <a:cubicBezTo>
                  <a:pt x="12885" y="86233"/>
                  <a:pt x="12500" y="84796"/>
                  <a:pt x="12500" y="83333"/>
                </a:cubicBezTo>
                <a:lnTo>
                  <a:pt x="12500" y="25000"/>
                </a:lnTo>
                <a:cubicBezTo>
                  <a:pt x="12500" y="23537"/>
                  <a:pt x="12885" y="22100"/>
                  <a:pt x="13616" y="20833"/>
                </a:cubicBezTo>
                <a:cubicBezTo>
                  <a:pt x="14348" y="19567"/>
                  <a:pt x="15400" y="18514"/>
                  <a:pt x="16667" y="17783"/>
                </a:cubicBezTo>
                <a:cubicBezTo>
                  <a:pt x="17933" y="17052"/>
                  <a:pt x="19371" y="16667"/>
                  <a:pt x="20833" y="16667"/>
                </a:cubicBezTo>
                <a:close/>
              </a:path>
            </a:pathLst>
          </a:custGeom>
          <a:noFill/>
          <a:ln w="11866" cap="rnd">
            <a:solidFill>
              <a:srgbClr val="FFFFFF"/>
            </a:solidFill>
            <a:round/>
          </a:ln>
        </p:spPr>
        <p:txBody>
          <a:bodyPr/>
          <a:lstStyle/>
          <a:p>
            <a:endParaRPr/>
          </a:p>
        </p:txBody>
      </p:sp>
      <p:sp>
        <p:nvSpPr>
          <p:cNvPr id="143" name="TextBox 142"/>
          <p:cNvSpPr txBox="1"/>
          <p:nvPr/>
        </p:nvSpPr>
        <p:spPr>
          <a:xfrm>
            <a:off x="1590864" y="5824294"/>
            <a:ext cx="1120227" cy="577081"/>
          </a:xfrm>
          <a:prstGeom prst="rect">
            <a:avLst/>
          </a:prstGeom>
          <a:noFill/>
        </p:spPr>
        <p:txBody>
          <a:bodyPr wrap="square" lIns="0" tIns="0" rIns="0" bIns="0" anchor="t">
            <a:spAutoFit/>
          </a:bodyPr>
          <a:lstStyle/>
          <a:p>
            <a:pPr>
              <a:lnSpc>
                <a:spcPts val="886"/>
              </a:lnSpc>
            </a:pPr>
            <a:r>
              <a:rPr sz="759" b="1" dirty="0">
                <a:solidFill>
                  <a:srgbClr val="FFFFFF"/>
                </a:solidFill>
                <a:latin typeface="Arial"/>
              </a:rPr>
              <a:t>AWS IAM</a:t>
            </a:r>
          </a:p>
          <a:p>
            <a:pPr>
              <a:lnSpc>
                <a:spcPts val="886"/>
              </a:lnSpc>
            </a:pPr>
            <a:r>
              <a:rPr sz="759" dirty="0">
                <a:solidFill>
                  <a:srgbClr val="DAE4ED"/>
                </a:solidFill>
                <a:latin typeface="Arial"/>
              </a:rPr>
              <a:t>Least-privilege roles</a:t>
            </a:r>
          </a:p>
          <a:p>
            <a:pPr>
              <a:lnSpc>
                <a:spcPts val="886"/>
              </a:lnSpc>
            </a:pPr>
            <a:r>
              <a:rPr sz="759" dirty="0">
                <a:solidFill>
                  <a:srgbClr val="DAE4ED"/>
                </a:solidFill>
                <a:latin typeface="Arial"/>
              </a:rPr>
              <a:t>for </a:t>
            </a:r>
            <a:r>
              <a:rPr sz="759" dirty="0" err="1">
                <a:solidFill>
                  <a:srgbClr val="DAE4ED"/>
                </a:solidFill>
                <a:latin typeface="Arial"/>
              </a:rPr>
              <a:t>AppSync</a:t>
            </a:r>
            <a:r>
              <a:rPr sz="759" dirty="0">
                <a:solidFill>
                  <a:srgbClr val="DAE4ED"/>
                </a:solidFill>
                <a:latin typeface="Arial"/>
              </a:rPr>
              <a:t>, Lambda,</a:t>
            </a:r>
          </a:p>
          <a:p>
            <a:pPr>
              <a:lnSpc>
                <a:spcPts val="886"/>
              </a:lnSpc>
            </a:pPr>
            <a:r>
              <a:rPr sz="759" dirty="0" err="1">
                <a:solidFill>
                  <a:srgbClr val="DAE4ED"/>
                </a:solidFill>
                <a:latin typeface="Arial"/>
              </a:rPr>
              <a:t>DynamoDB</a:t>
            </a:r>
            <a:r>
              <a:rPr sz="759" dirty="0">
                <a:solidFill>
                  <a:srgbClr val="DAE4ED"/>
                </a:solidFill>
                <a:latin typeface="Arial"/>
              </a:rPr>
              <a:t>, SNS, SQS, etc.</a:t>
            </a:r>
          </a:p>
        </p:txBody>
      </p:sp>
      <p:sp>
        <p:nvSpPr>
          <p:cNvPr id="145" name="icon lock"/>
          <p:cNvSpPr/>
          <p:nvPr/>
        </p:nvSpPr>
        <p:spPr>
          <a:xfrm>
            <a:off x="2737505" y="5770072"/>
            <a:ext cx="332533" cy="332533"/>
          </a:xfrm>
          <a:custGeom>
            <a:avLst/>
            <a:gdLst/>
            <a:ahLst/>
            <a:cxnLst/>
            <a:rect l="0" t="0" r="0" b="0"/>
            <a:pathLst>
              <a:path w="100000" h="100000" fill="none">
                <a:moveTo>
                  <a:pt x="20833" y="45833"/>
                </a:moveTo>
                <a:lnTo>
                  <a:pt x="79167" y="45833"/>
                </a:lnTo>
                <a:cubicBezTo>
                  <a:pt x="80629" y="45833"/>
                  <a:pt x="82067" y="46218"/>
                  <a:pt x="83333" y="46950"/>
                </a:cubicBezTo>
                <a:cubicBezTo>
                  <a:pt x="84600" y="47681"/>
                  <a:pt x="85652" y="48733"/>
                  <a:pt x="86384" y="50000"/>
                </a:cubicBezTo>
                <a:cubicBezTo>
                  <a:pt x="87115" y="51267"/>
                  <a:pt x="87500" y="52704"/>
                  <a:pt x="87500" y="54167"/>
                </a:cubicBezTo>
                <a:lnTo>
                  <a:pt x="87500" y="83333"/>
                </a:lnTo>
                <a:cubicBezTo>
                  <a:pt x="87500" y="84796"/>
                  <a:pt x="87115" y="86233"/>
                  <a:pt x="86384" y="87500"/>
                </a:cubicBezTo>
                <a:cubicBezTo>
                  <a:pt x="85652" y="88767"/>
                  <a:pt x="84600" y="89819"/>
                  <a:pt x="83333" y="90550"/>
                </a:cubicBezTo>
                <a:cubicBezTo>
                  <a:pt x="82067" y="91282"/>
                  <a:pt x="80629" y="91667"/>
                  <a:pt x="79167" y="91667"/>
                </a:cubicBezTo>
                <a:lnTo>
                  <a:pt x="20833" y="91667"/>
                </a:lnTo>
                <a:cubicBezTo>
                  <a:pt x="19371" y="91667"/>
                  <a:pt x="17933" y="91282"/>
                  <a:pt x="16667" y="90550"/>
                </a:cubicBezTo>
                <a:cubicBezTo>
                  <a:pt x="15400" y="89819"/>
                  <a:pt x="14348" y="88767"/>
                  <a:pt x="13616" y="87500"/>
                </a:cubicBezTo>
                <a:cubicBezTo>
                  <a:pt x="12885" y="86233"/>
                  <a:pt x="12500" y="84796"/>
                  <a:pt x="12500" y="83333"/>
                </a:cubicBezTo>
                <a:lnTo>
                  <a:pt x="12500" y="54167"/>
                </a:lnTo>
                <a:cubicBezTo>
                  <a:pt x="12500" y="52704"/>
                  <a:pt x="12885" y="51267"/>
                  <a:pt x="13616" y="50000"/>
                </a:cubicBezTo>
                <a:cubicBezTo>
                  <a:pt x="14348" y="48733"/>
                  <a:pt x="15400" y="47681"/>
                  <a:pt x="16667" y="46950"/>
                </a:cubicBezTo>
                <a:cubicBezTo>
                  <a:pt x="17933" y="46218"/>
                  <a:pt x="19371" y="45833"/>
                  <a:pt x="20833" y="45833"/>
                </a:cubicBezTo>
                <a:close/>
                <a:moveTo>
                  <a:pt x="29167" y="45833"/>
                </a:moveTo>
                <a:lnTo>
                  <a:pt x="29167" y="29167"/>
                </a:lnTo>
                <a:cubicBezTo>
                  <a:pt x="29167" y="25510"/>
                  <a:pt x="30129" y="21917"/>
                  <a:pt x="31958" y="18750"/>
                </a:cubicBezTo>
                <a:cubicBezTo>
                  <a:pt x="33786" y="15583"/>
                  <a:pt x="36417" y="12953"/>
                  <a:pt x="39583" y="11124"/>
                </a:cubicBezTo>
                <a:cubicBezTo>
                  <a:pt x="42750" y="9296"/>
                  <a:pt x="46343" y="8333"/>
                  <a:pt x="50000" y="8333"/>
                </a:cubicBezTo>
                <a:cubicBezTo>
                  <a:pt x="53657" y="8333"/>
                  <a:pt x="57250" y="9296"/>
                  <a:pt x="60417" y="11124"/>
                </a:cubicBezTo>
                <a:cubicBezTo>
                  <a:pt x="63583" y="12953"/>
                  <a:pt x="66214" y="15583"/>
                  <a:pt x="68042" y="18750"/>
                </a:cubicBezTo>
                <a:cubicBezTo>
                  <a:pt x="69871" y="21917"/>
                  <a:pt x="70833" y="25510"/>
                  <a:pt x="70833" y="29167"/>
                </a:cubicBezTo>
                <a:lnTo>
                  <a:pt x="70833" y="45833"/>
                </a:lnTo>
              </a:path>
            </a:pathLst>
          </a:custGeom>
          <a:noFill/>
          <a:ln w="17564" cap="rnd">
            <a:solidFill>
              <a:srgbClr val="FFFFFF"/>
            </a:solidFill>
            <a:round/>
          </a:ln>
        </p:spPr>
        <p:txBody>
          <a:bodyPr/>
          <a:lstStyle/>
          <a:p>
            <a:endParaRPr/>
          </a:p>
        </p:txBody>
      </p:sp>
      <p:sp>
        <p:nvSpPr>
          <p:cNvPr id="146" name="TextBox 145"/>
          <p:cNvSpPr txBox="1"/>
          <p:nvPr/>
        </p:nvSpPr>
        <p:spPr>
          <a:xfrm>
            <a:off x="3095782" y="5833408"/>
            <a:ext cx="1046046" cy="410369"/>
          </a:xfrm>
          <a:prstGeom prst="rect">
            <a:avLst/>
          </a:prstGeom>
          <a:noFill/>
        </p:spPr>
        <p:txBody>
          <a:bodyPr wrap="square" lIns="0" tIns="0" rIns="0" bIns="0" anchor="t">
            <a:spAutoFit/>
          </a:bodyPr>
          <a:lstStyle/>
          <a:p>
            <a:pPr>
              <a:lnSpc>
                <a:spcPts val="840"/>
              </a:lnSpc>
            </a:pPr>
            <a:r>
              <a:rPr sz="759" b="1" dirty="0">
                <a:solidFill>
                  <a:srgbClr val="FFFFFF"/>
                </a:solidFill>
                <a:latin typeface="Arial"/>
              </a:rPr>
              <a:t>AWS KMS</a:t>
            </a:r>
          </a:p>
          <a:p>
            <a:pPr>
              <a:lnSpc>
                <a:spcPts val="840"/>
              </a:lnSpc>
            </a:pPr>
            <a:r>
              <a:rPr sz="759" dirty="0">
                <a:solidFill>
                  <a:srgbClr val="DAE4ED"/>
                </a:solidFill>
                <a:latin typeface="Arial"/>
              </a:rPr>
              <a:t>Encryption at rest</a:t>
            </a:r>
          </a:p>
          <a:p>
            <a:pPr>
              <a:lnSpc>
                <a:spcPts val="840"/>
              </a:lnSpc>
            </a:pPr>
            <a:r>
              <a:rPr sz="759" dirty="0">
                <a:solidFill>
                  <a:srgbClr val="DAE4ED"/>
                </a:solidFill>
                <a:latin typeface="Arial"/>
              </a:rPr>
              <a:t>(</a:t>
            </a:r>
            <a:r>
              <a:rPr sz="759" dirty="0" err="1">
                <a:solidFill>
                  <a:srgbClr val="DAE4ED"/>
                </a:solidFill>
                <a:latin typeface="Arial"/>
              </a:rPr>
              <a:t>DynamoDB</a:t>
            </a:r>
            <a:r>
              <a:rPr sz="759" dirty="0">
                <a:solidFill>
                  <a:srgbClr val="DAE4ED"/>
                </a:solidFill>
                <a:latin typeface="Arial"/>
              </a:rPr>
              <a:t>, SQS, etc.)</a:t>
            </a:r>
            <a:r>
              <a:rPr lang="en-US" sz="759" dirty="0">
                <a:solidFill>
                  <a:srgbClr val="DAE4ED"/>
                </a:solidFill>
                <a:latin typeface="Arial"/>
              </a:rPr>
              <a:t> </a:t>
            </a:r>
            <a:r>
              <a:rPr sz="759" dirty="0">
                <a:solidFill>
                  <a:srgbClr val="DAE4ED"/>
                </a:solidFill>
                <a:latin typeface="Arial"/>
              </a:rPr>
              <a:t>and in transit (TLS)</a:t>
            </a:r>
          </a:p>
        </p:txBody>
      </p:sp>
      <p:sp>
        <p:nvSpPr>
          <p:cNvPr id="147" name="Rounded Rectangle 146"/>
          <p:cNvSpPr/>
          <p:nvPr/>
        </p:nvSpPr>
        <p:spPr>
          <a:xfrm>
            <a:off x="4191076" y="5789008"/>
            <a:ext cx="354933" cy="354933"/>
          </a:xfrm>
          <a:prstGeom prst="roundRect">
            <a:avLst>
              <a:gd name="adj" fmla="val 9433"/>
            </a:avLst>
          </a:prstGeom>
          <a:solidFill>
            <a:srgbClr val="ED36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8" name="icon cloud-fill"/>
          <p:cNvSpPr/>
          <p:nvPr/>
        </p:nvSpPr>
        <p:spPr>
          <a:xfrm>
            <a:off x="4227909" y="5834049"/>
            <a:ext cx="281267" cy="281267"/>
          </a:xfrm>
          <a:custGeom>
            <a:avLst/>
            <a:gdLst/>
            <a:ahLst/>
            <a:cxnLst/>
            <a:rect l="0" t="0" r="0" b="0"/>
            <a:pathLst>
              <a:path w="100000" h="100000">
                <a:moveTo>
                  <a:pt x="27537" y="20888"/>
                </a:moveTo>
                <a:cubicBezTo>
                  <a:pt x="30636" y="18215"/>
                  <a:pt x="34185" y="16115"/>
                  <a:pt x="38018" y="14683"/>
                </a:cubicBezTo>
                <a:cubicBezTo>
                  <a:pt x="41851" y="13252"/>
                  <a:pt x="45908" y="12513"/>
                  <a:pt x="50000" y="12500"/>
                </a:cubicBezTo>
                <a:cubicBezTo>
                  <a:pt x="66812" y="12500"/>
                  <a:pt x="80769" y="25000"/>
                  <a:pt x="82288" y="41119"/>
                </a:cubicBezTo>
                <a:cubicBezTo>
                  <a:pt x="92238" y="42525"/>
                  <a:pt x="100000" y="50856"/>
                  <a:pt x="100000" y="61081"/>
                </a:cubicBezTo>
                <a:cubicBezTo>
                  <a:pt x="100000" y="72306"/>
                  <a:pt x="90638" y="81250"/>
                  <a:pt x="79294" y="81250"/>
                </a:cubicBezTo>
                <a:lnTo>
                  <a:pt x="23631" y="81250"/>
                </a:lnTo>
                <a:cubicBezTo>
                  <a:pt x="10675" y="81250"/>
                  <a:pt x="0" y="71038"/>
                  <a:pt x="0" y="58238"/>
                </a:cubicBezTo>
                <a:cubicBezTo>
                  <a:pt x="0" y="47219"/>
                  <a:pt x="7912" y="38094"/>
                  <a:pt x="18388" y="35781"/>
                </a:cubicBezTo>
                <a:cubicBezTo>
                  <a:pt x="19281" y="30388"/>
                  <a:pt x="22750" y="25012"/>
                  <a:pt x="27538" y="20887"/>
                </a:cubicBezTo>
              </a:path>
            </a:pathLst>
          </a:custGeom>
          <a:solidFill>
            <a:srgbClr val="FFFFFF"/>
          </a:solidFill>
          <a:ln>
            <a:noFill/>
          </a:ln>
        </p:spPr>
        <p:txBody>
          <a:bodyPr/>
          <a:lstStyle/>
          <a:p>
            <a:endParaRPr/>
          </a:p>
        </p:txBody>
      </p:sp>
      <p:sp>
        <p:nvSpPr>
          <p:cNvPr id="149" name="TextBox 148"/>
          <p:cNvSpPr txBox="1"/>
          <p:nvPr/>
        </p:nvSpPr>
        <p:spPr>
          <a:xfrm>
            <a:off x="4598398" y="5828797"/>
            <a:ext cx="932491" cy="461665"/>
          </a:xfrm>
          <a:prstGeom prst="rect">
            <a:avLst/>
          </a:prstGeom>
          <a:noFill/>
        </p:spPr>
        <p:txBody>
          <a:bodyPr wrap="square" lIns="0" tIns="0" rIns="0" bIns="0" anchor="t">
            <a:spAutoFit/>
          </a:bodyPr>
          <a:lstStyle/>
          <a:p>
            <a:pPr>
              <a:lnSpc>
                <a:spcPts val="948"/>
              </a:lnSpc>
            </a:pPr>
            <a:r>
              <a:rPr sz="759" b="1" dirty="0">
                <a:solidFill>
                  <a:srgbClr val="FFFFFF"/>
                </a:solidFill>
                <a:latin typeface="Arial"/>
              </a:rPr>
              <a:t>Amazon </a:t>
            </a:r>
            <a:r>
              <a:rPr sz="759" b="1" dirty="0" err="1">
                <a:solidFill>
                  <a:srgbClr val="FFFFFF"/>
                </a:solidFill>
                <a:latin typeface="Arial"/>
              </a:rPr>
              <a:t>CloudWatch</a:t>
            </a:r>
            <a:endParaRPr sz="759" b="1" dirty="0">
              <a:solidFill>
                <a:srgbClr val="FFFFFF"/>
              </a:solidFill>
              <a:latin typeface="Arial"/>
            </a:endParaRPr>
          </a:p>
          <a:p>
            <a:pPr>
              <a:lnSpc>
                <a:spcPts val="948"/>
              </a:lnSpc>
            </a:pPr>
            <a:r>
              <a:rPr sz="759" dirty="0">
                <a:solidFill>
                  <a:srgbClr val="DAE4ED"/>
                </a:solidFill>
                <a:latin typeface="Arial"/>
              </a:rPr>
              <a:t>Logs, Metrics, Alarms,</a:t>
            </a:r>
            <a:r>
              <a:rPr lang="en-US" sz="759" dirty="0">
                <a:solidFill>
                  <a:srgbClr val="DAE4ED"/>
                </a:solidFill>
                <a:latin typeface="Arial"/>
              </a:rPr>
              <a:t> </a:t>
            </a:r>
            <a:r>
              <a:rPr sz="759" dirty="0">
                <a:solidFill>
                  <a:srgbClr val="DAE4ED"/>
                </a:solidFill>
                <a:latin typeface="Arial"/>
              </a:rPr>
              <a:t>Dashboards</a:t>
            </a:r>
          </a:p>
        </p:txBody>
      </p:sp>
      <p:sp>
        <p:nvSpPr>
          <p:cNvPr id="150" name="Rounded Rectangle 149"/>
          <p:cNvSpPr/>
          <p:nvPr/>
        </p:nvSpPr>
        <p:spPr>
          <a:xfrm>
            <a:off x="5538120" y="5762220"/>
            <a:ext cx="354933" cy="354933"/>
          </a:xfrm>
          <a:prstGeom prst="roundRect">
            <a:avLst>
              <a:gd name="adj" fmla="val 9433"/>
            </a:avLst>
          </a:prstGeom>
          <a:solidFill>
            <a:srgbClr val="783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1" name="icon cloudy"/>
          <p:cNvSpPr/>
          <p:nvPr/>
        </p:nvSpPr>
        <p:spPr>
          <a:xfrm>
            <a:off x="5621831" y="5854139"/>
            <a:ext cx="187512" cy="187512"/>
          </a:xfrm>
          <a:custGeom>
            <a:avLst/>
            <a:gdLst/>
            <a:ahLst/>
            <a:cxnLst/>
            <a:rect l="0" t="0" r="0" b="0"/>
            <a:pathLst>
              <a:path w="100000" h="100000" fill="none">
                <a:moveTo>
                  <a:pt x="72917" y="50000"/>
                </a:moveTo>
                <a:cubicBezTo>
                  <a:pt x="76208" y="50000"/>
                  <a:pt x="79442" y="50866"/>
                  <a:pt x="82292" y="52512"/>
                </a:cubicBezTo>
                <a:cubicBezTo>
                  <a:pt x="85142" y="54158"/>
                  <a:pt x="87509" y="56525"/>
                  <a:pt x="89155" y="59375"/>
                </a:cubicBezTo>
                <a:cubicBezTo>
                  <a:pt x="90800" y="62225"/>
                  <a:pt x="91667" y="65459"/>
                  <a:pt x="91667" y="68750"/>
                </a:cubicBezTo>
                <a:cubicBezTo>
                  <a:pt x="91667" y="72041"/>
                  <a:pt x="90800" y="75275"/>
                  <a:pt x="89155" y="78125"/>
                </a:cubicBezTo>
                <a:cubicBezTo>
                  <a:pt x="87509" y="80975"/>
                  <a:pt x="85142" y="83342"/>
                  <a:pt x="82292" y="84988"/>
                </a:cubicBezTo>
                <a:cubicBezTo>
                  <a:pt x="79442" y="86634"/>
                  <a:pt x="76208" y="87500"/>
                  <a:pt x="72917" y="87500"/>
                </a:cubicBezTo>
                <a:lnTo>
                  <a:pt x="37525" y="87500"/>
                </a:lnTo>
                <a:cubicBezTo>
                  <a:pt x="32723" y="87504"/>
                  <a:pt x="27993" y="86322"/>
                  <a:pt x="23757" y="84060"/>
                </a:cubicBezTo>
                <a:cubicBezTo>
                  <a:pt x="19521" y="81797"/>
                  <a:pt x="15909" y="78523"/>
                  <a:pt x="13242" y="74528"/>
                </a:cubicBezTo>
                <a:cubicBezTo>
                  <a:pt x="10575" y="70534"/>
                  <a:pt x="8936" y="65943"/>
                  <a:pt x="8470" y="61163"/>
                </a:cubicBezTo>
                <a:cubicBezTo>
                  <a:pt x="8004" y="56383"/>
                  <a:pt x="8726" y="51562"/>
                  <a:pt x="10571" y="47128"/>
                </a:cubicBezTo>
                <a:cubicBezTo>
                  <a:pt x="12416" y="42694"/>
                  <a:pt x="15328" y="38784"/>
                  <a:pt x="19047" y="35745"/>
                </a:cubicBezTo>
                <a:cubicBezTo>
                  <a:pt x="22766" y="32707"/>
                  <a:pt x="27179" y="30634"/>
                  <a:pt x="31892" y="29711"/>
                </a:cubicBezTo>
                <a:cubicBezTo>
                  <a:pt x="36604" y="28787"/>
                  <a:pt x="41473" y="29042"/>
                  <a:pt x="46064" y="30453"/>
                </a:cubicBezTo>
                <a:cubicBezTo>
                  <a:pt x="50655" y="31863"/>
                  <a:pt x="54827" y="34385"/>
                  <a:pt x="58208" y="37795"/>
                </a:cubicBezTo>
                <a:cubicBezTo>
                  <a:pt x="61590" y="41205"/>
                  <a:pt x="64078" y="45398"/>
                  <a:pt x="65450" y="50000"/>
                </a:cubicBezTo>
                <a:close/>
                <a:moveTo>
                  <a:pt x="90967" y="37500"/>
                </a:moveTo>
                <a:cubicBezTo>
                  <a:pt x="90394" y="35881"/>
                  <a:pt x="89494" y="34397"/>
                  <a:pt x="88323" y="33141"/>
                </a:cubicBezTo>
                <a:cubicBezTo>
                  <a:pt x="87152" y="31885"/>
                  <a:pt x="85734" y="30884"/>
                  <a:pt x="84159" y="30200"/>
                </a:cubicBezTo>
                <a:cubicBezTo>
                  <a:pt x="82583" y="29516"/>
                  <a:pt x="80884" y="29165"/>
                  <a:pt x="79167" y="29167"/>
                </a:cubicBezTo>
                <a:lnTo>
                  <a:pt x="69971" y="29167"/>
                </a:lnTo>
                <a:cubicBezTo>
                  <a:pt x="69029" y="25841"/>
                  <a:pt x="67348" y="22770"/>
                  <a:pt x="65052" y="20186"/>
                </a:cubicBezTo>
                <a:cubicBezTo>
                  <a:pt x="62756" y="17602"/>
                  <a:pt x="59905" y="15571"/>
                  <a:pt x="56713" y="14245"/>
                </a:cubicBezTo>
                <a:cubicBezTo>
                  <a:pt x="53521" y="12918"/>
                  <a:pt x="50069" y="12331"/>
                  <a:pt x="46618" y="12528"/>
                </a:cubicBezTo>
                <a:cubicBezTo>
                  <a:pt x="43167" y="12724"/>
                  <a:pt x="39805" y="13699"/>
                  <a:pt x="36784" y="15379"/>
                </a:cubicBezTo>
                <a:cubicBezTo>
                  <a:pt x="33763" y="17058"/>
                  <a:pt x="31161" y="19400"/>
                  <a:pt x="29173" y="22228"/>
                </a:cubicBezTo>
                <a:cubicBezTo>
                  <a:pt x="27185" y="25056"/>
                  <a:pt x="25862" y="28297"/>
                  <a:pt x="25304" y="31708"/>
                </a:cubicBezTo>
              </a:path>
            </a:pathLst>
          </a:custGeom>
          <a:noFill/>
          <a:ln w="11457" cap="rnd">
            <a:solidFill>
              <a:srgbClr val="FFFFFF"/>
            </a:solidFill>
            <a:round/>
          </a:ln>
        </p:spPr>
        <p:txBody>
          <a:bodyPr/>
          <a:lstStyle/>
          <a:p>
            <a:endParaRPr/>
          </a:p>
        </p:txBody>
      </p:sp>
      <p:sp>
        <p:nvSpPr>
          <p:cNvPr id="152" name="TextBox 151"/>
          <p:cNvSpPr txBox="1"/>
          <p:nvPr/>
        </p:nvSpPr>
        <p:spPr>
          <a:xfrm>
            <a:off x="5960022" y="5842745"/>
            <a:ext cx="975165" cy="461665"/>
          </a:xfrm>
          <a:prstGeom prst="rect">
            <a:avLst/>
          </a:prstGeom>
          <a:noFill/>
        </p:spPr>
        <p:txBody>
          <a:bodyPr wrap="square" lIns="0" tIns="0" rIns="0" bIns="0" anchor="t">
            <a:spAutoFit/>
          </a:bodyPr>
          <a:lstStyle/>
          <a:p>
            <a:pPr>
              <a:lnSpc>
                <a:spcPts val="886"/>
              </a:lnSpc>
            </a:pPr>
            <a:r>
              <a:rPr sz="759" b="1" dirty="0">
                <a:solidFill>
                  <a:srgbClr val="FFFFFF"/>
                </a:solidFill>
                <a:latin typeface="Arial"/>
              </a:rPr>
              <a:t>AWS X-Ray</a:t>
            </a:r>
          </a:p>
          <a:p>
            <a:pPr>
              <a:lnSpc>
                <a:spcPts val="886"/>
              </a:lnSpc>
            </a:pPr>
            <a:r>
              <a:rPr sz="759" dirty="0">
                <a:solidFill>
                  <a:srgbClr val="DAE4ED"/>
                </a:solidFill>
                <a:latin typeface="Arial"/>
              </a:rPr>
              <a:t>Distributed tracing</a:t>
            </a:r>
          </a:p>
          <a:p>
            <a:pPr>
              <a:lnSpc>
                <a:spcPts val="886"/>
              </a:lnSpc>
            </a:pPr>
            <a:r>
              <a:rPr sz="759" dirty="0">
                <a:solidFill>
                  <a:srgbClr val="DAE4ED"/>
                </a:solidFill>
                <a:latin typeface="Arial"/>
              </a:rPr>
              <a:t>(across </a:t>
            </a:r>
            <a:r>
              <a:rPr sz="759" dirty="0" err="1">
                <a:solidFill>
                  <a:srgbClr val="DAE4ED"/>
                </a:solidFill>
                <a:latin typeface="Arial"/>
              </a:rPr>
              <a:t>AppSync</a:t>
            </a:r>
            <a:r>
              <a:rPr sz="759" dirty="0">
                <a:solidFill>
                  <a:srgbClr val="DAE4ED"/>
                </a:solidFill>
                <a:latin typeface="Arial"/>
              </a:rPr>
              <a:t>,</a:t>
            </a:r>
            <a:r>
              <a:rPr lang="en-US" sz="759" dirty="0">
                <a:solidFill>
                  <a:srgbClr val="DAE4ED"/>
                </a:solidFill>
                <a:latin typeface="Arial"/>
              </a:rPr>
              <a:t> </a:t>
            </a:r>
            <a:r>
              <a:rPr sz="759" dirty="0">
                <a:solidFill>
                  <a:srgbClr val="DAE4ED"/>
                </a:solidFill>
                <a:latin typeface="Arial"/>
              </a:rPr>
              <a:t>Lambda, etc.)</a:t>
            </a:r>
          </a:p>
        </p:txBody>
      </p:sp>
      <p:sp>
        <p:nvSpPr>
          <p:cNvPr id="153" name="Rounded Rectangle 152"/>
          <p:cNvSpPr/>
          <p:nvPr/>
        </p:nvSpPr>
        <p:spPr>
          <a:xfrm>
            <a:off x="6920075" y="5755193"/>
            <a:ext cx="435295" cy="435295"/>
          </a:xfrm>
          <a:prstGeom prst="roundRect">
            <a:avLst>
              <a:gd name="adj" fmla="val 22776"/>
            </a:avLst>
          </a:prstGeom>
          <a:solidFill>
            <a:srgbClr val="141D23"/>
          </a:solidFill>
          <a:ln w="7937" cap="rnd">
            <a:solidFill>
              <a:srgbClr val="9AB4CF"/>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4" name="icon refresh-cw"/>
          <p:cNvSpPr/>
          <p:nvPr/>
        </p:nvSpPr>
        <p:spPr>
          <a:xfrm>
            <a:off x="7008116" y="5828805"/>
            <a:ext cx="267324" cy="298424"/>
          </a:xfrm>
          <a:custGeom>
            <a:avLst/>
            <a:gdLst/>
            <a:ahLst/>
            <a:cxnLst/>
            <a:rect l="0" t="0" r="0" b="0"/>
            <a:pathLst>
              <a:path w="100000" h="100000" fill="none">
                <a:moveTo>
                  <a:pt x="12500" y="50000"/>
                </a:moveTo>
                <a:cubicBezTo>
                  <a:pt x="12500" y="43418"/>
                  <a:pt x="14233" y="36950"/>
                  <a:pt x="17524" y="31250"/>
                </a:cubicBezTo>
                <a:cubicBezTo>
                  <a:pt x="20815" y="25550"/>
                  <a:pt x="25550" y="20815"/>
                  <a:pt x="31250" y="17524"/>
                </a:cubicBezTo>
                <a:cubicBezTo>
                  <a:pt x="36950" y="14233"/>
                  <a:pt x="43418" y="12500"/>
                  <a:pt x="50000" y="12500"/>
                </a:cubicBezTo>
                <a:cubicBezTo>
                  <a:pt x="55193" y="12520"/>
                  <a:pt x="60335" y="13535"/>
                  <a:pt x="65146" y="15491"/>
                </a:cubicBezTo>
                <a:cubicBezTo>
                  <a:pt x="69958" y="17447"/>
                  <a:pt x="74349" y="20307"/>
                  <a:pt x="78083" y="23917"/>
                </a:cubicBezTo>
                <a:lnTo>
                  <a:pt x="87500" y="33333"/>
                </a:lnTo>
                <a:moveTo>
                  <a:pt x="87500" y="12500"/>
                </a:moveTo>
                <a:lnTo>
                  <a:pt x="87500" y="33333"/>
                </a:lnTo>
                <a:lnTo>
                  <a:pt x="66667" y="33333"/>
                </a:lnTo>
                <a:moveTo>
                  <a:pt x="87500" y="50000"/>
                </a:moveTo>
                <a:cubicBezTo>
                  <a:pt x="87500" y="56582"/>
                  <a:pt x="85767" y="63050"/>
                  <a:pt x="82476" y="68750"/>
                </a:cubicBezTo>
                <a:cubicBezTo>
                  <a:pt x="79185" y="74450"/>
                  <a:pt x="74450" y="79185"/>
                  <a:pt x="68750" y="82476"/>
                </a:cubicBezTo>
                <a:cubicBezTo>
                  <a:pt x="63050" y="85767"/>
                  <a:pt x="56582" y="87500"/>
                  <a:pt x="50000" y="87500"/>
                </a:cubicBezTo>
                <a:cubicBezTo>
                  <a:pt x="44807" y="87480"/>
                  <a:pt x="39665" y="86465"/>
                  <a:pt x="34854" y="84509"/>
                </a:cubicBezTo>
                <a:cubicBezTo>
                  <a:pt x="30042" y="82553"/>
                  <a:pt x="25651" y="79693"/>
                  <a:pt x="21917" y="76083"/>
                </a:cubicBezTo>
                <a:lnTo>
                  <a:pt x="12500" y="66667"/>
                </a:lnTo>
                <a:moveTo>
                  <a:pt x="33333" y="66667"/>
                </a:moveTo>
                <a:lnTo>
                  <a:pt x="12500" y="66667"/>
                </a:lnTo>
                <a:lnTo>
                  <a:pt x="12500" y="87500"/>
                </a:lnTo>
              </a:path>
            </a:pathLst>
          </a:custGeom>
          <a:noFill/>
          <a:ln w="21439" cap="rnd">
            <a:solidFill>
              <a:srgbClr val="FFFFFF"/>
            </a:solidFill>
            <a:round/>
          </a:ln>
        </p:spPr>
        <p:txBody>
          <a:bodyPr/>
          <a:lstStyle/>
          <a:p>
            <a:endParaRPr/>
          </a:p>
        </p:txBody>
      </p:sp>
      <p:sp>
        <p:nvSpPr>
          <p:cNvPr id="155" name="TextBox 154"/>
          <p:cNvSpPr txBox="1"/>
          <p:nvPr/>
        </p:nvSpPr>
        <p:spPr>
          <a:xfrm>
            <a:off x="7400495" y="5780543"/>
            <a:ext cx="1211228" cy="410369"/>
          </a:xfrm>
          <a:prstGeom prst="rect">
            <a:avLst/>
          </a:prstGeom>
          <a:noFill/>
        </p:spPr>
        <p:txBody>
          <a:bodyPr wrap="square" lIns="0" tIns="0" rIns="0" bIns="0" anchor="t">
            <a:spAutoFit/>
          </a:bodyPr>
          <a:lstStyle/>
          <a:p>
            <a:pPr>
              <a:lnSpc>
                <a:spcPts val="770"/>
              </a:lnSpc>
            </a:pPr>
            <a:r>
              <a:rPr sz="759" b="1" dirty="0">
                <a:solidFill>
                  <a:srgbClr val="FFFFFF"/>
                </a:solidFill>
                <a:latin typeface="Arial"/>
              </a:rPr>
              <a:t>Reliability</a:t>
            </a:r>
          </a:p>
          <a:p>
            <a:pPr>
              <a:lnSpc>
                <a:spcPts val="770"/>
              </a:lnSpc>
            </a:pPr>
            <a:r>
              <a:rPr sz="759" dirty="0">
                <a:solidFill>
                  <a:srgbClr val="DAE4ED"/>
                </a:solidFill>
                <a:latin typeface="Arial"/>
              </a:rPr>
              <a:t>Retry policies</a:t>
            </a:r>
            <a:r>
              <a:rPr lang="en-US" sz="759" dirty="0">
                <a:solidFill>
                  <a:srgbClr val="DAE4ED"/>
                </a:solidFill>
                <a:latin typeface="Arial"/>
              </a:rPr>
              <a:t> </a:t>
            </a:r>
            <a:r>
              <a:rPr sz="759" dirty="0" err="1">
                <a:solidFill>
                  <a:srgbClr val="DAE4ED"/>
                </a:solidFill>
                <a:latin typeface="Arial"/>
              </a:rPr>
              <a:t>Idempotency</a:t>
            </a:r>
            <a:endParaRPr sz="759" dirty="0">
              <a:solidFill>
                <a:srgbClr val="DAE4ED"/>
              </a:solidFill>
              <a:latin typeface="Arial"/>
            </a:endParaRPr>
          </a:p>
          <a:p>
            <a:pPr>
              <a:lnSpc>
                <a:spcPts val="770"/>
              </a:lnSpc>
            </a:pPr>
            <a:r>
              <a:rPr sz="759" dirty="0">
                <a:solidFill>
                  <a:srgbClr val="DAE4ED"/>
                </a:solidFill>
                <a:latin typeface="Arial"/>
              </a:rPr>
              <a:t>Dead-letter queues (DLQs)</a:t>
            </a:r>
          </a:p>
          <a:p>
            <a:pPr>
              <a:lnSpc>
                <a:spcPts val="770"/>
              </a:lnSpc>
            </a:pPr>
            <a:r>
              <a:rPr sz="759" dirty="0">
                <a:solidFill>
                  <a:srgbClr val="DAE4ED"/>
                </a:solidFill>
                <a:latin typeface="Arial"/>
              </a:rPr>
              <a:t>Error handling</a:t>
            </a:r>
          </a:p>
        </p:txBody>
      </p:sp>
      <p:sp>
        <p:nvSpPr>
          <p:cNvPr id="156" name="TextBox 155"/>
          <p:cNvSpPr txBox="1"/>
          <p:nvPr/>
        </p:nvSpPr>
        <p:spPr>
          <a:xfrm>
            <a:off x="8881563" y="5495899"/>
            <a:ext cx="388417" cy="145874"/>
          </a:xfrm>
          <a:prstGeom prst="rect">
            <a:avLst/>
          </a:prstGeom>
          <a:noFill/>
        </p:spPr>
        <p:txBody>
          <a:bodyPr wrap="square" lIns="0" tIns="0" rIns="0" bIns="0" anchor="t">
            <a:spAutoFit/>
          </a:bodyPr>
          <a:lstStyle/>
          <a:p>
            <a:pPr algn="l">
              <a:lnSpc>
                <a:spcPct val="115000"/>
              </a:lnSpc>
            </a:pPr>
            <a:r>
              <a:rPr sz="824" b="1">
                <a:solidFill>
                  <a:srgbClr val="ACD0F4"/>
                </a:solidFill>
                <a:latin typeface="Arial"/>
              </a:rPr>
              <a:t>Legend</a:t>
            </a:r>
          </a:p>
        </p:txBody>
      </p:sp>
      <p:cxnSp>
        <p:nvCxnSpPr>
          <p:cNvPr id="157" name="Connector 156"/>
          <p:cNvCxnSpPr/>
          <p:nvPr/>
        </p:nvCxnSpPr>
        <p:spPr>
          <a:xfrm>
            <a:off x="8841382" y="5725411"/>
            <a:ext cx="394578" cy="5876"/>
          </a:xfrm>
          <a:prstGeom prst="line">
            <a:avLst/>
          </a:prstGeom>
          <a:ln w="15874" cap="rnd">
            <a:solidFill>
              <a:srgbClr val="8DBDFF"/>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8" name="TextBox 157"/>
          <p:cNvSpPr txBox="1"/>
          <p:nvPr/>
        </p:nvSpPr>
        <p:spPr>
          <a:xfrm>
            <a:off x="9346860" y="5648073"/>
            <a:ext cx="1766895" cy="153888"/>
          </a:xfrm>
          <a:prstGeom prst="rect">
            <a:avLst/>
          </a:prstGeom>
          <a:noFill/>
        </p:spPr>
        <p:txBody>
          <a:bodyPr wrap="square" lIns="0" tIns="0" rIns="0" bIns="0" anchor="t">
            <a:spAutoFit/>
          </a:bodyPr>
          <a:lstStyle/>
          <a:p>
            <a:pPr>
              <a:lnSpc>
                <a:spcPts val="602"/>
              </a:lnSpc>
            </a:pPr>
            <a:r>
              <a:rPr sz="759" dirty="0">
                <a:solidFill>
                  <a:srgbClr val="C7D6E8"/>
                </a:solidFill>
                <a:latin typeface="Arial"/>
              </a:rPr>
              <a:t>Synchronous </a:t>
            </a:r>
            <a:r>
              <a:rPr sz="759" dirty="0" err="1">
                <a:solidFill>
                  <a:srgbClr val="C7D6E8"/>
                </a:solidFill>
                <a:latin typeface="Arial"/>
              </a:rPr>
              <a:t>GraphQL</a:t>
            </a:r>
            <a:r>
              <a:rPr sz="759" dirty="0">
                <a:solidFill>
                  <a:srgbClr val="C7D6E8"/>
                </a:solidFill>
                <a:latin typeface="Arial"/>
              </a:rPr>
              <a:t> </a:t>
            </a:r>
            <a:r>
              <a:rPr lang="en-US" sz="759" dirty="0">
                <a:solidFill>
                  <a:srgbClr val="C7D6E8"/>
                </a:solidFill>
                <a:latin typeface="Arial"/>
              </a:rPr>
              <a:t> </a:t>
            </a:r>
            <a:r>
              <a:rPr sz="759" dirty="0" err="1">
                <a:solidFill>
                  <a:srgbClr val="C7D6E8"/>
                </a:solidFill>
                <a:latin typeface="Arial"/>
              </a:rPr>
              <a:t>equest</a:t>
            </a:r>
            <a:r>
              <a:rPr sz="759" dirty="0">
                <a:solidFill>
                  <a:srgbClr val="C7D6E8"/>
                </a:solidFill>
                <a:latin typeface="Arial"/>
              </a:rPr>
              <a:t>/response</a:t>
            </a:r>
            <a:r>
              <a:rPr lang="en-US" sz="759" dirty="0">
                <a:solidFill>
                  <a:srgbClr val="C7D6E8"/>
                </a:solidFill>
                <a:latin typeface="Arial"/>
              </a:rPr>
              <a:t> </a:t>
            </a:r>
            <a:r>
              <a:rPr sz="759" dirty="0">
                <a:solidFill>
                  <a:srgbClr val="C7D6E8"/>
                </a:solidFill>
                <a:latin typeface="Arial"/>
              </a:rPr>
              <a:t>(HTTPS)</a:t>
            </a:r>
          </a:p>
        </p:txBody>
      </p:sp>
      <p:cxnSp>
        <p:nvCxnSpPr>
          <p:cNvPr id="159" name="Connector 158"/>
          <p:cNvCxnSpPr/>
          <p:nvPr/>
        </p:nvCxnSpPr>
        <p:spPr>
          <a:xfrm>
            <a:off x="8858794" y="5961658"/>
            <a:ext cx="377166" cy="0"/>
          </a:xfrm>
          <a:prstGeom prst="line">
            <a:avLst/>
          </a:prstGeom>
          <a:ln w="15874" cap="rnd">
            <a:solidFill>
              <a:srgbClr val="92F6A8"/>
            </a:solidFill>
            <a:prstDash val="dash"/>
            <a:round/>
            <a:headEnd type="triangle" w="med" len="med"/>
            <a:tailEnd type="none" w="med" len="med"/>
          </a:ln>
          <a:effectLst/>
        </p:spPr>
        <p:style>
          <a:lnRef idx="2">
            <a:schemeClr val="accent1"/>
          </a:lnRef>
          <a:fillRef idx="0">
            <a:schemeClr val="accent1"/>
          </a:fillRef>
          <a:effectRef idx="0">
            <a:schemeClr val="accent1"/>
          </a:effectRef>
          <a:fontRef idx="minor">
            <a:schemeClr val="tx1"/>
          </a:fontRef>
        </p:style>
      </p:cxnSp>
      <p:sp>
        <p:nvSpPr>
          <p:cNvPr id="160" name="TextBox 159"/>
          <p:cNvSpPr txBox="1"/>
          <p:nvPr/>
        </p:nvSpPr>
        <p:spPr>
          <a:xfrm>
            <a:off x="9323555" y="5885970"/>
            <a:ext cx="1687605" cy="205184"/>
          </a:xfrm>
          <a:prstGeom prst="rect">
            <a:avLst/>
          </a:prstGeom>
          <a:noFill/>
        </p:spPr>
        <p:txBody>
          <a:bodyPr wrap="square" lIns="0" tIns="0" rIns="0" bIns="0" anchor="t">
            <a:spAutoFit/>
          </a:bodyPr>
          <a:lstStyle/>
          <a:p>
            <a:pPr>
              <a:lnSpc>
                <a:spcPts val="793"/>
              </a:lnSpc>
            </a:pPr>
            <a:r>
              <a:rPr sz="759" dirty="0">
                <a:solidFill>
                  <a:srgbClr val="C7D6E8"/>
                </a:solidFill>
                <a:latin typeface="Arial"/>
              </a:rPr>
              <a:t>Real-time subscription flow</a:t>
            </a:r>
          </a:p>
          <a:p>
            <a:pPr>
              <a:lnSpc>
                <a:spcPts val="793"/>
              </a:lnSpc>
            </a:pPr>
            <a:r>
              <a:rPr sz="759" dirty="0">
                <a:solidFill>
                  <a:srgbClr val="C7D6E8"/>
                </a:solidFill>
                <a:latin typeface="Arial"/>
              </a:rPr>
              <a:t>(</a:t>
            </a:r>
            <a:r>
              <a:rPr sz="759" dirty="0" err="1">
                <a:solidFill>
                  <a:srgbClr val="C7D6E8"/>
                </a:solidFill>
                <a:latin typeface="Arial"/>
              </a:rPr>
              <a:t>WebSockets</a:t>
            </a:r>
            <a:r>
              <a:rPr sz="759" dirty="0">
                <a:solidFill>
                  <a:srgbClr val="C7D6E8"/>
                </a:solidFill>
                <a:latin typeface="Arial"/>
              </a:rPr>
              <a:t>)</a:t>
            </a:r>
          </a:p>
        </p:txBody>
      </p:sp>
      <p:cxnSp>
        <p:nvCxnSpPr>
          <p:cNvPr id="161" name="Connector 160"/>
          <p:cNvCxnSpPr/>
          <p:nvPr/>
        </p:nvCxnSpPr>
        <p:spPr>
          <a:xfrm>
            <a:off x="8861338" y="6235920"/>
            <a:ext cx="408642" cy="0"/>
          </a:xfrm>
          <a:prstGeom prst="line">
            <a:avLst/>
          </a:prstGeom>
          <a:ln w="15874" cap="rnd">
            <a:solidFill>
              <a:srgbClr val="F260B0"/>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2" name="TextBox 161"/>
          <p:cNvSpPr txBox="1"/>
          <p:nvPr/>
        </p:nvSpPr>
        <p:spPr>
          <a:xfrm>
            <a:off x="9360627" y="6149358"/>
            <a:ext cx="1723931" cy="179536"/>
          </a:xfrm>
          <a:prstGeom prst="rect">
            <a:avLst/>
          </a:prstGeom>
          <a:noFill/>
        </p:spPr>
        <p:txBody>
          <a:bodyPr wrap="square" lIns="0" tIns="0" rIns="0" bIns="0" anchor="t">
            <a:spAutoFit/>
          </a:bodyPr>
          <a:lstStyle/>
          <a:p>
            <a:pPr>
              <a:lnSpc>
                <a:spcPts val="653"/>
              </a:lnSpc>
            </a:pPr>
            <a:r>
              <a:rPr sz="759" dirty="0">
                <a:solidFill>
                  <a:srgbClr val="97B6D6"/>
                </a:solidFill>
                <a:latin typeface="Arial"/>
              </a:rPr>
              <a:t>Asynchronous event flow</a:t>
            </a:r>
            <a:r>
              <a:rPr lang="en-US" sz="759" dirty="0">
                <a:solidFill>
                  <a:srgbClr val="97B6D6"/>
                </a:solidFill>
                <a:latin typeface="Arial"/>
              </a:rPr>
              <a:t> </a:t>
            </a:r>
            <a:r>
              <a:rPr sz="759" dirty="0">
                <a:solidFill>
                  <a:srgbClr val="97B6D6"/>
                </a:solidFill>
                <a:latin typeface="Arial"/>
              </a:rPr>
              <a:t>(SNS/SQS/</a:t>
            </a:r>
            <a:r>
              <a:rPr sz="759" dirty="0" err="1">
                <a:solidFill>
                  <a:srgbClr val="97B6D6"/>
                </a:solidFill>
                <a:latin typeface="Arial"/>
              </a:rPr>
              <a:t>EventBridge</a:t>
            </a:r>
            <a:r>
              <a:rPr sz="759" dirty="0">
                <a:solidFill>
                  <a:srgbClr val="97B6D6"/>
                </a:solidFill>
                <a:latin typeface="Arial"/>
              </a:rPr>
              <a:t>)</a:t>
            </a:r>
          </a:p>
        </p:txBody>
      </p:sp>
      <p:cxnSp>
        <p:nvCxnSpPr>
          <p:cNvPr id="163" name="Connector 162"/>
          <p:cNvCxnSpPr/>
          <p:nvPr/>
        </p:nvCxnSpPr>
        <p:spPr>
          <a:xfrm>
            <a:off x="8876740" y="6472421"/>
            <a:ext cx="364844" cy="7029"/>
          </a:xfrm>
          <a:prstGeom prst="line">
            <a:avLst/>
          </a:prstGeom>
          <a:ln w="7937" cap="rnd">
            <a:solidFill>
              <a:srgbClr val="B9D3E9"/>
            </a:solidFill>
            <a:prstDash val="dash"/>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4" name="TextBox 163"/>
          <p:cNvSpPr txBox="1"/>
          <p:nvPr/>
        </p:nvSpPr>
        <p:spPr>
          <a:xfrm>
            <a:off x="9366010" y="6421060"/>
            <a:ext cx="948541" cy="128497"/>
          </a:xfrm>
          <a:prstGeom prst="rect">
            <a:avLst/>
          </a:prstGeom>
          <a:noFill/>
        </p:spPr>
        <p:txBody>
          <a:bodyPr wrap="square" lIns="0" tIns="0" rIns="0" bIns="0" anchor="t">
            <a:spAutoFit/>
          </a:bodyPr>
          <a:lstStyle/>
          <a:p>
            <a:pPr algn="l">
              <a:lnSpc>
                <a:spcPct val="110000"/>
              </a:lnSpc>
            </a:pPr>
            <a:r>
              <a:rPr sz="759" dirty="0">
                <a:solidFill>
                  <a:srgbClr val="C6D8E8"/>
                </a:solidFill>
                <a:latin typeface="Arial"/>
              </a:rPr>
              <a:t>Optional flow</a:t>
            </a:r>
          </a:p>
        </p:txBody>
      </p:sp>
      <p:cxnSp>
        <p:nvCxnSpPr>
          <p:cNvPr id="165" name="Connector 164"/>
          <p:cNvCxnSpPr>
            <a:endCxn id="167" idx="1"/>
          </p:cNvCxnSpPr>
          <p:nvPr/>
        </p:nvCxnSpPr>
        <p:spPr>
          <a:xfrm>
            <a:off x="1933914" y="1205432"/>
            <a:ext cx="148747" cy="16776"/>
          </a:xfrm>
          <a:prstGeom prst="line">
            <a:avLst/>
          </a:prstGeom>
          <a:ln w="11906" cap="rnd">
            <a:solidFill>
              <a:srgbClr val="888888"/>
            </a:solidFill>
            <a:prstDash val="dash"/>
            <a:round/>
            <a:headEnd type="none" w="med" len="med"/>
            <a:tailEnd type="triangle" w="med" len="med"/>
          </a:ln>
          <a:effectLst/>
        </p:spPr>
        <p:style>
          <a:lnRef idx="2">
            <a:schemeClr val="accent1"/>
          </a:lnRef>
          <a:fillRef idx="0">
            <a:schemeClr val="accent1"/>
          </a:fillRef>
          <a:effectRef idx="0">
            <a:schemeClr val="accent1"/>
          </a:effectRef>
          <a:fontRef idx="minor">
            <a:schemeClr val="tx1"/>
          </a:fontRef>
        </p:style>
      </p:cxnSp>
      <p:pic>
        <p:nvPicPr>
          <p:cNvPr id="167" name="Graphic 17">
            <a:extLst>
              <a:ext uri="{FF2B5EF4-FFF2-40B4-BE49-F238E27FC236}">
                <a16:creationId xmlns:a16="http://schemas.microsoft.com/office/drawing/2014/main" xmlns="" id="{29A4B8A3-9C63-104B-986C-E2796ED6BACB}"/>
              </a:ext>
            </a:extLst>
          </p:cNvPr>
          <p:cNvPicPr>
            <a:picLocks noChangeAspect="1" noChangeArrowheads="1"/>
          </p:cNvPicPr>
          <p:nvPr/>
        </p:nvPicPr>
        <p:blipFill>
          <a:blip r:embed="rId16">
            <a:extLst>
              <a:ext uri="{96DAC541-7B7A-43D3-8B79-37D633B846F1}">
                <asvg:svgBlip xmlns:asvg="http://schemas.microsoft.com/office/drawing/2016/SVG/main" xmlns="" r:embed="rId61"/>
              </a:ext>
            </a:extLst>
          </a:blip>
          <a:srcRect/>
          <a:stretch/>
        </p:blipFill>
        <p:spPr bwMode="auto">
          <a:xfrm>
            <a:off x="2082661" y="987719"/>
            <a:ext cx="468978" cy="468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 name="TextBox 167"/>
          <p:cNvSpPr txBox="1"/>
          <p:nvPr/>
        </p:nvSpPr>
        <p:spPr>
          <a:xfrm>
            <a:off x="1857781" y="1472490"/>
            <a:ext cx="802817" cy="346249"/>
          </a:xfrm>
          <a:prstGeom prst="rect">
            <a:avLst/>
          </a:prstGeom>
          <a:noFill/>
        </p:spPr>
        <p:txBody>
          <a:bodyPr wrap="square" lIns="0" tIns="0" rIns="0" bIns="0" anchor="t">
            <a:spAutoFit/>
          </a:bodyPr>
          <a:lstStyle/>
          <a:p>
            <a:pPr algn="ctr">
              <a:lnSpc>
                <a:spcPts val="860"/>
              </a:lnSpc>
            </a:pPr>
            <a:r>
              <a:rPr sz="758" b="1" dirty="0">
                <a:solidFill>
                  <a:srgbClr val="F6F5FF"/>
                </a:solidFill>
                <a:latin typeface="Arial"/>
              </a:rPr>
              <a:t>Amazon</a:t>
            </a:r>
            <a:endParaRPr lang="en-US" sz="758" b="1" dirty="0">
              <a:solidFill>
                <a:srgbClr val="F6F5FF"/>
              </a:solidFill>
              <a:latin typeface="Arial"/>
            </a:endParaRPr>
          </a:p>
          <a:p>
            <a:pPr algn="ctr">
              <a:lnSpc>
                <a:spcPts val="860"/>
              </a:lnSpc>
            </a:pPr>
            <a:r>
              <a:rPr sz="758" b="1" dirty="0">
                <a:solidFill>
                  <a:srgbClr val="F6F5FF"/>
                </a:solidFill>
                <a:latin typeface="Arial"/>
              </a:rPr>
              <a:t> </a:t>
            </a:r>
            <a:r>
              <a:rPr sz="758" b="1" dirty="0" err="1">
                <a:solidFill>
                  <a:srgbClr val="F6F5FF"/>
                </a:solidFill>
                <a:latin typeface="Arial"/>
              </a:rPr>
              <a:t>Cognito</a:t>
            </a:r>
            <a:endParaRPr sz="758" b="1" dirty="0">
              <a:solidFill>
                <a:srgbClr val="F6F5FF"/>
              </a:solidFill>
              <a:latin typeface="Arial"/>
            </a:endParaRPr>
          </a:p>
          <a:p>
            <a:pPr algn="ctr">
              <a:lnSpc>
                <a:spcPts val="860"/>
              </a:lnSpc>
            </a:pPr>
            <a:r>
              <a:rPr sz="758" b="1" dirty="0">
                <a:solidFill>
                  <a:srgbClr val="F6F5FF"/>
                </a:solidFill>
                <a:latin typeface="Arial"/>
              </a:rPr>
              <a:t>(User Pool)</a:t>
            </a:r>
          </a:p>
        </p:txBody>
      </p:sp>
      <p:pic>
        <p:nvPicPr>
          <p:cNvPr id="169" name="Graphic 23">
            <a:extLst>
              <a:ext uri="{FF2B5EF4-FFF2-40B4-BE49-F238E27FC236}">
                <a16:creationId xmlns:a16="http://schemas.microsoft.com/office/drawing/2014/main" xmlns="" id="{5FEADC81-49E1-C5C5-CA9F-21E7F7C9EDE2}"/>
              </a:ext>
            </a:extLst>
          </p:cNvPr>
          <p:cNvPicPr>
            <a:picLocks noChangeAspect="1" noChangeArrowheads="1"/>
          </p:cNvPicPr>
          <p:nvPr/>
        </p:nvPicPr>
        <p:blipFill>
          <a:blip r:embed="rId62">
            <a:extLst>
              <a:ext uri="{96DAC541-7B7A-43D3-8B79-37D633B846F1}">
                <asvg:svgBlip xmlns:asvg="http://schemas.microsoft.com/office/drawing/2016/SVG/main" xmlns="" r:embed="rId63"/>
              </a:ext>
            </a:extLst>
          </a:blip>
          <a:srcRect/>
          <a:stretch/>
        </p:blipFill>
        <p:spPr bwMode="auto">
          <a:xfrm flipH="1">
            <a:off x="1371432" y="1134973"/>
            <a:ext cx="396478" cy="396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2" name="Connector 78"/>
          <p:cNvCxnSpPr/>
          <p:nvPr/>
        </p:nvCxnSpPr>
        <p:spPr>
          <a:xfrm>
            <a:off x="4588887" y="3018879"/>
            <a:ext cx="273784" cy="0"/>
          </a:xfrm>
          <a:prstGeom prst="line">
            <a:avLst/>
          </a:prstGeom>
          <a:ln w="7937" cap="rnd">
            <a:solidFill>
              <a:srgbClr val="B5D7FF"/>
            </a:solidFill>
            <a:prstDash val="dash"/>
            <a:round/>
            <a:headEnd type="triangle" w="med" len="me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5" name="TextBox 15">
            <a:extLst>
              <a:ext uri="{FF2B5EF4-FFF2-40B4-BE49-F238E27FC236}">
                <a16:creationId xmlns:a16="http://schemas.microsoft.com/office/drawing/2014/main" xmlns="" id="{F7D962A4-0C55-B74F-8359-63743FFB158D}"/>
              </a:ext>
            </a:extLst>
          </p:cNvPr>
          <p:cNvSpPr txBox="1">
            <a:spLocks noChangeArrowheads="1"/>
          </p:cNvSpPr>
          <p:nvPr/>
        </p:nvSpPr>
        <p:spPr bwMode="auto">
          <a:xfrm>
            <a:off x="3610298" y="2547913"/>
            <a:ext cx="883983" cy="3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759" b="1" dirty="0">
                <a:solidFill>
                  <a:schemeClr val="bg1"/>
                </a:solidFill>
                <a:latin typeface="Arial" panose="020B0604020202020204" pitchFamily="34" charset="0"/>
                <a:ea typeface="Amazon Ember" panose="020B0603020204020204" pitchFamily="34" charset="0"/>
                <a:cs typeface="Arial" panose="020B0604020202020204" pitchFamily="34" charset="0"/>
              </a:rPr>
              <a:t>AWS </a:t>
            </a:r>
            <a:r>
              <a:rPr lang="en-US" altLang="en-US" sz="759" b="1" dirty="0" err="1">
                <a:solidFill>
                  <a:schemeClr val="bg1"/>
                </a:solidFill>
                <a:latin typeface="Arial" panose="020B0604020202020204" pitchFamily="34" charset="0"/>
                <a:ea typeface="Amazon Ember" panose="020B0603020204020204" pitchFamily="34" charset="0"/>
                <a:cs typeface="Arial" panose="020B0604020202020204" pitchFamily="34" charset="0"/>
              </a:rPr>
              <a:t>AppSync</a:t>
            </a:r>
            <a:r>
              <a:rPr lang="en-US" altLang="en-US" sz="759" b="1" dirty="0">
                <a:solidFill>
                  <a:schemeClr val="bg1"/>
                </a:solidFill>
                <a:latin typeface="Arial" panose="020B0604020202020204" pitchFamily="34" charset="0"/>
                <a:ea typeface="Amazon Ember" panose="020B0603020204020204" pitchFamily="34" charset="0"/>
                <a:cs typeface="Arial" panose="020B0604020202020204" pitchFamily="34" charset="0"/>
              </a:rPr>
              <a:t> </a:t>
            </a:r>
          </a:p>
          <a:p>
            <a:pPr algn="ctr" eaLnBrk="1" hangingPunct="1"/>
            <a:r>
              <a:rPr lang="en-US" altLang="en-US" sz="759" b="1" dirty="0" err="1">
                <a:solidFill>
                  <a:schemeClr val="bg1"/>
                </a:solidFill>
                <a:latin typeface="Arial" panose="020B0604020202020204" pitchFamily="34" charset="0"/>
                <a:ea typeface="Amazon Ember" panose="020B0603020204020204" pitchFamily="34" charset="0"/>
                <a:cs typeface="Arial" panose="020B0604020202020204" pitchFamily="34" charset="0"/>
              </a:rPr>
              <a:t>GraphQL</a:t>
            </a:r>
            <a:r>
              <a:rPr lang="en-US" altLang="en-US" sz="759" b="1" dirty="0">
                <a:solidFill>
                  <a:schemeClr val="bg1"/>
                </a:solidFill>
                <a:latin typeface="Arial" panose="020B0604020202020204" pitchFamily="34" charset="0"/>
                <a:ea typeface="Amazon Ember" panose="020B0603020204020204" pitchFamily="34" charset="0"/>
                <a:cs typeface="Arial" panose="020B0604020202020204" pitchFamily="34" charset="0"/>
              </a:rPr>
              <a:t> API</a:t>
            </a:r>
          </a:p>
        </p:txBody>
      </p:sp>
      <p:cxnSp>
        <p:nvCxnSpPr>
          <p:cNvPr id="196" name="Connector 87"/>
          <p:cNvCxnSpPr/>
          <p:nvPr/>
        </p:nvCxnSpPr>
        <p:spPr>
          <a:xfrm flipH="1">
            <a:off x="2271780" y="2960005"/>
            <a:ext cx="1290882" cy="0"/>
          </a:xfrm>
          <a:prstGeom prst="line">
            <a:avLst/>
          </a:prstGeom>
          <a:ln w="15874" cap="rnd">
            <a:solidFill>
              <a:srgbClr val="8AF5A8"/>
            </a:solidFill>
            <a:prstDash val="dash"/>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9" name="TextBox 198"/>
          <p:cNvSpPr txBox="1"/>
          <p:nvPr/>
        </p:nvSpPr>
        <p:spPr>
          <a:xfrm>
            <a:off x="2385624" y="3020035"/>
            <a:ext cx="990865" cy="461665"/>
          </a:xfrm>
          <a:prstGeom prst="rect">
            <a:avLst/>
          </a:prstGeom>
          <a:noFill/>
        </p:spPr>
        <p:txBody>
          <a:bodyPr wrap="square" lIns="0" tIns="0" rIns="0" bIns="0" anchor="t">
            <a:spAutoFit/>
          </a:bodyPr>
          <a:lstStyle/>
          <a:p>
            <a:pPr algn="ctr">
              <a:lnSpc>
                <a:spcPts val="862"/>
              </a:lnSpc>
            </a:pPr>
            <a:r>
              <a:rPr sz="759" b="1" dirty="0" err="1">
                <a:solidFill>
                  <a:srgbClr val="A8E9C5"/>
                </a:solidFill>
                <a:latin typeface="Arial"/>
              </a:rPr>
              <a:t>GraphQL</a:t>
            </a:r>
            <a:r>
              <a:rPr sz="759" b="1" dirty="0">
                <a:solidFill>
                  <a:srgbClr val="A8E9C5"/>
                </a:solidFill>
                <a:latin typeface="Arial"/>
              </a:rPr>
              <a:t> Subscriptions</a:t>
            </a:r>
          </a:p>
          <a:p>
            <a:pPr algn="ctr">
              <a:lnSpc>
                <a:spcPts val="862"/>
              </a:lnSpc>
            </a:pPr>
            <a:r>
              <a:rPr sz="759" dirty="0">
                <a:solidFill>
                  <a:srgbClr val="A8E9C5"/>
                </a:solidFill>
                <a:latin typeface="Arial"/>
              </a:rPr>
              <a:t>(Real-time updates</a:t>
            </a:r>
          </a:p>
          <a:p>
            <a:pPr algn="ctr">
              <a:lnSpc>
                <a:spcPts val="862"/>
              </a:lnSpc>
            </a:pPr>
            <a:r>
              <a:rPr sz="759" dirty="0">
                <a:solidFill>
                  <a:srgbClr val="A8E9C5"/>
                </a:solidFill>
                <a:latin typeface="Arial"/>
              </a:rPr>
              <a:t>to connected clients)</a:t>
            </a:r>
          </a:p>
        </p:txBody>
      </p:sp>
      <p:cxnSp>
        <p:nvCxnSpPr>
          <p:cNvPr id="204" name="Connector 139"/>
          <p:cNvCxnSpPr/>
          <p:nvPr/>
        </p:nvCxnSpPr>
        <p:spPr>
          <a:xfrm>
            <a:off x="6850080" y="5737331"/>
            <a:ext cx="0" cy="758752"/>
          </a:xfrm>
          <a:prstGeom prst="line">
            <a:avLst/>
          </a:prstGeom>
          <a:ln w="7937" cap="rnd">
            <a:solidFill>
              <a:srgbClr val="668090"/>
            </a:solidFill>
            <a:round/>
          </a:ln>
          <a:effectLst/>
        </p:spPr>
        <p:style>
          <a:lnRef idx="2">
            <a:schemeClr val="accent1"/>
          </a:lnRef>
          <a:fillRef idx="0">
            <a:schemeClr val="accent1"/>
          </a:fillRef>
          <a:effectRef idx="0">
            <a:schemeClr val="accent1"/>
          </a:effectRef>
          <a:fontRef idx="minor">
            <a:schemeClr val="tx1"/>
          </a:fontRef>
        </p:style>
      </p:cxnSp>
      <p:sp>
        <p:nvSpPr>
          <p:cNvPr id="224" name="Rounded Rectangle 223"/>
          <p:cNvSpPr/>
          <p:nvPr/>
        </p:nvSpPr>
        <p:spPr>
          <a:xfrm>
            <a:off x="7672443" y="2346501"/>
            <a:ext cx="432951" cy="426254"/>
          </a:xfrm>
          <a:prstGeom prst="roundRect">
            <a:avLst>
              <a:gd name="adj" fmla="val 8113"/>
            </a:avLst>
          </a:prstGeom>
          <a:solidFill>
            <a:srgbClr val="EC65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225" name="Picture 224" descr="pic_48.png"/>
          <p:cNvPicPr>
            <a:picLocks noChangeAspect="1"/>
          </p:cNvPicPr>
          <p:nvPr/>
        </p:nvPicPr>
        <p:blipFill>
          <a:blip r:embed="rId4"/>
          <a:stretch>
            <a:fillRect/>
          </a:stretch>
        </p:blipFill>
        <p:spPr>
          <a:xfrm>
            <a:off x="7729040" y="2379516"/>
            <a:ext cx="336174" cy="346361"/>
          </a:xfrm>
          <a:prstGeom prst="rect">
            <a:avLst/>
          </a:prstGeom>
          <a:effectLst/>
        </p:spPr>
      </p:pic>
      <p:pic>
        <p:nvPicPr>
          <p:cNvPr id="234" name="Graphic 17">
            <a:extLst>
              <a:ext uri="{FF2B5EF4-FFF2-40B4-BE49-F238E27FC236}">
                <a16:creationId xmlns:a16="http://schemas.microsoft.com/office/drawing/2014/main" xmlns="" id="{8CE83EE0-3025-B5A3-A6CA-4EAF8ED56CAC}"/>
              </a:ext>
            </a:extLst>
          </p:cNvPr>
          <p:cNvPicPr>
            <a:picLocks noChangeAspect="1"/>
          </p:cNvPicPr>
          <p:nvPr/>
        </p:nvPicPr>
        <p:blipFill>
          <a:blip r:embed="rId64">
            <a:extLst>
              <a:ext uri="{96DAC541-7B7A-43D3-8B79-37D633B846F1}">
                <asvg:svgBlip xmlns:asvg="http://schemas.microsoft.com/office/drawing/2016/SVG/main" xmlns="" r:embed="rId82"/>
              </a:ext>
            </a:extLst>
          </a:blip>
          <a:stretch>
            <a:fillRect/>
          </a:stretch>
        </p:blipFill>
        <p:spPr>
          <a:xfrm>
            <a:off x="6790903" y="4192616"/>
            <a:ext cx="291300" cy="291300"/>
          </a:xfrm>
          <a:prstGeom prst="rect">
            <a:avLst/>
          </a:prstGeom>
        </p:spPr>
      </p:pic>
      <p:cxnSp>
        <p:nvCxnSpPr>
          <p:cNvPr id="235" name="Connector 123"/>
          <p:cNvCxnSpPr/>
          <p:nvPr/>
        </p:nvCxnSpPr>
        <p:spPr>
          <a:xfrm>
            <a:off x="7166678" y="4788243"/>
            <a:ext cx="348729" cy="0"/>
          </a:xfrm>
          <a:prstGeom prst="line">
            <a:avLst/>
          </a:prstGeom>
          <a:ln w="15874" cap="rnd">
            <a:solidFill>
              <a:srgbClr val="F965AE"/>
            </a:solidFill>
            <a:round/>
            <a:tailEnd type="triangle" w="med" len="med"/>
          </a:ln>
          <a:effectLst/>
        </p:spPr>
        <p:style>
          <a:lnRef idx="2">
            <a:schemeClr val="accent1"/>
          </a:lnRef>
          <a:fillRef idx="0">
            <a:schemeClr val="accent1"/>
          </a:fillRef>
          <a:effectRef idx="0">
            <a:schemeClr val="accent1"/>
          </a:effectRef>
          <a:fontRef idx="minor">
            <a:schemeClr val="tx1"/>
          </a:fontRef>
        </p:style>
      </p:cxnSp>
      <p:pic>
        <p:nvPicPr>
          <p:cNvPr id="239" name="Graphic 17">
            <a:extLst>
              <a:ext uri="{FF2B5EF4-FFF2-40B4-BE49-F238E27FC236}">
                <a16:creationId xmlns:a16="http://schemas.microsoft.com/office/drawing/2014/main" xmlns="" id="{8CE83EE0-3025-B5A3-A6CA-4EAF8ED56CAC}"/>
              </a:ext>
            </a:extLst>
          </p:cNvPr>
          <p:cNvPicPr>
            <a:picLocks noChangeAspect="1"/>
          </p:cNvPicPr>
          <p:nvPr/>
        </p:nvPicPr>
        <p:blipFill>
          <a:blip r:embed="rId64">
            <a:extLst>
              <a:ext uri="{96DAC541-7B7A-43D3-8B79-37D633B846F1}">
                <asvg:svgBlip xmlns:asvg="http://schemas.microsoft.com/office/drawing/2016/SVG/main" xmlns="" r:embed="rId82"/>
              </a:ext>
            </a:extLst>
          </a:blip>
          <a:stretch>
            <a:fillRect/>
          </a:stretch>
        </p:blipFill>
        <p:spPr>
          <a:xfrm>
            <a:off x="8226953" y="4146224"/>
            <a:ext cx="291300" cy="291300"/>
          </a:xfrm>
          <a:prstGeom prst="rect">
            <a:avLst/>
          </a:prstGeom>
        </p:spPr>
      </p:pic>
      <p:pic>
        <p:nvPicPr>
          <p:cNvPr id="240" name="Graphic 17">
            <a:extLst>
              <a:ext uri="{FF2B5EF4-FFF2-40B4-BE49-F238E27FC236}">
                <a16:creationId xmlns:a16="http://schemas.microsoft.com/office/drawing/2014/main" xmlns="" id="{8CE83EE0-3025-B5A3-A6CA-4EAF8ED56CAC}"/>
              </a:ext>
            </a:extLst>
          </p:cNvPr>
          <p:cNvPicPr>
            <a:picLocks noChangeAspect="1"/>
          </p:cNvPicPr>
          <p:nvPr/>
        </p:nvPicPr>
        <p:blipFill>
          <a:blip r:embed="rId64">
            <a:extLst>
              <a:ext uri="{96DAC541-7B7A-43D3-8B79-37D633B846F1}">
                <asvg:svgBlip xmlns:asvg="http://schemas.microsoft.com/office/drawing/2016/SVG/main" xmlns="" r:embed="rId82"/>
              </a:ext>
            </a:extLst>
          </a:blip>
          <a:stretch>
            <a:fillRect/>
          </a:stretch>
        </p:blipFill>
        <p:spPr>
          <a:xfrm>
            <a:off x="9777684" y="4160697"/>
            <a:ext cx="291300" cy="291300"/>
          </a:xfrm>
          <a:prstGeom prst="rect">
            <a:avLst/>
          </a:prstGeom>
        </p:spPr>
      </p:pic>
      <p:cxnSp>
        <p:nvCxnSpPr>
          <p:cNvPr id="241" name="Connector 119"/>
          <p:cNvCxnSpPr/>
          <p:nvPr/>
        </p:nvCxnSpPr>
        <p:spPr>
          <a:xfrm>
            <a:off x="9939742" y="4403018"/>
            <a:ext cx="0" cy="160724"/>
          </a:xfrm>
          <a:prstGeom prst="line">
            <a:avLst/>
          </a:prstGeom>
          <a:ln w="15874" cap="rnd">
            <a:solidFill>
              <a:srgbClr val="FF73B5"/>
            </a:solidFill>
            <a:round/>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42" name="Connector 123"/>
          <p:cNvCxnSpPr/>
          <p:nvPr/>
        </p:nvCxnSpPr>
        <p:spPr>
          <a:xfrm>
            <a:off x="10170132" y="4788243"/>
            <a:ext cx="394980" cy="0"/>
          </a:xfrm>
          <a:prstGeom prst="line">
            <a:avLst/>
          </a:prstGeom>
          <a:ln w="15874" cap="rnd">
            <a:solidFill>
              <a:srgbClr val="F965AE"/>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243" name="TextBox 242"/>
          <p:cNvSpPr txBox="1"/>
          <p:nvPr/>
        </p:nvSpPr>
        <p:spPr>
          <a:xfrm>
            <a:off x="8923150" y="4931159"/>
            <a:ext cx="518024" cy="179536"/>
          </a:xfrm>
          <a:prstGeom prst="rect">
            <a:avLst/>
          </a:prstGeom>
          <a:noFill/>
        </p:spPr>
        <p:txBody>
          <a:bodyPr wrap="square" lIns="0" tIns="0" rIns="0" bIns="0" anchor="t">
            <a:spAutoFit/>
          </a:bodyPr>
          <a:lstStyle/>
          <a:p>
            <a:pPr algn="ctr">
              <a:lnSpc>
                <a:spcPts val="672"/>
              </a:lnSpc>
            </a:pPr>
            <a:r>
              <a:rPr sz="759" b="1" dirty="0">
                <a:solidFill>
                  <a:srgbClr val="F5FBFF"/>
                </a:solidFill>
                <a:latin typeface="Arial"/>
              </a:rPr>
              <a:t>DLQ</a:t>
            </a:r>
          </a:p>
          <a:p>
            <a:pPr algn="ctr">
              <a:lnSpc>
                <a:spcPts val="672"/>
              </a:lnSpc>
            </a:pPr>
            <a:r>
              <a:rPr sz="759" dirty="0">
                <a:solidFill>
                  <a:srgbClr val="DCEBF2"/>
                </a:solidFill>
                <a:latin typeface="Arial"/>
              </a:rPr>
              <a:t>(on failure)</a:t>
            </a:r>
          </a:p>
        </p:txBody>
      </p:sp>
      <p:sp>
        <p:nvSpPr>
          <p:cNvPr id="244" name="TextBox 243"/>
          <p:cNvSpPr txBox="1"/>
          <p:nvPr/>
        </p:nvSpPr>
        <p:spPr>
          <a:xfrm>
            <a:off x="10534409" y="4932280"/>
            <a:ext cx="518024" cy="179536"/>
          </a:xfrm>
          <a:prstGeom prst="rect">
            <a:avLst/>
          </a:prstGeom>
          <a:noFill/>
        </p:spPr>
        <p:txBody>
          <a:bodyPr wrap="square" lIns="0" tIns="0" rIns="0" bIns="0" anchor="t">
            <a:spAutoFit/>
          </a:bodyPr>
          <a:lstStyle/>
          <a:p>
            <a:pPr algn="ctr">
              <a:lnSpc>
                <a:spcPts val="672"/>
              </a:lnSpc>
            </a:pPr>
            <a:r>
              <a:rPr sz="759" b="1" dirty="0">
                <a:solidFill>
                  <a:srgbClr val="F5FBFF"/>
                </a:solidFill>
                <a:latin typeface="Arial"/>
              </a:rPr>
              <a:t>DLQ</a:t>
            </a:r>
          </a:p>
          <a:p>
            <a:pPr algn="ctr">
              <a:lnSpc>
                <a:spcPts val="672"/>
              </a:lnSpc>
            </a:pPr>
            <a:r>
              <a:rPr sz="759" dirty="0">
                <a:solidFill>
                  <a:srgbClr val="DCEBF2"/>
                </a:solidFill>
                <a:latin typeface="Arial"/>
              </a:rPr>
              <a:t>(on failure)</a:t>
            </a:r>
          </a:p>
        </p:txBody>
      </p:sp>
      <p:pic>
        <p:nvPicPr>
          <p:cNvPr id="245" name="Graphic 16">
            <a:extLst>
              <a:ext uri="{FF2B5EF4-FFF2-40B4-BE49-F238E27FC236}">
                <a16:creationId xmlns="" xmlns:a16="http://schemas.microsoft.com/office/drawing/2014/main" id="{434C0D7A-0CD2-1BB5-6981-1454BF4BB5A2}"/>
              </a:ext>
            </a:extLst>
          </p:cNvPr>
          <p:cNvPicPr>
            <a:picLocks noChangeAspect="1"/>
          </p:cNvPicPr>
          <p:nvPr/>
        </p:nvPicPr>
        <p:blipFill>
          <a:blip r:embed="rId83">
            <a:extLst>
              <a:ext uri="{96DAC541-7B7A-43D3-8B79-37D633B846F1}">
                <asvg:svgBlip xmlns="" xmlns:asvg="http://schemas.microsoft.com/office/drawing/2016/SVG/main" r:embed="rId84"/>
              </a:ext>
            </a:extLst>
          </a:blip>
          <a:stretch>
            <a:fillRect/>
          </a:stretch>
        </p:blipFill>
        <p:spPr>
          <a:xfrm>
            <a:off x="7541607" y="4638093"/>
            <a:ext cx="284228" cy="284228"/>
          </a:xfrm>
          <a:prstGeom prst="rect">
            <a:avLst/>
          </a:prstGeom>
        </p:spPr>
      </p:pic>
      <p:pic>
        <p:nvPicPr>
          <p:cNvPr id="246" name="Graphic 16">
            <a:extLst>
              <a:ext uri="{FF2B5EF4-FFF2-40B4-BE49-F238E27FC236}">
                <a16:creationId xmlns="" xmlns:a16="http://schemas.microsoft.com/office/drawing/2014/main" id="{434C0D7A-0CD2-1BB5-6981-1454BF4BB5A2}"/>
              </a:ext>
            </a:extLst>
          </p:cNvPr>
          <p:cNvPicPr>
            <a:picLocks noChangeAspect="1"/>
          </p:cNvPicPr>
          <p:nvPr/>
        </p:nvPicPr>
        <p:blipFill>
          <a:blip r:embed="rId83">
            <a:extLst>
              <a:ext uri="{96DAC541-7B7A-43D3-8B79-37D633B846F1}">
                <asvg:svgBlip xmlns="" xmlns:asvg="http://schemas.microsoft.com/office/drawing/2016/SVG/main" r:embed="rId84"/>
              </a:ext>
            </a:extLst>
          </a:blip>
          <a:stretch>
            <a:fillRect/>
          </a:stretch>
        </p:blipFill>
        <p:spPr>
          <a:xfrm>
            <a:off x="9025910" y="4645812"/>
            <a:ext cx="284228" cy="284228"/>
          </a:xfrm>
          <a:prstGeom prst="rect">
            <a:avLst/>
          </a:prstGeom>
        </p:spPr>
      </p:pic>
      <p:pic>
        <p:nvPicPr>
          <p:cNvPr id="247" name="Graphic 16">
            <a:extLst>
              <a:ext uri="{FF2B5EF4-FFF2-40B4-BE49-F238E27FC236}">
                <a16:creationId xmlns="" xmlns:a16="http://schemas.microsoft.com/office/drawing/2014/main" id="{434C0D7A-0CD2-1BB5-6981-1454BF4BB5A2}"/>
              </a:ext>
            </a:extLst>
          </p:cNvPr>
          <p:cNvPicPr>
            <a:picLocks noChangeAspect="1"/>
          </p:cNvPicPr>
          <p:nvPr/>
        </p:nvPicPr>
        <p:blipFill>
          <a:blip r:embed="rId83">
            <a:extLst>
              <a:ext uri="{96DAC541-7B7A-43D3-8B79-37D633B846F1}">
                <asvg:svgBlip xmlns="" xmlns:asvg="http://schemas.microsoft.com/office/drawing/2016/SVG/main" r:embed="rId84"/>
              </a:ext>
            </a:extLst>
          </a:blip>
          <a:stretch>
            <a:fillRect/>
          </a:stretch>
        </p:blipFill>
        <p:spPr>
          <a:xfrm>
            <a:off x="10625490" y="4646932"/>
            <a:ext cx="284228" cy="284228"/>
          </a:xfrm>
          <a:prstGeom prst="rect">
            <a:avLst/>
          </a:prstGeom>
        </p:spPr>
      </p:pic>
      <p:pic>
        <p:nvPicPr>
          <p:cNvPr id="166" name="Graphic 37">
            <a:extLst>
              <a:ext uri="{FF2B5EF4-FFF2-40B4-BE49-F238E27FC236}">
                <a16:creationId xmlns="" xmlns:a16="http://schemas.microsoft.com/office/drawing/2014/main" id="{165854FB-D6C2-5339-13A7-45F91BDECAE0}"/>
              </a:ext>
            </a:extLst>
          </p:cNvPr>
          <p:cNvPicPr>
            <a:picLocks noChangeAspect="1"/>
          </p:cNvPicPr>
          <p:nvPr/>
        </p:nvPicPr>
        <p:blipFill>
          <a:blip r:embed="rId85">
            <a:extLst>
              <a:ext uri="{96DAC541-7B7A-43D3-8B79-37D633B846F1}">
                <asvg:svgBlip xmlns="" xmlns:asvg="http://schemas.microsoft.com/office/drawing/2016/SVG/main" r:embed="rId86"/>
              </a:ext>
            </a:extLst>
          </a:blip>
          <a:stretch>
            <a:fillRect/>
          </a:stretch>
        </p:blipFill>
        <p:spPr>
          <a:xfrm>
            <a:off x="7260818" y="1416491"/>
            <a:ext cx="247079" cy="247079"/>
          </a:xfrm>
          <a:prstGeom prst="rect">
            <a:avLst/>
          </a:prstGeom>
        </p:spPr>
      </p:pic>
      <p:pic>
        <p:nvPicPr>
          <p:cNvPr id="170" name="Graphic 38">
            <a:extLst>
              <a:ext uri="{FF2B5EF4-FFF2-40B4-BE49-F238E27FC236}">
                <a16:creationId xmlns="" xmlns:a16="http://schemas.microsoft.com/office/drawing/2014/main" id="{66F0C245-BAD6-3207-FA9A-5F56D27DD82E}"/>
              </a:ext>
            </a:extLst>
          </p:cNvPr>
          <p:cNvPicPr>
            <a:picLocks noChangeAspect="1"/>
          </p:cNvPicPr>
          <p:nvPr/>
        </p:nvPicPr>
        <p:blipFill>
          <a:blip r:embed="rId87">
            <a:extLst>
              <a:ext uri="{96DAC541-7B7A-43D3-8B79-37D633B846F1}">
                <asvg:svgBlip xmlns="" xmlns:asvg="http://schemas.microsoft.com/office/drawing/2016/SVG/main" r:embed="rId88"/>
              </a:ext>
            </a:extLst>
          </a:blip>
          <a:stretch>
            <a:fillRect/>
          </a:stretch>
        </p:blipFill>
        <p:spPr>
          <a:xfrm>
            <a:off x="7729228" y="1918285"/>
            <a:ext cx="305940" cy="305940"/>
          </a:xfrm>
          <a:prstGeom prst="rect">
            <a:avLst/>
          </a:prstGeom>
        </p:spPr>
      </p:pic>
      <p:cxnSp>
        <p:nvCxnSpPr>
          <p:cNvPr id="171" name="Connector 79"/>
          <p:cNvCxnSpPr>
            <a:endCxn id="224" idx="0"/>
          </p:cNvCxnSpPr>
          <p:nvPr/>
        </p:nvCxnSpPr>
        <p:spPr>
          <a:xfrm>
            <a:off x="7880997" y="2224467"/>
            <a:ext cx="7922" cy="122034"/>
          </a:xfrm>
          <a:prstGeom prst="line">
            <a:avLst/>
          </a:prstGeom>
          <a:ln w="15874" cap="rnd">
            <a:solidFill>
              <a:srgbClr val="9EE6CF"/>
            </a:solidFill>
            <a:round/>
            <a:tailEnd type="triangle" w="med" len="med"/>
          </a:ln>
          <a:effectLst/>
        </p:spPr>
        <p:style>
          <a:lnRef idx="2">
            <a:schemeClr val="accent1"/>
          </a:lnRef>
          <a:fillRef idx="0">
            <a:schemeClr val="accent1"/>
          </a:fillRef>
          <a:effectRef idx="0">
            <a:schemeClr val="accent1"/>
          </a:effectRef>
          <a:fontRef idx="minor">
            <a:schemeClr val="tx1"/>
          </a:fontRef>
        </p:style>
      </p:cxnSp>
      <p:sp>
        <p:nvSpPr>
          <p:cNvPr id="173" name="TextBox 172"/>
          <p:cNvSpPr txBox="1"/>
          <p:nvPr/>
        </p:nvSpPr>
        <p:spPr>
          <a:xfrm>
            <a:off x="7015638" y="2021012"/>
            <a:ext cx="844806" cy="179536"/>
          </a:xfrm>
          <a:prstGeom prst="rect">
            <a:avLst/>
          </a:prstGeom>
          <a:noFill/>
        </p:spPr>
        <p:txBody>
          <a:bodyPr wrap="square" lIns="0" tIns="0" rIns="0" bIns="0" anchor="t">
            <a:spAutoFit/>
          </a:bodyPr>
          <a:lstStyle/>
          <a:p>
            <a:pPr algn="ctr">
              <a:lnSpc>
                <a:spcPts val="713"/>
              </a:lnSpc>
            </a:pPr>
            <a:r>
              <a:rPr sz="759" b="1" dirty="0" err="1">
                <a:solidFill>
                  <a:srgbClr val="E7FFF4"/>
                </a:solidFill>
                <a:latin typeface="Arial"/>
              </a:rPr>
              <a:t>DynamoDB</a:t>
            </a:r>
            <a:r>
              <a:rPr sz="759" b="1" dirty="0">
                <a:solidFill>
                  <a:srgbClr val="E7FFF4"/>
                </a:solidFill>
                <a:latin typeface="Arial"/>
              </a:rPr>
              <a:t> Streams</a:t>
            </a:r>
          </a:p>
        </p:txBody>
      </p:sp>
    </p:spTree>
    <p:extLst>
      <p:ext uri="{BB962C8B-B14F-4D97-AF65-F5344CB8AC3E}">
        <p14:creationId xmlns:p14="http://schemas.microsoft.com/office/powerpoint/2010/main" val="28874547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p:cNvSpPr/>
          <p:nvPr/>
        </p:nvSpPr>
        <p:spPr>
          <a:xfrm>
            <a:off x="318404" y="399283"/>
            <a:ext cx="6213025" cy="2462213"/>
          </a:xfrm>
          <a:prstGeom prst="rect">
            <a:avLst/>
          </a:prstGeom>
        </p:spPr>
        <p:txBody>
          <a:bodyPr wrap="square">
            <a:spAutoFit/>
          </a:bodyPr>
          <a:lstStyle/>
          <a:p>
            <a:r>
              <a:rPr lang="en-US" sz="1200" b="1" dirty="0">
                <a:solidFill>
                  <a:schemeClr val="accent1"/>
                </a:solidFill>
                <a:latin typeface="+mn-lt"/>
              </a:rPr>
              <a:t>Infrastructure </a:t>
            </a:r>
            <a:r>
              <a:rPr lang="en-US" sz="1200" b="1" dirty="0" smtClean="0">
                <a:solidFill>
                  <a:schemeClr val="accent1"/>
                </a:solidFill>
                <a:latin typeface="+mn-lt"/>
              </a:rPr>
              <a:t>Stack</a:t>
            </a:r>
          </a:p>
          <a:p>
            <a:endParaRPr lang="en-US" sz="1200" b="1" dirty="0" smtClean="0">
              <a:solidFill>
                <a:schemeClr val="accent3">
                  <a:lumMod val="60000"/>
                  <a:lumOff val="40000"/>
                </a:schemeClr>
              </a:solidFill>
              <a:latin typeface="+mn-lt"/>
            </a:endParaRPr>
          </a:p>
          <a:p>
            <a:r>
              <a:rPr lang="en-US" sz="1000" dirty="0" smtClean="0">
                <a:solidFill>
                  <a:schemeClr val="bg1"/>
                </a:solidFill>
                <a:latin typeface="+mn-lt"/>
              </a:rPr>
              <a:t>The </a:t>
            </a:r>
            <a:r>
              <a:rPr lang="en-US" sz="1000" b="1" dirty="0" smtClean="0">
                <a:solidFill>
                  <a:srgbClr val="82AAFF"/>
                </a:solidFill>
                <a:latin typeface="+mn-lt"/>
              </a:rPr>
              <a:t>Infrastructure Stack </a:t>
            </a:r>
            <a:r>
              <a:rPr lang="en-US" sz="1000" dirty="0" smtClean="0">
                <a:solidFill>
                  <a:schemeClr val="bg1"/>
                </a:solidFill>
                <a:latin typeface="+mn-lt"/>
              </a:rPr>
              <a:t>provisions all </a:t>
            </a:r>
            <a:r>
              <a:rPr lang="en-US" sz="1000" dirty="0" smtClean="0">
                <a:solidFill>
                  <a:srgbClr val="82AAFF"/>
                </a:solidFill>
                <a:latin typeface="+mn-lt"/>
              </a:rPr>
              <a:t>common</a:t>
            </a:r>
            <a:r>
              <a:rPr lang="en-US" sz="1000" dirty="0" smtClean="0">
                <a:solidFill>
                  <a:schemeClr val="bg1"/>
                </a:solidFill>
                <a:latin typeface="+mn-lt"/>
              </a:rPr>
              <a:t> AWS services and Micrometrics only use them. </a:t>
            </a:r>
          </a:p>
          <a:p>
            <a:pPr marL="228600" indent="-228600">
              <a:buFont typeface="+mj-lt"/>
              <a:buAutoNum type="arabicPeriod"/>
            </a:pPr>
            <a:r>
              <a:rPr lang="en-US" sz="1000" dirty="0" smtClean="0">
                <a:solidFill>
                  <a:schemeClr val="bg1"/>
                </a:solidFill>
                <a:latin typeface="+mn-lt"/>
              </a:rPr>
              <a:t>Networking (VPC)</a:t>
            </a:r>
          </a:p>
          <a:p>
            <a:pPr marL="228600" indent="-228600">
              <a:buFont typeface="+mj-lt"/>
              <a:buAutoNum type="arabicPeriod"/>
            </a:pPr>
            <a:r>
              <a:rPr lang="en-US" sz="1000" dirty="0" err="1" smtClean="0">
                <a:solidFill>
                  <a:schemeClr val="bg1"/>
                </a:solidFill>
                <a:latin typeface="+mn-lt"/>
              </a:rPr>
              <a:t>DynamoDB</a:t>
            </a:r>
            <a:endParaRPr lang="en-US" sz="1000" dirty="0">
              <a:solidFill>
                <a:schemeClr val="bg1"/>
              </a:solidFill>
              <a:latin typeface="+mn-lt"/>
            </a:endParaRPr>
          </a:p>
          <a:p>
            <a:pPr marL="228600" indent="-228600">
              <a:buFont typeface="+mj-lt"/>
              <a:buAutoNum type="arabicPeriod"/>
            </a:pPr>
            <a:r>
              <a:rPr lang="en-US" altLang="en-US" sz="1000" dirty="0" err="1" smtClean="0">
                <a:solidFill>
                  <a:schemeClr val="bg1"/>
                </a:solidFill>
                <a:latin typeface="+mn-lt"/>
                <a:ea typeface="Amazon Ember" panose="020B0603020204020204" pitchFamily="34" charset="0"/>
                <a:cs typeface="Arial" panose="020B0604020202020204" pitchFamily="34" charset="0"/>
              </a:rPr>
              <a:t>DynamoDBVpcEndpoint</a:t>
            </a:r>
            <a:r>
              <a:rPr lang="en-US" altLang="en-US" sz="1000" dirty="0" smtClean="0">
                <a:solidFill>
                  <a:schemeClr val="bg1"/>
                </a:solidFill>
                <a:latin typeface="+mn-lt"/>
                <a:ea typeface="Amazon Ember" panose="020B0603020204020204" pitchFamily="34" charset="0"/>
                <a:cs typeface="Arial" panose="020B0604020202020204" pitchFamily="34" charset="0"/>
              </a:rPr>
              <a:t>-prod  Type</a:t>
            </a:r>
            <a:r>
              <a:rPr lang="en-US" altLang="en-US" sz="1000" dirty="0">
                <a:solidFill>
                  <a:schemeClr val="bg1"/>
                </a:solidFill>
                <a:latin typeface="+mn-lt"/>
                <a:ea typeface="Amazon Ember" panose="020B0603020204020204" pitchFamily="34" charset="0"/>
                <a:cs typeface="Arial" panose="020B0604020202020204" pitchFamily="34" charset="0"/>
              </a:rPr>
              <a:t>: </a:t>
            </a:r>
            <a:r>
              <a:rPr lang="en-US" altLang="en-US" sz="1000" dirty="0" smtClean="0">
                <a:solidFill>
                  <a:schemeClr val="bg1"/>
                </a:solidFill>
                <a:latin typeface="+mn-lt"/>
                <a:ea typeface="Amazon Ember" panose="020B0603020204020204" pitchFamily="34" charset="0"/>
                <a:cs typeface="Arial" panose="020B0604020202020204" pitchFamily="34" charset="0"/>
              </a:rPr>
              <a:t>Gateway</a:t>
            </a:r>
          </a:p>
          <a:p>
            <a:pPr marL="228600" indent="-228600">
              <a:buFont typeface="+mj-lt"/>
              <a:buAutoNum type="arabicPeriod"/>
            </a:pPr>
            <a:r>
              <a:rPr lang="en-US" sz="1000" dirty="0" err="1" smtClean="0">
                <a:solidFill>
                  <a:schemeClr val="bg1"/>
                </a:solidFill>
                <a:latin typeface="+mn-lt"/>
              </a:rPr>
              <a:t>VpcLambda</a:t>
            </a:r>
            <a:r>
              <a:rPr lang="en-US" sz="1000" dirty="0" smtClean="0">
                <a:solidFill>
                  <a:schemeClr val="bg1"/>
                </a:solidFill>
                <a:latin typeface="+mn-lt"/>
              </a:rPr>
              <a:t>-</a:t>
            </a:r>
            <a:r>
              <a:rPr lang="en-US" sz="1000" dirty="0" err="1" smtClean="0">
                <a:solidFill>
                  <a:schemeClr val="bg1"/>
                </a:solidFill>
                <a:latin typeface="+mn-lt"/>
              </a:rPr>
              <a:t>sg</a:t>
            </a:r>
            <a:r>
              <a:rPr lang="en-US" sz="1000" dirty="0" smtClean="0">
                <a:solidFill>
                  <a:schemeClr val="bg1"/>
                </a:solidFill>
                <a:latin typeface="+mn-lt"/>
              </a:rPr>
              <a:t>-</a:t>
            </a:r>
            <a:r>
              <a:rPr lang="en-US" sz="1000" dirty="0" smtClean="0">
                <a:solidFill>
                  <a:schemeClr val="bg1"/>
                </a:solidFill>
                <a:latin typeface="+mn-lt"/>
                <a:cs typeface="Arial" panose="020B0604020202020204" pitchFamily="34" charset="0"/>
              </a:rPr>
              <a:t>prod   Rule</a:t>
            </a:r>
            <a:r>
              <a:rPr lang="en-US" sz="1000" dirty="0">
                <a:solidFill>
                  <a:schemeClr val="bg1"/>
                </a:solidFill>
                <a:latin typeface="+mn-lt"/>
                <a:cs typeface="Arial" panose="020B0604020202020204" pitchFamily="34" charset="0"/>
              </a:rPr>
              <a:t>: </a:t>
            </a:r>
            <a:r>
              <a:rPr lang="en-US" sz="1000" dirty="0" err="1" smtClean="0">
                <a:solidFill>
                  <a:schemeClr val="bg1"/>
                </a:solidFill>
                <a:latin typeface="+mn-lt"/>
                <a:cs typeface="Arial" panose="020B0604020202020204" pitchFamily="34" charset="0"/>
              </a:rPr>
              <a:t>allowAllOutbound</a:t>
            </a:r>
            <a:endParaRPr lang="en-US" sz="1000" dirty="0">
              <a:solidFill>
                <a:schemeClr val="bg1"/>
              </a:solidFill>
              <a:latin typeface="+mn-lt"/>
              <a:cs typeface="Arial" panose="020B0604020202020204" pitchFamily="34" charset="0"/>
            </a:endParaRPr>
          </a:p>
          <a:p>
            <a:pPr marL="228600" indent="-228600">
              <a:buFont typeface="+mj-lt"/>
              <a:buAutoNum type="arabicPeriod"/>
            </a:pPr>
            <a:r>
              <a:rPr lang="en-US" altLang="en-US" sz="1000" dirty="0" err="1" smtClean="0">
                <a:solidFill>
                  <a:schemeClr val="bg1"/>
                </a:solidFill>
                <a:latin typeface="+mn-lt"/>
                <a:ea typeface="Amazon Ember" panose="020B0603020204020204" pitchFamily="34" charset="0"/>
                <a:cs typeface="Arial" panose="020B0604020202020204" pitchFamily="34" charset="0"/>
              </a:rPr>
              <a:t>ApiVpcEndpoint</a:t>
            </a:r>
            <a:r>
              <a:rPr lang="en-US" altLang="en-US" sz="1000" dirty="0" smtClean="0">
                <a:solidFill>
                  <a:schemeClr val="bg1"/>
                </a:solidFill>
                <a:latin typeface="+mn-lt"/>
                <a:ea typeface="Amazon Ember" panose="020B0603020204020204" pitchFamily="34" charset="0"/>
                <a:cs typeface="Arial" panose="020B0604020202020204" pitchFamily="34" charset="0"/>
              </a:rPr>
              <a:t>-prod Type</a:t>
            </a:r>
            <a:r>
              <a:rPr lang="en-US" altLang="en-US" sz="1000" dirty="0">
                <a:solidFill>
                  <a:schemeClr val="bg1"/>
                </a:solidFill>
                <a:latin typeface="+mn-lt"/>
                <a:ea typeface="Amazon Ember" panose="020B0603020204020204" pitchFamily="34" charset="0"/>
                <a:cs typeface="Arial" panose="020B0604020202020204" pitchFamily="34" charset="0"/>
              </a:rPr>
              <a:t>: </a:t>
            </a:r>
            <a:r>
              <a:rPr lang="en-US" altLang="en-US" sz="1000" dirty="0" smtClean="0">
                <a:solidFill>
                  <a:schemeClr val="bg1"/>
                </a:solidFill>
                <a:latin typeface="+mn-lt"/>
                <a:ea typeface="Amazon Ember" panose="020B0603020204020204" pitchFamily="34" charset="0"/>
                <a:cs typeface="Arial" panose="020B0604020202020204" pitchFamily="34" charset="0"/>
              </a:rPr>
              <a:t>Interface  For </a:t>
            </a:r>
            <a:r>
              <a:rPr lang="en-US" altLang="en-US" sz="1000" dirty="0">
                <a:solidFill>
                  <a:schemeClr val="bg1"/>
                </a:solidFill>
                <a:latin typeface="+mn-lt"/>
                <a:ea typeface="Amazon Ember" panose="020B0603020204020204" pitchFamily="34" charset="0"/>
                <a:cs typeface="Arial" panose="020B0604020202020204" pitchFamily="34" charset="0"/>
              </a:rPr>
              <a:t>execute API from </a:t>
            </a:r>
            <a:r>
              <a:rPr lang="en-US" altLang="en-US" sz="1000" dirty="0" smtClean="0">
                <a:solidFill>
                  <a:schemeClr val="bg1"/>
                </a:solidFill>
                <a:latin typeface="+mn-lt"/>
                <a:ea typeface="Amazon Ember" panose="020B0603020204020204" pitchFamily="34" charset="0"/>
                <a:cs typeface="Arial" panose="020B0604020202020204" pitchFamily="34" charset="0"/>
              </a:rPr>
              <a:t>VPC</a:t>
            </a:r>
          </a:p>
          <a:p>
            <a:pPr marL="228600" indent="-228600">
              <a:buFont typeface="+mj-lt"/>
              <a:buAutoNum type="arabicPeriod"/>
            </a:pPr>
            <a:r>
              <a:rPr lang="en-US" sz="1000" dirty="0" err="1" smtClean="0">
                <a:solidFill>
                  <a:schemeClr val="bg1"/>
                </a:solidFill>
                <a:latin typeface="+mn-lt"/>
              </a:rPr>
              <a:t>VpcEndpoint</a:t>
            </a:r>
            <a:r>
              <a:rPr lang="en-US" sz="1000" dirty="0" smtClean="0">
                <a:solidFill>
                  <a:schemeClr val="bg1"/>
                </a:solidFill>
                <a:latin typeface="+mn-lt"/>
              </a:rPr>
              <a:t>-</a:t>
            </a:r>
            <a:r>
              <a:rPr lang="en-US" sz="1000" dirty="0" err="1" smtClean="0">
                <a:solidFill>
                  <a:schemeClr val="bg1"/>
                </a:solidFill>
                <a:latin typeface="+mn-lt"/>
              </a:rPr>
              <a:t>sg</a:t>
            </a:r>
            <a:r>
              <a:rPr lang="en-US" sz="1000" dirty="0" smtClean="0">
                <a:solidFill>
                  <a:schemeClr val="bg1"/>
                </a:solidFill>
                <a:latin typeface="+mn-lt"/>
              </a:rPr>
              <a:t>-</a:t>
            </a:r>
            <a:r>
              <a:rPr lang="en-US" sz="1000" dirty="0" smtClean="0">
                <a:solidFill>
                  <a:schemeClr val="bg1"/>
                </a:solidFill>
                <a:latin typeface="+mn-lt"/>
                <a:cs typeface="Arial" panose="020B0604020202020204" pitchFamily="34" charset="0"/>
              </a:rPr>
              <a:t>prod Ingress </a:t>
            </a:r>
            <a:r>
              <a:rPr lang="en-US" sz="1000" dirty="0">
                <a:solidFill>
                  <a:schemeClr val="bg1"/>
                </a:solidFill>
                <a:latin typeface="+mn-lt"/>
                <a:cs typeface="Arial" panose="020B0604020202020204" pitchFamily="34" charset="0"/>
              </a:rPr>
              <a:t>rule: </a:t>
            </a:r>
            <a:r>
              <a:rPr lang="en-US" sz="1000" dirty="0" smtClean="0">
                <a:solidFill>
                  <a:schemeClr val="bg1"/>
                </a:solidFill>
                <a:latin typeface="+mn-lt"/>
                <a:cs typeface="Arial" panose="020B0604020202020204" pitchFamily="34" charset="0"/>
              </a:rPr>
              <a:t>https </a:t>
            </a:r>
            <a:r>
              <a:rPr lang="en-US" sz="1000" dirty="0">
                <a:solidFill>
                  <a:schemeClr val="bg1"/>
                </a:solidFill>
                <a:latin typeface="+mn-lt"/>
                <a:cs typeface="Arial" panose="020B0604020202020204" pitchFamily="34" charset="0"/>
              </a:rPr>
              <a:t>or port 443  </a:t>
            </a:r>
            <a:r>
              <a:rPr lang="en-US" sz="1000" dirty="0" smtClean="0">
                <a:solidFill>
                  <a:schemeClr val="bg1"/>
                </a:solidFill>
                <a:latin typeface="+mn-lt"/>
                <a:cs typeface="Arial" panose="020B0604020202020204" pitchFamily="34" charset="0"/>
              </a:rPr>
              <a:t>and </a:t>
            </a:r>
            <a:r>
              <a:rPr lang="en-US" sz="1000" dirty="0" err="1" smtClean="0">
                <a:solidFill>
                  <a:schemeClr val="bg1"/>
                </a:solidFill>
                <a:latin typeface="+mn-lt"/>
              </a:rPr>
              <a:t>allowAllOutbound</a:t>
            </a:r>
            <a:r>
              <a:rPr lang="en-US" sz="1000" dirty="0" smtClean="0">
                <a:solidFill>
                  <a:schemeClr val="bg1"/>
                </a:solidFill>
                <a:latin typeface="+mn-lt"/>
              </a:rPr>
              <a:t> </a:t>
            </a:r>
            <a:r>
              <a:rPr lang="en-US" sz="1000" dirty="0">
                <a:solidFill>
                  <a:schemeClr val="bg1"/>
                </a:solidFill>
                <a:latin typeface="+mn-lt"/>
              </a:rPr>
              <a:t>rule </a:t>
            </a:r>
            <a:endParaRPr lang="en-US" sz="1000" dirty="0">
              <a:solidFill>
                <a:schemeClr val="bg1"/>
              </a:solidFill>
              <a:latin typeface="+mn-lt"/>
              <a:cs typeface="Arial" panose="020B0604020202020204" pitchFamily="34" charset="0"/>
            </a:endParaRPr>
          </a:p>
          <a:p>
            <a:pPr marL="228600" indent="-228600">
              <a:buFont typeface="+mj-lt"/>
              <a:buAutoNum type="arabicPeriod"/>
            </a:pPr>
            <a:r>
              <a:rPr lang="en-US" altLang="en-US" sz="1000" dirty="0" err="1" smtClean="0">
                <a:solidFill>
                  <a:schemeClr val="bg1"/>
                </a:solidFill>
                <a:latin typeface="+mn-lt"/>
                <a:ea typeface="Amazon Ember" panose="020B0603020204020204" pitchFamily="34" charset="0"/>
                <a:cs typeface="Arial" panose="020B0604020202020204" pitchFamily="34" charset="0"/>
              </a:rPr>
              <a:t>cloudfront</a:t>
            </a:r>
            <a:r>
              <a:rPr lang="en-US" altLang="en-US" sz="1000" dirty="0" smtClean="0">
                <a:solidFill>
                  <a:schemeClr val="bg1"/>
                </a:solidFill>
                <a:latin typeface="+mn-lt"/>
                <a:ea typeface="Amazon Ember" panose="020B0603020204020204" pitchFamily="34" charset="0"/>
                <a:cs typeface="Arial" panose="020B0604020202020204" pitchFamily="34" charset="0"/>
              </a:rPr>
              <a:t>-edge-</a:t>
            </a:r>
            <a:r>
              <a:rPr lang="en-US" altLang="en-US" sz="1000" dirty="0" err="1" smtClean="0">
                <a:solidFill>
                  <a:schemeClr val="bg1"/>
                </a:solidFill>
                <a:latin typeface="+mn-lt"/>
                <a:ea typeface="Amazon Ember" panose="020B0603020204020204" pitchFamily="34" charset="0"/>
                <a:cs typeface="Arial" panose="020B0604020202020204" pitchFamily="34" charset="0"/>
              </a:rPr>
              <a:t>apigateway</a:t>
            </a:r>
            <a:endParaRPr lang="en-US" altLang="en-US" sz="1000" dirty="0" smtClean="0">
              <a:solidFill>
                <a:schemeClr val="bg1"/>
              </a:solidFill>
              <a:latin typeface="+mn-lt"/>
              <a:ea typeface="Amazon Ember" panose="020B0603020204020204" pitchFamily="34" charset="0"/>
              <a:cs typeface="Arial" panose="020B0604020202020204" pitchFamily="34" charset="0"/>
            </a:endParaRPr>
          </a:p>
          <a:p>
            <a:pPr marL="228600" indent="-228600">
              <a:buFont typeface="+mj-lt"/>
              <a:buAutoNum type="arabicPeriod"/>
            </a:pPr>
            <a:r>
              <a:rPr lang="en-US" sz="1000" dirty="0" smtClean="0">
                <a:solidFill>
                  <a:schemeClr val="bg1"/>
                </a:solidFill>
                <a:latin typeface="+mn-lt"/>
              </a:rPr>
              <a:t>Custom </a:t>
            </a:r>
            <a:r>
              <a:rPr lang="en-US" sz="1000" dirty="0">
                <a:solidFill>
                  <a:schemeClr val="bg1"/>
                </a:solidFill>
                <a:latin typeface="+mn-lt"/>
              </a:rPr>
              <a:t>Domain for invoking REST API: </a:t>
            </a:r>
            <a:r>
              <a:rPr lang="en-US" altLang="en-US" sz="1000" dirty="0" smtClean="0">
                <a:solidFill>
                  <a:schemeClr val="bg1"/>
                </a:solidFill>
                <a:latin typeface="+mn-lt"/>
                <a:ea typeface="Amazon Ember" panose="020B0603020204020204" pitchFamily="34" charset="0"/>
                <a:cs typeface="Arial" panose="020B0604020202020204" pitchFamily="34" charset="0"/>
              </a:rPr>
              <a:t>cloudfront-edge-apigateway.prod.domain.org</a:t>
            </a:r>
          </a:p>
          <a:p>
            <a:pPr marL="228600" indent="-228600">
              <a:buFont typeface="+mj-lt"/>
              <a:buAutoNum type="arabicPeriod"/>
            </a:pPr>
            <a:r>
              <a:rPr lang="en-US" altLang="en-US" sz="1000" dirty="0" smtClean="0">
                <a:solidFill>
                  <a:schemeClr val="bg1"/>
                </a:solidFill>
                <a:latin typeface="+mn-lt"/>
                <a:ea typeface="Amazon Ember" panose="020B0603020204020204" pitchFamily="34" charset="0"/>
                <a:cs typeface="Arial" panose="020B0604020202020204" pitchFamily="34" charset="0"/>
              </a:rPr>
              <a:t>Amazon </a:t>
            </a:r>
            <a:r>
              <a:rPr lang="en-US" altLang="en-US" sz="1000" dirty="0">
                <a:solidFill>
                  <a:schemeClr val="bg1"/>
                </a:solidFill>
                <a:latin typeface="+mn-lt"/>
                <a:ea typeface="Amazon Ember" panose="020B0603020204020204" pitchFamily="34" charset="0"/>
                <a:cs typeface="Arial" panose="020B0604020202020204" pitchFamily="34" charset="0"/>
              </a:rPr>
              <a:t>Route </a:t>
            </a:r>
            <a:r>
              <a:rPr lang="en-US" altLang="en-US" sz="1000" dirty="0" smtClean="0">
                <a:solidFill>
                  <a:schemeClr val="bg1"/>
                </a:solidFill>
                <a:latin typeface="+mn-lt"/>
                <a:ea typeface="Amazon Ember" panose="020B0603020204020204" pitchFamily="34" charset="0"/>
                <a:cs typeface="Arial" panose="020B0604020202020204" pitchFamily="34" charset="0"/>
              </a:rPr>
              <a:t>53 </a:t>
            </a:r>
            <a:r>
              <a:rPr lang="en-US" altLang="en-US" sz="1000" dirty="0">
                <a:solidFill>
                  <a:schemeClr val="bg1"/>
                </a:solidFill>
                <a:latin typeface="+mn-lt"/>
                <a:ea typeface="Amazon Ember" panose="020B0603020204020204" pitchFamily="34" charset="0"/>
                <a:cs typeface="Arial" panose="020B0604020202020204" pitchFamily="34" charset="0"/>
              </a:rPr>
              <a:t>Alias record: </a:t>
            </a:r>
            <a:r>
              <a:rPr lang="en-US" altLang="en-US" sz="1000" dirty="0" smtClean="0">
                <a:solidFill>
                  <a:schemeClr val="bg1"/>
                </a:solidFill>
                <a:latin typeface="+mn-lt"/>
                <a:ea typeface="Amazon Ember" panose="020B0603020204020204" pitchFamily="34" charset="0"/>
                <a:cs typeface="Arial" panose="020B0604020202020204" pitchFamily="34" charset="0"/>
              </a:rPr>
              <a:t>prod.domain.org Target</a:t>
            </a:r>
            <a:r>
              <a:rPr lang="en-US" altLang="en-US" sz="1000" dirty="0">
                <a:solidFill>
                  <a:schemeClr val="bg1"/>
                </a:solidFill>
                <a:latin typeface="+mn-lt"/>
                <a:ea typeface="Amazon Ember" panose="020B0603020204020204" pitchFamily="34" charset="0"/>
                <a:cs typeface="Arial" panose="020B0604020202020204" pitchFamily="34" charset="0"/>
              </a:rPr>
              <a:t>: </a:t>
            </a:r>
            <a:r>
              <a:rPr lang="en-US" altLang="en-US" sz="1000" dirty="0" smtClean="0">
                <a:solidFill>
                  <a:schemeClr val="bg1"/>
                </a:solidFill>
                <a:latin typeface="+mn-lt"/>
                <a:ea typeface="Amazon Ember" panose="020B0603020204020204" pitchFamily="34" charset="0"/>
                <a:cs typeface="Arial" panose="020B0604020202020204" pitchFamily="34" charset="0"/>
              </a:rPr>
              <a:t>cloudfront-edge-apigateway.-prod.domain.org</a:t>
            </a:r>
            <a:endParaRPr lang="en-US" altLang="en-US" sz="1000" dirty="0">
              <a:solidFill>
                <a:schemeClr val="bg1"/>
              </a:solidFill>
              <a:latin typeface="+mn-lt"/>
              <a:ea typeface="Amazon Ember" panose="020B0603020204020204" pitchFamily="34" charset="0"/>
              <a:cs typeface="Arial" panose="020B0604020202020204" pitchFamily="34" charset="0"/>
            </a:endParaRPr>
          </a:p>
          <a:p>
            <a:pPr marL="228600" indent="-228600">
              <a:buFont typeface="+mj-lt"/>
              <a:buAutoNum type="arabicPeriod"/>
            </a:pPr>
            <a:r>
              <a:rPr lang="en-US" altLang="en-US" sz="1000" dirty="0" smtClean="0">
                <a:solidFill>
                  <a:schemeClr val="bg1"/>
                </a:solidFill>
                <a:latin typeface="+mn-lt"/>
                <a:ea typeface="Amazon Ember" panose="020B0603020204020204" pitchFamily="34" charset="0"/>
                <a:cs typeface="Arial" panose="020B0604020202020204" pitchFamily="34" charset="0"/>
              </a:rPr>
              <a:t>Amazon </a:t>
            </a:r>
            <a:r>
              <a:rPr lang="en-US" altLang="en-US" sz="1000" dirty="0" err="1">
                <a:solidFill>
                  <a:schemeClr val="bg1"/>
                </a:solidFill>
                <a:latin typeface="+mn-lt"/>
                <a:ea typeface="Amazon Ember" panose="020B0603020204020204" pitchFamily="34" charset="0"/>
                <a:cs typeface="Arial" panose="020B0604020202020204" pitchFamily="34" charset="0"/>
              </a:rPr>
              <a:t>CloudFront</a:t>
            </a:r>
            <a:r>
              <a:rPr lang="en-US" altLang="en-US" sz="1000" dirty="0">
                <a:solidFill>
                  <a:schemeClr val="bg1"/>
                </a:solidFill>
                <a:latin typeface="+mn-lt"/>
                <a:ea typeface="Amazon Ember" panose="020B0603020204020204" pitchFamily="34" charset="0"/>
                <a:cs typeface="Arial" panose="020B0604020202020204" pitchFamily="34" charset="0"/>
              </a:rPr>
              <a:t> Distribution</a:t>
            </a:r>
          </a:p>
          <a:p>
            <a:pPr marL="228600" indent="-228600">
              <a:buFont typeface="+mj-lt"/>
              <a:buAutoNum type="arabicPeriod"/>
            </a:pPr>
            <a:r>
              <a:rPr lang="en-US" altLang="en-US" sz="1000" dirty="0">
                <a:solidFill>
                  <a:schemeClr val="bg1"/>
                </a:solidFill>
                <a:latin typeface="+mn-lt"/>
                <a:ea typeface="Amazon Ember" panose="020B0603020204020204" pitchFamily="34" charset="0"/>
                <a:cs typeface="Arial" panose="020B0604020202020204" pitchFamily="34" charset="0"/>
              </a:rPr>
              <a:t>AWS </a:t>
            </a:r>
            <a:r>
              <a:rPr lang="en-US" altLang="en-US" sz="1000" dirty="0" smtClean="0">
                <a:solidFill>
                  <a:schemeClr val="bg1"/>
                </a:solidFill>
                <a:latin typeface="+mn-lt"/>
                <a:ea typeface="Amazon Ember" panose="020B0603020204020204" pitchFamily="34" charset="0"/>
                <a:cs typeface="Arial" panose="020B0604020202020204" pitchFamily="34" charset="0"/>
              </a:rPr>
              <a:t>Certificate Manager </a:t>
            </a:r>
            <a:r>
              <a:rPr lang="en-US" altLang="en-US" sz="1000" dirty="0">
                <a:solidFill>
                  <a:schemeClr val="bg1"/>
                </a:solidFill>
                <a:latin typeface="+mn-lt"/>
                <a:ea typeface="Amazon Ember" panose="020B0603020204020204" pitchFamily="34" charset="0"/>
                <a:cs typeface="Arial" panose="020B0604020202020204" pitchFamily="34" charset="0"/>
              </a:rPr>
              <a:t>(ACM)</a:t>
            </a:r>
          </a:p>
          <a:p>
            <a:pPr marL="228600" indent="-228600">
              <a:buFont typeface="+mj-lt"/>
              <a:buAutoNum type="arabicPeriod"/>
            </a:pPr>
            <a:r>
              <a:rPr lang="en-US" sz="1000" dirty="0" smtClean="0">
                <a:solidFill>
                  <a:schemeClr val="bg1"/>
                </a:solidFill>
                <a:latin typeface="+mn-lt"/>
              </a:rPr>
              <a:t>AWS Key Management Service (KMS)</a:t>
            </a:r>
            <a:endParaRPr lang="en-US" sz="1000" dirty="0">
              <a:solidFill>
                <a:schemeClr val="bg1"/>
              </a:solidFill>
              <a:latin typeface="+mn-lt"/>
            </a:endParaRPr>
          </a:p>
        </p:txBody>
      </p:sp>
      <p:sp>
        <p:nvSpPr>
          <p:cNvPr id="5" name="Rectangle 4"/>
          <p:cNvSpPr/>
          <p:nvPr/>
        </p:nvSpPr>
        <p:spPr>
          <a:xfrm>
            <a:off x="310237" y="2949450"/>
            <a:ext cx="10262511" cy="3385542"/>
          </a:xfrm>
          <a:prstGeom prst="rect">
            <a:avLst/>
          </a:prstGeom>
        </p:spPr>
        <p:txBody>
          <a:bodyPr wrap="square">
            <a:spAutoFit/>
          </a:bodyPr>
          <a:lstStyle/>
          <a:p>
            <a:r>
              <a:rPr lang="en-US" sz="1200" b="1" dirty="0" err="1" smtClean="0">
                <a:solidFill>
                  <a:schemeClr val="accent1"/>
                </a:solidFill>
                <a:latin typeface="+mn-lt"/>
              </a:rPr>
              <a:t>Microservice</a:t>
            </a:r>
            <a:r>
              <a:rPr lang="en-US" sz="1200" b="1" dirty="0" smtClean="0">
                <a:solidFill>
                  <a:schemeClr val="accent1"/>
                </a:solidFill>
                <a:latin typeface="+mn-lt"/>
              </a:rPr>
              <a:t> Back-End Stack</a:t>
            </a:r>
          </a:p>
          <a:p>
            <a:endParaRPr lang="en-US" sz="1000" b="1" dirty="0" smtClean="0">
              <a:solidFill>
                <a:srgbClr val="82AAFF"/>
              </a:solidFill>
              <a:latin typeface="+mn-lt"/>
            </a:endParaRPr>
          </a:p>
          <a:p>
            <a:r>
              <a:rPr lang="en-US" sz="1000" b="1" dirty="0" smtClean="0">
                <a:solidFill>
                  <a:srgbClr val="82AAFF"/>
                </a:solidFill>
                <a:latin typeface="+mn-lt"/>
              </a:rPr>
              <a:t>Hierarchy (Nested or Root-Child) AWS </a:t>
            </a:r>
            <a:r>
              <a:rPr lang="en-US" sz="1000" b="1" dirty="0" err="1" smtClean="0">
                <a:solidFill>
                  <a:srgbClr val="82AAFF"/>
                </a:solidFill>
                <a:latin typeface="+mn-lt"/>
              </a:rPr>
              <a:t>CloudFormaton</a:t>
            </a:r>
            <a:r>
              <a:rPr lang="en-US" sz="1000" b="1" dirty="0" smtClean="0">
                <a:solidFill>
                  <a:srgbClr val="82AAFF"/>
                </a:solidFill>
                <a:latin typeface="+mn-lt"/>
              </a:rPr>
              <a:t> Stack </a:t>
            </a:r>
            <a:r>
              <a:rPr lang="en-US" sz="1000" dirty="0" smtClean="0">
                <a:solidFill>
                  <a:schemeClr val="bg1"/>
                </a:solidFill>
                <a:latin typeface="+mn-lt"/>
              </a:rPr>
              <a:t>Because AWS has a limitation in resource numbers (Error)</a:t>
            </a:r>
          </a:p>
          <a:p>
            <a:endParaRPr lang="en-US" sz="1200" b="1" dirty="0">
              <a:solidFill>
                <a:srgbClr val="F3A9A9"/>
              </a:solidFill>
              <a:latin typeface="+mn-lt"/>
            </a:endParaRPr>
          </a:p>
          <a:p>
            <a:r>
              <a:rPr lang="en-US" sz="1000" dirty="0" smtClean="0">
                <a:solidFill>
                  <a:schemeClr val="bg1"/>
                </a:solidFill>
                <a:latin typeface="+mn-lt"/>
              </a:rPr>
              <a:t>Each </a:t>
            </a:r>
            <a:r>
              <a:rPr lang="en-US" sz="1000" dirty="0" err="1">
                <a:solidFill>
                  <a:schemeClr val="bg1"/>
                </a:solidFill>
                <a:latin typeface="+mn-lt"/>
              </a:rPr>
              <a:t>Microservice</a:t>
            </a:r>
            <a:r>
              <a:rPr lang="en-US" sz="1000" dirty="0">
                <a:solidFill>
                  <a:schemeClr val="bg1"/>
                </a:solidFill>
                <a:latin typeface="+mn-lt"/>
              </a:rPr>
              <a:t> has its </a:t>
            </a:r>
            <a:r>
              <a:rPr lang="en-US" sz="1000" b="1" dirty="0">
                <a:solidFill>
                  <a:srgbClr val="82AAFF"/>
                </a:solidFill>
                <a:latin typeface="+mn-lt"/>
              </a:rPr>
              <a:t>CDK </a:t>
            </a:r>
            <a:r>
              <a:rPr lang="en-US" sz="1000" b="1" dirty="0" smtClean="0">
                <a:solidFill>
                  <a:srgbClr val="82AAFF"/>
                </a:solidFill>
                <a:latin typeface="+mn-lt"/>
              </a:rPr>
              <a:t>Stack </a:t>
            </a:r>
            <a:r>
              <a:rPr lang="en-US" sz="1000" dirty="0" smtClean="0">
                <a:solidFill>
                  <a:schemeClr val="bg1"/>
                </a:solidFill>
                <a:latin typeface="+mn-lt"/>
              </a:rPr>
              <a:t>and</a:t>
            </a:r>
            <a:r>
              <a:rPr lang="en-US" sz="1000" b="1" dirty="0" smtClean="0">
                <a:solidFill>
                  <a:schemeClr val="bg1"/>
                </a:solidFill>
                <a:latin typeface="+mn-lt"/>
              </a:rPr>
              <a:t> </a:t>
            </a:r>
            <a:r>
              <a:rPr lang="en-US" sz="1000" dirty="0" err="1" smtClean="0">
                <a:solidFill>
                  <a:schemeClr val="bg1"/>
                </a:solidFill>
                <a:latin typeface="+mn-lt"/>
              </a:rPr>
              <a:t>Microservices</a:t>
            </a:r>
            <a:r>
              <a:rPr lang="en-US" sz="1000" dirty="0" smtClean="0">
                <a:solidFill>
                  <a:schemeClr val="bg1"/>
                </a:solidFill>
                <a:latin typeface="+mn-lt"/>
              </a:rPr>
              <a:t> </a:t>
            </a:r>
            <a:r>
              <a:rPr lang="en-US" sz="1000" dirty="0">
                <a:solidFill>
                  <a:schemeClr val="bg1"/>
                </a:solidFill>
                <a:latin typeface="+mn-lt"/>
              </a:rPr>
              <a:t>are Isolated </a:t>
            </a:r>
            <a:r>
              <a:rPr lang="en-US" sz="1000" dirty="0" smtClean="0">
                <a:solidFill>
                  <a:schemeClr val="bg1"/>
                </a:solidFill>
                <a:latin typeface="+mn-lt"/>
              </a:rPr>
              <a:t>in</a:t>
            </a:r>
          </a:p>
          <a:p>
            <a:endParaRPr lang="en-US" sz="1000" dirty="0">
              <a:solidFill>
                <a:schemeClr val="bg1"/>
              </a:solidFill>
              <a:latin typeface="+mn-lt"/>
            </a:endParaRPr>
          </a:p>
          <a:p>
            <a:pPr marL="685800" lvl="1" indent="-228600">
              <a:buFont typeface="+mj-lt"/>
              <a:buAutoNum type="arabicPeriod"/>
            </a:pPr>
            <a:r>
              <a:rPr lang="en-US" sz="1000" dirty="0" smtClean="0">
                <a:solidFill>
                  <a:schemeClr val="bg1"/>
                </a:solidFill>
                <a:latin typeface="+mn-lt"/>
              </a:rPr>
              <a:t>Data (</a:t>
            </a:r>
            <a:r>
              <a:rPr lang="en-US" sz="1000" dirty="0" err="1" smtClean="0">
                <a:solidFill>
                  <a:schemeClr val="bg1"/>
                </a:solidFill>
                <a:latin typeface="+mn-lt"/>
              </a:rPr>
              <a:t>DynamoDB</a:t>
            </a:r>
            <a:r>
              <a:rPr lang="en-US" sz="1000" dirty="0" smtClean="0">
                <a:solidFill>
                  <a:schemeClr val="bg1"/>
                </a:solidFill>
                <a:latin typeface="+mn-lt"/>
              </a:rPr>
              <a:t>)</a:t>
            </a:r>
            <a:endParaRPr lang="en-US" sz="1000" dirty="0">
              <a:solidFill>
                <a:schemeClr val="bg1"/>
              </a:solidFill>
              <a:latin typeface="+mn-lt"/>
            </a:endParaRPr>
          </a:p>
          <a:p>
            <a:pPr marL="685800" lvl="1" indent="-228600">
              <a:buFont typeface="+mj-lt"/>
              <a:buAutoNum type="arabicPeriod"/>
            </a:pPr>
            <a:r>
              <a:rPr lang="en-US" sz="1000" dirty="0" smtClean="0">
                <a:solidFill>
                  <a:schemeClr val="bg1"/>
                </a:solidFill>
                <a:latin typeface="+mn-lt"/>
              </a:rPr>
              <a:t>Logic (Lambda)</a:t>
            </a:r>
          </a:p>
          <a:p>
            <a:endParaRPr lang="en-US" sz="1000" dirty="0">
              <a:solidFill>
                <a:schemeClr val="bg1"/>
              </a:solidFill>
              <a:latin typeface="+mn-lt"/>
            </a:endParaRPr>
          </a:p>
          <a:p>
            <a:r>
              <a:rPr lang="en-US" sz="1000" dirty="0" smtClean="0">
                <a:solidFill>
                  <a:srgbClr val="ECC48D"/>
                </a:solidFill>
                <a:latin typeface="+mn-lt"/>
              </a:rPr>
              <a:t>No data and logic redundancy! </a:t>
            </a:r>
          </a:p>
          <a:p>
            <a:endParaRPr lang="en-US" sz="1000" dirty="0" smtClean="0">
              <a:solidFill>
                <a:srgbClr val="ECC48D"/>
              </a:solidFill>
              <a:latin typeface="+mn-lt"/>
            </a:endParaRPr>
          </a:p>
          <a:p>
            <a:r>
              <a:rPr lang="en-US" sz="1000" dirty="0">
                <a:solidFill>
                  <a:schemeClr val="bg1"/>
                </a:solidFill>
                <a:latin typeface="+mn-lt"/>
              </a:rPr>
              <a:t>The </a:t>
            </a:r>
            <a:r>
              <a:rPr lang="en-US" sz="1000" b="1" dirty="0" err="1">
                <a:solidFill>
                  <a:srgbClr val="82AAFF"/>
                </a:solidFill>
                <a:latin typeface="+mn-lt"/>
              </a:rPr>
              <a:t>M</a:t>
            </a:r>
            <a:r>
              <a:rPr lang="en-US" sz="1000" b="1" dirty="0" err="1" smtClean="0">
                <a:solidFill>
                  <a:srgbClr val="82AAFF"/>
                </a:solidFill>
                <a:latin typeface="+mn-lt"/>
              </a:rPr>
              <a:t>icroservice</a:t>
            </a:r>
            <a:r>
              <a:rPr lang="en-US" sz="1000" b="1" dirty="0" smtClean="0">
                <a:solidFill>
                  <a:srgbClr val="82AAFF"/>
                </a:solidFill>
                <a:latin typeface="+mn-lt"/>
              </a:rPr>
              <a:t> </a:t>
            </a:r>
            <a:r>
              <a:rPr lang="en-US" sz="1000" b="1" dirty="0" err="1" smtClean="0">
                <a:solidFill>
                  <a:srgbClr val="82AAFF"/>
                </a:solidFill>
                <a:latin typeface="+mn-lt"/>
              </a:rPr>
              <a:t>CdkStack</a:t>
            </a:r>
            <a:r>
              <a:rPr lang="en-US" sz="1000" b="1" dirty="0" smtClean="0">
                <a:solidFill>
                  <a:srgbClr val="82AAFF"/>
                </a:solidFill>
                <a:latin typeface="+mn-lt"/>
              </a:rPr>
              <a:t> </a:t>
            </a:r>
            <a:r>
              <a:rPr lang="en-US" sz="1000" dirty="0">
                <a:solidFill>
                  <a:schemeClr val="bg1"/>
                </a:solidFill>
                <a:latin typeface="+mn-lt"/>
              </a:rPr>
              <a:t>provisions all </a:t>
            </a:r>
            <a:r>
              <a:rPr lang="en-US" sz="1000" dirty="0" smtClean="0">
                <a:solidFill>
                  <a:srgbClr val="82AAFF"/>
                </a:solidFill>
                <a:latin typeface="+mn-lt"/>
              </a:rPr>
              <a:t>private </a:t>
            </a:r>
            <a:r>
              <a:rPr lang="en-US" sz="1000" dirty="0" smtClean="0">
                <a:solidFill>
                  <a:schemeClr val="bg1"/>
                </a:solidFill>
                <a:latin typeface="+mn-lt"/>
              </a:rPr>
              <a:t>AWS services for each </a:t>
            </a:r>
            <a:r>
              <a:rPr lang="en-US" sz="1000" dirty="0" err="1" smtClean="0">
                <a:solidFill>
                  <a:schemeClr val="bg1"/>
                </a:solidFill>
                <a:latin typeface="+mn-lt"/>
              </a:rPr>
              <a:t>microservice</a:t>
            </a:r>
            <a:endParaRPr lang="en-US" sz="1000" dirty="0" smtClean="0">
              <a:solidFill>
                <a:schemeClr val="bg1"/>
              </a:solidFill>
              <a:latin typeface="+mn-lt"/>
            </a:endParaRPr>
          </a:p>
          <a:p>
            <a:endParaRPr lang="en-US" sz="1000" dirty="0" smtClean="0">
              <a:solidFill>
                <a:srgbClr val="ECC48D"/>
              </a:solidFill>
              <a:latin typeface="+mn-lt"/>
            </a:endParaRPr>
          </a:p>
          <a:p>
            <a:pPr marL="228600" indent="-228600">
              <a:buFont typeface="+mj-lt"/>
              <a:buAutoNum type="arabicPeriod"/>
            </a:pPr>
            <a:r>
              <a:rPr lang="en-US" sz="1000" dirty="0" err="1" smtClean="0">
                <a:solidFill>
                  <a:schemeClr val="bg1"/>
                </a:solidFill>
                <a:latin typeface="+mn-lt"/>
              </a:rPr>
              <a:t>DynamoDB</a:t>
            </a:r>
            <a:r>
              <a:rPr lang="en-US" sz="1000" dirty="0" smtClean="0">
                <a:solidFill>
                  <a:schemeClr val="bg1"/>
                </a:solidFill>
                <a:latin typeface="+mn-lt"/>
              </a:rPr>
              <a:t> Table (fully independent): table properties (fields)</a:t>
            </a:r>
          </a:p>
          <a:p>
            <a:pPr marL="228600" indent="-228600">
              <a:buFont typeface="+mj-lt"/>
              <a:buAutoNum type="arabicPeriod"/>
            </a:pPr>
            <a:r>
              <a:rPr lang="en-US" sz="1000" dirty="0" smtClean="0">
                <a:solidFill>
                  <a:schemeClr val="bg1"/>
                </a:solidFill>
                <a:latin typeface="+mn-lt"/>
              </a:rPr>
              <a:t>Lambda (fully </a:t>
            </a:r>
            <a:r>
              <a:rPr lang="en-US" sz="1000" dirty="0">
                <a:solidFill>
                  <a:schemeClr val="bg1"/>
                </a:solidFill>
                <a:latin typeface="+mn-lt"/>
              </a:rPr>
              <a:t>independent): </a:t>
            </a:r>
            <a:r>
              <a:rPr lang="en-US" sz="1000" dirty="0" smtClean="0">
                <a:solidFill>
                  <a:schemeClr val="bg1"/>
                </a:solidFill>
                <a:latin typeface="+mn-lt"/>
              </a:rPr>
              <a:t>  Don’t call/invoke Lambda functions (</a:t>
            </a:r>
            <a:r>
              <a:rPr lang="en-US" sz="1000" dirty="0">
                <a:solidFill>
                  <a:schemeClr val="bg1"/>
                </a:solidFill>
                <a:latin typeface="+mn-lt"/>
              </a:rPr>
              <a:t>Logical </a:t>
            </a:r>
            <a:r>
              <a:rPr lang="en-US" sz="1000" dirty="0" smtClean="0">
                <a:solidFill>
                  <a:schemeClr val="bg1"/>
                </a:solidFill>
                <a:latin typeface="+mn-lt"/>
              </a:rPr>
              <a:t>dependency) between </a:t>
            </a:r>
            <a:r>
              <a:rPr lang="en-US" sz="1000" dirty="0" err="1" smtClean="0">
                <a:solidFill>
                  <a:schemeClr val="bg1"/>
                </a:solidFill>
                <a:latin typeface="+mn-lt"/>
              </a:rPr>
              <a:t>Microservices</a:t>
            </a:r>
            <a:r>
              <a:rPr lang="en-US" sz="1000" dirty="0" smtClean="0">
                <a:solidFill>
                  <a:schemeClr val="bg1"/>
                </a:solidFill>
                <a:latin typeface="+mn-lt"/>
              </a:rPr>
              <a:t> =&gt; Lambda is triggered by </a:t>
            </a:r>
            <a:r>
              <a:rPr lang="en-US" sz="1000" dirty="0" err="1" smtClean="0">
                <a:solidFill>
                  <a:schemeClr val="bg1"/>
                </a:solidFill>
                <a:latin typeface="+mn-lt"/>
              </a:rPr>
              <a:t>APIGateway</a:t>
            </a:r>
            <a:r>
              <a:rPr lang="en-US" sz="1000" dirty="0" smtClean="0">
                <a:solidFill>
                  <a:schemeClr val="bg1"/>
                </a:solidFill>
                <a:latin typeface="+mn-lt"/>
              </a:rPr>
              <a:t> or SQS new message</a:t>
            </a:r>
          </a:p>
          <a:p>
            <a:pPr marL="228600" indent="-228600">
              <a:buFont typeface="+mj-lt"/>
              <a:buAutoNum type="arabicPeriod"/>
            </a:pPr>
            <a:r>
              <a:rPr lang="en-US" sz="1000" dirty="0" smtClean="0">
                <a:solidFill>
                  <a:schemeClr val="bg1"/>
                </a:solidFill>
                <a:latin typeface="+mn-lt"/>
              </a:rPr>
              <a:t>API Gateway (fully </a:t>
            </a:r>
            <a:r>
              <a:rPr lang="en-US" sz="1000" dirty="0">
                <a:solidFill>
                  <a:schemeClr val="bg1"/>
                </a:solidFill>
                <a:latin typeface="+mn-lt"/>
              </a:rPr>
              <a:t>independent</a:t>
            </a:r>
            <a:r>
              <a:rPr lang="en-US" sz="1000" dirty="0" smtClean="0">
                <a:solidFill>
                  <a:schemeClr val="bg1"/>
                </a:solidFill>
                <a:latin typeface="+mn-lt"/>
              </a:rPr>
              <a:t>): Lambda API methods ( POST, GET, PUT, PATCH)</a:t>
            </a:r>
          </a:p>
          <a:p>
            <a:pPr marL="228600" indent="-228600">
              <a:buFont typeface="+mj-lt"/>
              <a:buAutoNum type="arabicPeriod"/>
            </a:pPr>
            <a:endParaRPr lang="en-US" sz="1000" dirty="0" smtClean="0">
              <a:solidFill>
                <a:schemeClr val="bg1"/>
              </a:solidFill>
              <a:latin typeface="+mn-lt"/>
            </a:endParaRPr>
          </a:p>
          <a:p>
            <a:pPr marL="228600" indent="-228600">
              <a:buFont typeface="+mj-lt"/>
              <a:buAutoNum type="arabicPeriod"/>
            </a:pPr>
            <a:r>
              <a:rPr lang="en-US" sz="1000" dirty="0" smtClean="0">
                <a:solidFill>
                  <a:schemeClr val="bg1"/>
                </a:solidFill>
                <a:latin typeface="+mn-lt"/>
              </a:rPr>
              <a:t>SQS (not fully </a:t>
            </a:r>
            <a:r>
              <a:rPr lang="en-US" sz="1000" dirty="0">
                <a:solidFill>
                  <a:schemeClr val="bg1"/>
                </a:solidFill>
                <a:latin typeface="+mn-lt"/>
              </a:rPr>
              <a:t>independent): </a:t>
            </a:r>
            <a:r>
              <a:rPr lang="en-US" sz="1000" dirty="0" smtClean="0">
                <a:solidFill>
                  <a:schemeClr val="bg1"/>
                </a:solidFill>
                <a:latin typeface="+mn-lt"/>
              </a:rPr>
              <a:t>Pushes message to each subscribed </a:t>
            </a:r>
            <a:r>
              <a:rPr lang="en-US" sz="1000" dirty="0" err="1" smtClean="0">
                <a:solidFill>
                  <a:schemeClr val="bg1"/>
                </a:solidFill>
                <a:latin typeface="+mn-lt"/>
              </a:rPr>
              <a:t>Microservices</a:t>
            </a:r>
            <a:r>
              <a:rPr lang="en-US" sz="1000" dirty="0" smtClean="0">
                <a:solidFill>
                  <a:schemeClr val="bg1"/>
                </a:solidFill>
                <a:latin typeface="+mn-lt"/>
              </a:rPr>
              <a:t> for using the item</a:t>
            </a:r>
          </a:p>
          <a:p>
            <a:pPr marL="228600" indent="-228600">
              <a:buFont typeface="+mj-lt"/>
              <a:buAutoNum type="arabicPeriod"/>
            </a:pPr>
            <a:r>
              <a:rPr lang="en-US" sz="1000" dirty="0" smtClean="0">
                <a:solidFill>
                  <a:schemeClr val="bg1"/>
                </a:solidFill>
                <a:latin typeface="+mn-lt"/>
              </a:rPr>
              <a:t>SNS</a:t>
            </a:r>
            <a:r>
              <a:rPr lang="en-US" sz="1000" dirty="0">
                <a:solidFill>
                  <a:schemeClr val="bg1"/>
                </a:solidFill>
                <a:latin typeface="+mn-lt"/>
              </a:rPr>
              <a:t> (not fully independent): </a:t>
            </a:r>
            <a:r>
              <a:rPr lang="en-US" sz="1000" dirty="0" smtClean="0">
                <a:solidFill>
                  <a:schemeClr val="bg1"/>
                </a:solidFill>
                <a:latin typeface="+mn-lt"/>
              </a:rPr>
              <a:t>Notifies </a:t>
            </a:r>
            <a:r>
              <a:rPr lang="en-US" sz="1000" dirty="0">
                <a:solidFill>
                  <a:schemeClr val="bg1"/>
                </a:solidFill>
                <a:latin typeface="+mn-lt"/>
              </a:rPr>
              <a:t>subscribed </a:t>
            </a:r>
            <a:r>
              <a:rPr lang="en-US" sz="1000" dirty="0" err="1">
                <a:solidFill>
                  <a:schemeClr val="bg1"/>
                </a:solidFill>
                <a:latin typeface="+mn-lt"/>
              </a:rPr>
              <a:t>Microservices</a:t>
            </a:r>
            <a:r>
              <a:rPr lang="en-US" sz="1000" dirty="0">
                <a:solidFill>
                  <a:schemeClr val="bg1"/>
                </a:solidFill>
                <a:latin typeface="+mn-lt"/>
              </a:rPr>
              <a:t> </a:t>
            </a:r>
            <a:r>
              <a:rPr lang="en-US" sz="1000" dirty="0" smtClean="0">
                <a:solidFill>
                  <a:schemeClr val="bg1"/>
                </a:solidFill>
                <a:latin typeface="+mn-lt"/>
              </a:rPr>
              <a:t>after event </a:t>
            </a:r>
            <a:r>
              <a:rPr lang="en-US" sz="1000" dirty="0">
                <a:solidFill>
                  <a:schemeClr val="bg1"/>
                </a:solidFill>
                <a:latin typeface="+mn-lt"/>
              </a:rPr>
              <a:t>triggered </a:t>
            </a:r>
            <a:endParaRPr lang="en-US" sz="1000" dirty="0" smtClean="0">
              <a:solidFill>
                <a:schemeClr val="bg1"/>
              </a:solidFill>
              <a:latin typeface="+mn-lt"/>
            </a:endParaRPr>
          </a:p>
          <a:p>
            <a:pPr marL="228600" indent="-228600">
              <a:buFont typeface="+mj-lt"/>
              <a:buAutoNum type="arabicPeriod"/>
            </a:pPr>
            <a:endParaRPr lang="en-US" sz="1000" dirty="0" smtClean="0">
              <a:solidFill>
                <a:schemeClr val="bg1"/>
              </a:solidFill>
              <a:latin typeface="+mn-lt"/>
            </a:endParaRPr>
          </a:p>
          <a:p>
            <a:pPr marL="228600" indent="-228600">
              <a:buFont typeface="+mj-lt"/>
              <a:buAutoNum type="arabicPeriod"/>
            </a:pPr>
            <a:r>
              <a:rPr lang="en-US" sz="1000" dirty="0" smtClean="0">
                <a:solidFill>
                  <a:schemeClr val="bg1"/>
                </a:solidFill>
                <a:latin typeface="+mn-lt"/>
              </a:rPr>
              <a:t>Add Dependency: </a:t>
            </a:r>
            <a:endParaRPr lang="en-US" sz="1000" dirty="0">
              <a:solidFill>
                <a:schemeClr val="bg1"/>
              </a:solidFill>
              <a:latin typeface="+mn-lt"/>
            </a:endParaRPr>
          </a:p>
        </p:txBody>
      </p:sp>
      <p:sp>
        <p:nvSpPr>
          <p:cNvPr id="6" name="Rectangle 5"/>
          <p:cNvSpPr/>
          <p:nvPr/>
        </p:nvSpPr>
        <p:spPr>
          <a:xfrm>
            <a:off x="1649185" y="6064279"/>
            <a:ext cx="8923564" cy="246221"/>
          </a:xfrm>
          <a:prstGeom prst="rect">
            <a:avLst/>
          </a:prstGeom>
        </p:spPr>
        <p:txBody>
          <a:bodyPr wrap="square">
            <a:spAutoFit/>
          </a:bodyPr>
          <a:lstStyle/>
          <a:p>
            <a:r>
              <a:rPr lang="en-US" sz="1000" dirty="0" err="1">
                <a:solidFill>
                  <a:schemeClr val="accent3"/>
                </a:solidFill>
                <a:latin typeface="+mn-lt"/>
              </a:rPr>
              <a:t>DynamoDbStack</a:t>
            </a:r>
            <a:r>
              <a:rPr lang="en-US" sz="1000" dirty="0">
                <a:solidFill>
                  <a:schemeClr val="bg1"/>
                </a:solidFill>
                <a:latin typeface="+mn-lt"/>
              </a:rPr>
              <a:t> </a:t>
            </a:r>
            <a:r>
              <a:rPr lang="en-US" sz="1000" dirty="0">
                <a:solidFill>
                  <a:srgbClr val="92D050"/>
                </a:solidFill>
                <a:latin typeface="+mn-lt"/>
              </a:rPr>
              <a:t>output (</a:t>
            </a:r>
            <a:r>
              <a:rPr lang="en-US" sz="1000" dirty="0" err="1">
                <a:solidFill>
                  <a:srgbClr val="92D050"/>
                </a:solidFill>
                <a:latin typeface="+mn-lt"/>
              </a:rPr>
              <a:t>DynamoDB</a:t>
            </a:r>
            <a:r>
              <a:rPr lang="en-US" sz="1000" dirty="0">
                <a:solidFill>
                  <a:srgbClr val="92D050"/>
                </a:solidFill>
                <a:latin typeface="+mn-lt"/>
              </a:rPr>
              <a:t> Table) </a:t>
            </a:r>
            <a:r>
              <a:rPr lang="en-US" sz="1000" dirty="0">
                <a:solidFill>
                  <a:schemeClr val="bg1"/>
                </a:solidFill>
                <a:latin typeface="+mn-lt"/>
              </a:rPr>
              <a:t>=&gt; pass to =&gt; </a:t>
            </a:r>
            <a:r>
              <a:rPr lang="en-US" sz="1000" dirty="0" err="1">
                <a:solidFill>
                  <a:schemeClr val="accent3"/>
                </a:solidFill>
                <a:latin typeface="+mn-lt"/>
              </a:rPr>
              <a:t>SNSSQSTopicStack</a:t>
            </a:r>
            <a:r>
              <a:rPr lang="en-US" sz="1000" dirty="0">
                <a:solidFill>
                  <a:schemeClr val="accent3"/>
                </a:solidFill>
                <a:latin typeface="+mn-lt"/>
              </a:rPr>
              <a:t> </a:t>
            </a:r>
            <a:r>
              <a:rPr lang="en-US" sz="1000" dirty="0">
                <a:solidFill>
                  <a:srgbClr val="C5E478"/>
                </a:solidFill>
                <a:latin typeface="+mn-lt"/>
              </a:rPr>
              <a:t>props</a:t>
            </a:r>
            <a:r>
              <a:rPr lang="en-US" sz="1000" dirty="0">
                <a:solidFill>
                  <a:schemeClr val="accent3"/>
                </a:solidFill>
                <a:latin typeface="+mn-lt"/>
              </a:rPr>
              <a:t> </a:t>
            </a:r>
            <a:r>
              <a:rPr lang="en-US" sz="1000" dirty="0">
                <a:solidFill>
                  <a:schemeClr val="bg1"/>
                </a:solidFill>
                <a:latin typeface="+mn-lt"/>
              </a:rPr>
              <a:t>=&gt; pass to =&gt; </a:t>
            </a:r>
            <a:r>
              <a:rPr lang="en-US" sz="1000" dirty="0" err="1">
                <a:solidFill>
                  <a:srgbClr val="E56C6C"/>
                </a:solidFill>
                <a:latin typeface="+mn-lt"/>
              </a:rPr>
              <a:t>LambdaStack</a:t>
            </a:r>
            <a:r>
              <a:rPr lang="en-US" sz="1000" dirty="0">
                <a:solidFill>
                  <a:srgbClr val="E56C6C"/>
                </a:solidFill>
                <a:latin typeface="+mn-lt"/>
              </a:rPr>
              <a:t> </a:t>
            </a:r>
            <a:r>
              <a:rPr lang="en-US" sz="1000" dirty="0">
                <a:solidFill>
                  <a:srgbClr val="C5E478"/>
                </a:solidFill>
                <a:latin typeface="+mn-lt"/>
              </a:rPr>
              <a:t>props</a:t>
            </a:r>
            <a:r>
              <a:rPr lang="en-US" sz="1000" dirty="0">
                <a:solidFill>
                  <a:schemeClr val="bg1"/>
                </a:solidFill>
                <a:latin typeface="+mn-lt"/>
              </a:rPr>
              <a:t> =&gt; pass to =&gt; </a:t>
            </a:r>
            <a:r>
              <a:rPr lang="en-US" sz="1000" dirty="0" err="1">
                <a:solidFill>
                  <a:srgbClr val="E56C6C"/>
                </a:solidFill>
                <a:latin typeface="+mn-lt"/>
              </a:rPr>
              <a:t>APIGateWayStack</a:t>
            </a:r>
            <a:r>
              <a:rPr lang="en-US" sz="1000" dirty="0">
                <a:solidFill>
                  <a:srgbClr val="E56C6C"/>
                </a:solidFill>
                <a:latin typeface="+mn-lt"/>
              </a:rPr>
              <a:t> </a:t>
            </a:r>
          </a:p>
        </p:txBody>
      </p:sp>
    </p:spTree>
    <p:extLst>
      <p:ext uri="{BB962C8B-B14F-4D97-AF65-F5344CB8AC3E}">
        <p14:creationId xmlns:p14="http://schemas.microsoft.com/office/powerpoint/2010/main" val="1385771441"/>
      </p:ext>
    </p:extLst>
  </p:cSld>
  <p:clrMapOvr>
    <a:masterClrMapping/>
  </p:clrMapOvr>
  <p:timing>
    <p:tnLst>
      <p:par>
        <p:cTn id="1" dur="indefinite" restart="never" nodeType="tmRoot"/>
      </p:par>
    </p:tnLst>
  </p:timing>
</p:sld>
</file>

<file path=ppt/theme/theme1.xml><?xml version="1.0" encoding="utf-8"?>
<a:theme xmlns:a="http://schemas.openxmlformats.org/drawingml/2006/main" name="Dark-Background-Master">
  <a:themeElements>
    <a:clrScheme name="Architecture Icons Dark Background">
      <a:dk1>
        <a:srgbClr val="000000"/>
      </a:dk1>
      <a:lt1>
        <a:srgbClr val="FFFFFF"/>
      </a:lt1>
      <a:dk2>
        <a:srgbClr val="232F3E"/>
      </a:dk2>
      <a:lt2>
        <a:srgbClr val="E7E6E6"/>
      </a:lt2>
      <a:accent1>
        <a:srgbClr val="FF9900"/>
      </a:accent1>
      <a:accent2>
        <a:srgbClr val="28AD32"/>
      </a:accent2>
      <a:accent3>
        <a:srgbClr val="EB6F6F"/>
      </a:accent3>
      <a:accent4>
        <a:srgbClr val="A5A5A5"/>
      </a:accent4>
      <a:accent5>
        <a:srgbClr val="D1D5DB"/>
      </a:accent5>
      <a:accent6>
        <a:srgbClr val="539FE5"/>
      </a:accent6>
      <a:hlink>
        <a:srgbClr val="539FE5"/>
      </a:hlink>
      <a:folHlink>
        <a:srgbClr val="539FE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131091</TotalTime>
  <Words>1607</Words>
  <Application>Microsoft Office PowerPoint</Application>
  <PresentationFormat>Widescreen</PresentationFormat>
  <Paragraphs>397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Amazon Ember</vt:lpstr>
      <vt:lpstr>Arial</vt:lpstr>
      <vt:lpstr>Arial (Body)</vt:lpstr>
      <vt:lpstr>Calibri</vt:lpstr>
      <vt:lpstr>Consolas</vt:lpstr>
      <vt:lpstr>Dark-Background-Master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Alireza Ensafi</cp:lastModifiedBy>
  <cp:revision>3724</cp:revision>
  <dcterms:created xsi:type="dcterms:W3CDTF">2020-03-23T21:46:17Z</dcterms:created>
  <dcterms:modified xsi:type="dcterms:W3CDTF">2026-10-12T00:54:59Z</dcterms:modified>
</cp:coreProperties>
</file>